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f0330b2f-95ec-e68a-6429-863aba03dedd}">
          <p14:sldIdLst>
            <p14:sldId id="256"/>
          </p14:sldIdLst>
        </p14:section>
        <p14:section name="Ringkasan" id="{e7e741fc-5cc5-7d15-a39c-f268f3abcf42}">
          <p14:sldIdLst>
            <p14:sldId id="257"/>
            <p14:sldId id="258"/>
          </p14:sldIdLst>
        </p14:section>
        <p14:section name="Kehadiran &amp; Kedisiplinan" id="{64865317-4082-9d76-46e9-4999f060e102}">
          <p14:sldIdLst>
            <p14:sldId id="259"/>
            <p14:sldId id="260"/>
          </p14:sldIdLst>
        </p14:section>
        <p14:section name="Produktivitas" id="{55c9afb5-e863-3af1-4f69-c15df0b1d0be}">
          <p14:sldIdLst>
            <p14:sldId id="261"/>
            <p14:sldId id="262"/>
          </p14:sldIdLst>
        </p14:section>
        <p14:section name="Hasil Evaluasi" id="{52052334-a81f-3d7c-5993-8ff8c0d24e2c}">
          <p14:sldIdLst>
            <p14:sldId id="263"/>
            <p14:sldId id="264"/>
          </p14:sldIdLst>
        </p14:section>
        <p14:section name="Pembimbing &amp; Departemen" id="{2d9f1027-f06e-1ac9-d5a8-9675ef4ce74c}">
          <p14:sldIdLst>
            <p14:sldId id="265"/>
            <p14:sldId id="266"/>
          </p14:sldIdLst>
        </p14:section>
        <p14:section name="Tindak Lanjut" id="{bbdc1363-36bb-21b3-9574-819376603501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Kehadiran</c:v>
                </c:pt>
              </c:strCache>
            </c:strRef>
          </c:tx>
          <c:spPr>
            <a:solidFill>
              <a:srgbClr val="3D3A33"/>
            </a:solidFill>
            <a:ln w="38100" cap="flat">
              <a:solidFill>
                <a:srgbClr val="3D3A33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D3A33"/>
              </a:solidFill>
              <a:ln w="9525" cap="flat">
                <a:solidFill>
                  <a:srgbClr val="3D3A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Juni</c:v>
                  </c:pt>
                  <c:pt idx="1">
                    <c:v>Juli</c:v>
                  </c:pt>
                  <c:pt idx="2">
                    <c:v>Agustus</c:v>
                  </c:pt>
                  <c:pt idx="3">
                    <c:v>September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94.7</c:v>
                </c:pt>
                <c:pt idx="1">
                  <c:v>95.1</c:v>
                </c:pt>
                <c:pt idx="2">
                  <c:v>96.9</c:v>
                </c:pt>
                <c:pt idx="3">
                  <c:v>92.6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Laporan harian</c:v>
                </c:pt>
              </c:strCache>
            </c:strRef>
          </c:tx>
          <c:spPr>
            <a:solidFill>
              <a:srgbClr val="F5B700"/>
            </a:solidFill>
            <a:ln w="38100" cap="flat">
              <a:solidFill>
                <a:srgbClr val="F5B700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5B700"/>
              </a:solidFill>
              <a:ln w="9525" cap="flat">
                <a:solidFill>
                  <a:srgbClr val="F5B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Juni</c:v>
                  </c:pt>
                  <c:pt idx="1">
                    <c:v>Juli</c:v>
                  </c:pt>
                  <c:pt idx="2">
                    <c:v>Agustus</c:v>
                  </c:pt>
                  <c:pt idx="3">
                    <c:v>September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88.5</c:v>
                </c:pt>
                <c:pt idx="1">
                  <c:v>95.8</c:v>
                </c:pt>
                <c:pt idx="2">
                  <c:v>94.6</c:v>
                </c:pt>
                <c:pt idx="3">
                  <c:v>94.5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Tepat waktu</c:v>
                </c:pt>
              </c:strCache>
            </c:strRef>
          </c:tx>
          <c:spPr>
            <a:solidFill>
              <a:srgbClr val="F07F1A"/>
            </a:solidFill>
            <a:ln w="38100" cap="flat">
              <a:solidFill>
                <a:srgbClr val="F07F1A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07F1A"/>
              </a:solidFill>
              <a:ln w="9525" cap="flat">
                <a:solidFill>
                  <a:srgbClr val="F07F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Juni</c:v>
                  </c:pt>
                  <c:pt idx="1">
                    <c:v>Juli</c:v>
                  </c:pt>
                  <c:pt idx="2">
                    <c:v>Agustus</c:v>
                  </c:pt>
                  <c:pt idx="3">
                    <c:v>September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83.5</c:v>
                </c:pt>
                <c:pt idx="1">
                  <c:v>81</c:v>
                </c:pt>
                <c:pt idx="2">
                  <c:v>91.1</c:v>
                </c:pt>
                <c:pt idx="3">
                  <c:v>89.3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9525" cap="flat">
              <a:solidFill>
                <a:srgbClr val="EDE8D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B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66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665C"/>
                </a:solidFill>
                <a:latin typeface="+mn-lt"/>
              </a:rPr>
              <a:t>Jumlah hari terlambat (Juni–September)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Hari terlambat</c:v>
                </c:pt>
              </c:strCache>
            </c:strRef>
          </c:tx>
          <c:spPr>
            <a:solidFill>
              <a:srgbClr val="F07F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Feti Fatmawati</c:v>
                  </c:pt>
                  <c:pt idx="1">
                    <c:v>Widiya Desy Mawar Sari</c:v>
                  </c:pt>
                  <c:pt idx="2">
                    <c:v>Janu Prastyo</c:v>
                  </c:pt>
                  <c:pt idx="3">
                    <c:v>Farrel Alwin Rahmadhan</c:v>
                  </c:pt>
                  <c:pt idx="4">
                    <c:v>Arinda Putri Aulia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29</c:v>
                </c:pt>
                <c:pt idx="2">
                  <c:v>28</c:v>
                </c:pt>
                <c:pt idx="3">
                  <c:v>17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Kategori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67C00"/>
              </a:solidFill>
              <a:effectLst/>
            </c:spPr>
          </c:dPt>
          <c:dPt>
            <c:idx val="1"/>
            <c:bubble3D val="0"/>
            <c:spPr>
              <a:solidFill>
                <a:srgbClr val="F5B700"/>
              </a:solidFill>
              <a:effectLst/>
            </c:spPr>
          </c:dPt>
          <c:dPt>
            <c:idx val="2"/>
            <c:bubble3D val="0"/>
            <c:spPr>
              <a:solidFill>
                <a:srgbClr val="FFDF7A"/>
              </a:solidFill>
              <a:effectLst/>
            </c:spPr>
          </c:dPt>
          <c:dPt>
            <c:idx val="3"/>
            <c:bubble3D val="0"/>
            <c:spPr>
              <a:solidFill>
                <a:srgbClr val="F07F1A"/>
              </a:solidFill>
              <a:effectLst/>
            </c:spPr>
          </c:dPt>
          <c:dPt>
            <c:idx val="4"/>
            <c:bubble3D val="0"/>
            <c:spPr>
              <a:solidFill>
                <a:srgbClr val="D737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Sangat Tinggi (≥1,5×)</c:v>
                </c:pt>
                <c:pt idx="1">
                  <c:v>Tinggi (≥1,0×)</c:v>
                </c:pt>
                <c:pt idx="2">
                  <c:v>Sedang (≥0,7×)</c:v>
                </c:pt>
                <c:pt idx="3">
                  <c:v>Rendah (&lt;0,7×)</c:v>
                </c:pt>
                <c:pt idx="4">
                  <c:v>Tidak ada laporan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14</c:v>
                </c:pt>
                <c:pt idx="4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B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665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665C"/>
                </a:solidFill>
                <a:latin typeface="+mn-lt"/>
              </a:rPr>
              <a:t>Indeks produktivitas (1,00 = rata-rata)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Indeks</c:v>
                </c:pt>
              </c:strCache>
            </c:strRef>
          </c:tx>
          <c:spPr>
            <a:solidFill>
              <a:srgbClr val="F5B700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Selvi Nurul Hasanah</c:v>
                  </c:pt>
                  <c:pt idx="1">
                    <c:v>Syakirah Tsaltsa Fitriah</c:v>
                  </c:pt>
                  <c:pt idx="2">
                    <c:v>Khofifatunnabilah</c:v>
                  </c:pt>
                  <c:pt idx="3">
                    <c:v>Putri Widyowati</c:v>
                  </c:pt>
                  <c:pt idx="4">
                    <c:v>Janu Prastyo</c:v>
                  </c:pt>
                  <c:pt idx="5">
                    <c:v>Ahmad Novan Juniardy</c:v>
                  </c:pt>
                  <c:pt idx="6">
                    <c:v>Tiara Martha Asnadhinata</c:v>
                  </c:pt>
                  <c:pt idx="7">
                    <c:v>Anggun Nur Tsania Agustin</c:v>
                  </c:pt>
                  <c:pt idx="8">
                    <c:v>Muhammad Qairul Umam</c:v>
                  </c:pt>
                  <c:pt idx="9">
                    <c:v>Tahyudin Uzi Safaat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2.21</c:v>
                </c:pt>
                <c:pt idx="1">
                  <c:v>2.06</c:v>
                </c:pt>
                <c:pt idx="2">
                  <c:v>1.95</c:v>
                </c:pt>
                <c:pt idx="3">
                  <c:v>1.71</c:v>
                </c:pt>
                <c:pt idx="4">
                  <c:v>1.53</c:v>
                </c:pt>
                <c:pt idx="5">
                  <c:v>1.45</c:v>
                </c:pt>
                <c:pt idx="6">
                  <c:v>1.43</c:v>
                </c:pt>
                <c:pt idx="7">
                  <c:v>1.36</c:v>
                </c:pt>
                <c:pt idx="8">
                  <c:v>1.22</c:v>
                </c:pt>
                <c:pt idx="9">
                  <c:v>1.11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B2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Predikat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67C00"/>
              </a:solidFill>
              <a:effectLst/>
            </c:spPr>
          </c:dPt>
          <c:dPt>
            <c:idx val="1"/>
            <c:bubble3D val="0"/>
            <c:spPr>
              <a:solidFill>
                <a:srgbClr val="F5B700"/>
              </a:solidFill>
              <a:effectLst/>
            </c:spPr>
          </c:dPt>
          <c:dPt>
            <c:idx val="2"/>
            <c:bubble3D val="0"/>
            <c:spPr>
              <a:solidFill>
                <a:srgbClr val="F07F1A"/>
              </a:solidFill>
              <a:effectLst/>
            </c:spPr>
          </c:dPt>
          <c:dPt>
            <c:idx val="3"/>
            <c:bubble3D val="0"/>
            <c:spPr>
              <a:solidFill>
                <a:srgbClr val="D7372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2B2B2B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Sangat Baik</c:v>
                </c:pt>
                <c:pt idx="1">
                  <c:v>Baik</c:v>
                </c:pt>
                <c:pt idx="2">
                  <c:v>Cukup</c:v>
                </c:pt>
                <c:pt idx="3">
                  <c:v>Perlu Pembinaan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17</c:v>
                </c:pt>
                <c:pt idx="1">
                  <c:v>8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B2B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66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665C"/>
                </a:solidFill>
                <a:latin typeface="+mn-lt"/>
              </a:rPr>
              <a:t>Rata-rata skor akhir pemagang per pembimbing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Rata-rata skor</c:v>
                </c:pt>
              </c:strCache>
            </c:strRef>
          </c:tx>
          <c:spPr>
            <a:solidFill>
              <a:srgbClr val="A67C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A67C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F07F1A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F07F1A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D7372F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D7372F"/>
              </a:solidFill>
              <a:effectLst/>
            </c:spPr>
          </c:dPt>
          <c:cat>
            <c:multiLvlStrRef>
              <c:f>Sheet1!$A$2:$A$21</c:f>
              <c:multiLvlStrCache>
                <c:ptCount val="20"/>
                <c:lvl>
                  <c:pt idx="0">
                    <c:v>M. Rizad Fahruri</c:v>
                  </c:pt>
                  <c:pt idx="1">
                    <c:v>Ganang Musyaffa Fahmi</c:v>
                  </c:pt>
                  <c:pt idx="2">
                    <c:v>Endah Yunia Sri Windari</c:v>
                  </c:pt>
                  <c:pt idx="3">
                    <c:v>Wawan Setiawan</c:v>
                  </c:pt>
                  <c:pt idx="4">
                    <c:v>Akhmat Abidin</c:v>
                  </c:pt>
                  <c:pt idx="5">
                    <c:v>Yusuf Reza Muhammad</c:v>
                  </c:pt>
                  <c:pt idx="6">
                    <c:v>Watin Utari</c:v>
                  </c:pt>
                  <c:pt idx="7">
                    <c:v>Moh. Agus Efendi</c:v>
                  </c:pt>
                  <c:pt idx="8">
                    <c:v>Imaniar Putri Utami</c:v>
                  </c:pt>
                  <c:pt idx="9">
                    <c:v>Arifano Kusuma Bayu</c:v>
                  </c:pt>
                  <c:pt idx="10">
                    <c:v>Siti Mujayanah</c:v>
                  </c:pt>
                  <c:pt idx="11">
                    <c:v>Ahmad Jalaluddin Basyar</c:v>
                  </c:pt>
                  <c:pt idx="12">
                    <c:v>Feti Mubaiyini</c:v>
                  </c:pt>
                  <c:pt idx="13">
                    <c:v>Muhammad Sadullah</c:v>
                  </c:pt>
                  <c:pt idx="14">
                    <c:v>Dian Rizka Sari</c:v>
                  </c:pt>
                  <c:pt idx="15">
                    <c:v>Dwi Suliastari</c:v>
                  </c:pt>
                  <c:pt idx="16">
                    <c:v>Haskin Avionata</c:v>
                  </c:pt>
                  <c:pt idx="17">
                    <c:v>Elfano Rangga Pratama</c:v>
                  </c:pt>
                  <c:pt idx="18">
                    <c:v>Tri Hartanto</c:v>
                  </c:pt>
                  <c:pt idx="19">
                    <c:v>Imam Subekti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98.5</c:v>
                </c:pt>
                <c:pt idx="1">
                  <c:v>97.9</c:v>
                </c:pt>
                <c:pt idx="2">
                  <c:v>97.8</c:v>
                </c:pt>
                <c:pt idx="3">
                  <c:v>96.8</c:v>
                </c:pt>
                <c:pt idx="4">
                  <c:v>95.5</c:v>
                </c:pt>
                <c:pt idx="5">
                  <c:v>93.9</c:v>
                </c:pt>
                <c:pt idx="6">
                  <c:v>92.4</c:v>
                </c:pt>
                <c:pt idx="7">
                  <c:v>92.3</c:v>
                </c:pt>
                <c:pt idx="8">
                  <c:v>91.8</c:v>
                </c:pt>
                <c:pt idx="9">
                  <c:v>90.9</c:v>
                </c:pt>
                <c:pt idx="10">
                  <c:v>90.8</c:v>
                </c:pt>
                <c:pt idx="11">
                  <c:v>85.1</c:v>
                </c:pt>
                <c:pt idx="12">
                  <c:v>84.9</c:v>
                </c:pt>
                <c:pt idx="13">
                  <c:v>84.5</c:v>
                </c:pt>
                <c:pt idx="14">
                  <c:v>81.4</c:v>
                </c:pt>
                <c:pt idx="15">
                  <c:v>80.4</c:v>
                </c:pt>
                <c:pt idx="16">
                  <c:v>78.1</c:v>
                </c:pt>
                <c:pt idx="17">
                  <c:v>74.5</c:v>
                </c:pt>
                <c:pt idx="18">
                  <c:v>67.3</c:v>
                </c:pt>
                <c:pt idx="19">
                  <c:v>31.8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B2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665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665C"/>
                </a:solidFill>
                <a:latin typeface="+mn-lt"/>
              </a:rPr>
              <a:t>Beban kerja per pemagang (1,00 = rata-rata)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Indeks</c:v>
                </c:pt>
              </c:strCache>
            </c:strRef>
          </c:tx>
          <c:spPr>
            <a:solidFill>
              <a:srgbClr val="F07F1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07F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7F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7F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7F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B7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DB6A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DB6A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DB6A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DB6A6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DB6A6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BDB6A6"/>
              </a:solidFill>
              <a:effectLst/>
            </c:spPr>
          </c:dPt>
          <c:cat>
            <c:multiLvlStrRef>
              <c:f>Sheet1!$A$2:$A$15</c:f>
              <c:multiLvlStrCache>
                <c:ptCount val="14"/>
                <c:lvl>
                  <c:pt idx="0">
                    <c:v>PKSDM</c:v>
                  </c:pt>
                  <c:pt idx="1">
                    <c:v>Financial Analysis</c:v>
                  </c:pt>
                  <c:pt idx="2">
                    <c:v>Finance</c:v>
                  </c:pt>
                  <c:pt idx="3">
                    <c:v>Tax &amp; Accounting</c:v>
                  </c:pt>
                  <c:pt idx="4">
                    <c:v>Verification Jr. Officer</c:v>
                  </c:pt>
                  <c:pt idx="5">
                    <c:v>PJ GM of Marketing</c:v>
                  </c:pt>
                  <c:pt idx="6">
                    <c:v>Transportation</c:v>
                  </c:pt>
                  <c:pt idx="7">
                    <c:v>Digital Business</c:v>
                  </c:pt>
                  <c:pt idx="8">
                    <c:v>Central Java Curah Adm.</c:v>
                  </c:pt>
                  <c:pt idx="9">
                    <c:v>Modern Retail</c:v>
                  </c:pt>
                  <c:pt idx="10">
                    <c:v>Legal</c:v>
                  </c:pt>
                  <c:pt idx="11">
                    <c:v>Equalisation</c:v>
                  </c:pt>
                  <c:pt idx="12">
                    <c:v>Treasury</c:v>
                  </c:pt>
                  <c:pt idx="13">
                    <c:v>Secretariat &amp; Filling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2.21</c:v>
                </c:pt>
                <c:pt idx="1">
                  <c:v>1.95</c:v>
                </c:pt>
                <c:pt idx="2">
                  <c:v>1.27</c:v>
                </c:pt>
                <c:pt idx="3">
                  <c:v>1.22</c:v>
                </c:pt>
                <c:pt idx="4">
                  <c:v>1.13</c:v>
                </c:pt>
                <c:pt idx="5">
                  <c:v>1.1</c:v>
                </c:pt>
                <c:pt idx="6">
                  <c:v>1.06</c:v>
                </c:pt>
                <c:pt idx="7">
                  <c:v>0.95</c:v>
                </c:pt>
                <c:pt idx="8">
                  <c:v>0.78</c:v>
                </c:pt>
                <c:pt idx="9">
                  <c:v>0.69</c:v>
                </c:pt>
                <c:pt idx="10">
                  <c:v>0.63</c:v>
                </c:pt>
                <c:pt idx="11">
                  <c:v>0.61</c:v>
                </c:pt>
                <c:pt idx="12">
                  <c:v>0.5</c:v>
                </c:pt>
                <c:pt idx="13">
                  <c:v>0.48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6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F5B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Evaluasi Magang · Juni–September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Evaluasi Program Magang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Kehadiran, kedisiplinan, produktivitas &amp; penempatan · Juni–September 2026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PT Semen Indonesia Distributor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294790"/>
            <a:ext cx="427939" cy="4279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Ringkasan hasil evaluasi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08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pemagang aktif dievaluasi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042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3474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59" y="17080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474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94,7%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36347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kehadiran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220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4652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39" y="17080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4652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86,8%</a:t>
            </a:r>
            <a:endParaRPr lang="en-US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datang tepat waktu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98398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583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919" y="17080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58300" y="2286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86,1</a:t>
            </a:r>
            <a:endParaRPr lang="en-US" sz="4000" dirty="0"/>
          </a:p>
        </p:txBody>
      </p:sp>
      <p:sp>
        <p:nvSpPr>
          <p:cNvPr id="22" name="Text 16"/>
          <p:cNvSpPr txBox="1"/>
          <p:nvPr/>
        </p:nvSpPr>
        <p:spPr>
          <a:xfrm>
            <a:off x="925830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rata-rata skor akhir (0–100)</a:t>
            </a:r>
            <a:endParaRPr lang="en-US" sz="14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4048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515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Kehadiran dan pelaporan sudah tinggi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105156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93,6% hari hadir disertai laporan; ketepatan waktu masih menjadi titik lemah.</a:t>
            </a:r>
            <a:endParaRPr lang="en-US" sz="14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663440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515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Produktivitas belum merata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105156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13 pemagang di atas rata-rata, sementara 14 pemagang di bawah 0,7× rata-rata.</a:t>
            </a:r>
            <a:endParaRPr lang="en-US" sz="1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486400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5156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25 dari 34 pemagang berpredikat Baik atau Sangat Baik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10515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 pemagang perlu pembinaan; penempatan di beberapa departemen perlu disesuaikan.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Cakupan dan cara penilaian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047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44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34 pemagang · 20 pembimbing · 17 departemen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099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Seluruh pemagang aktif Juni–September 2026.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7919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5328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Sesuai masa magang masing-masing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8986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Hari kerja dihitung dari tanggal masuk s.d. selesai magang.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703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86791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7216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75 hari kerja kantor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0873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Sabtu–Minggu &amp; libur nasional tidak dihitung; Rabu Juni–Juli WFH.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05663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910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Produktivitas dari laporan harian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5276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Jumlah &amp; panjang laporan per hari hadir, dibanding rata-rata semua pemagang (1,00×).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040880" y="1325880"/>
            <a:ext cx="4572000" cy="470916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315200" y="15544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Skor akhir (0–100)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7315200" y="2103120"/>
            <a:ext cx="10058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315200" y="21031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30%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503920" y="21031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Kehadiran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7315200" y="2724912"/>
            <a:ext cx="10058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315200" y="27249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20%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503920" y="272491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Ketepatan waktu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7315200" y="3346704"/>
            <a:ext cx="10058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15200" y="334670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20%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503920" y="334670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Kepatuhan laporan harian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7315200" y="3968496"/>
            <a:ext cx="10058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315200" y="39684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30%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8503920" y="39684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Produktivitas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7315200" y="4663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Predikat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7315200" y="5029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Sangat Baik ≥ 90 · Baik ≥ 80 · Cukup ≥ 70 · Perlu Pembinaan &lt; 70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Kehadiran stabil di atas 92% setiap bulan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7160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536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96,9%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48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kehadiran tertinggi di Agustus, dengan ketepatan waktu 91,1%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297180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31363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92,6%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kehadiran September, saat 5 pemagang baru mulai masuk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457200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47365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88,5% → 95,8%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kepatuhan laporan harian naik dari Juni ke Juli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Keterlambatan terpusat pada 5 pemagang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37160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5361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65%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dari 226 hari terlambat berasal dari 5 pemagang ini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72400" y="297180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31363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100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hari hadir tanpa absen pulang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4572000"/>
            <a:ext cx="3840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47365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27 dari 34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5349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pemagang terlambat paling banyak 7 hari selama periode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Produktivitas pemagang belum merata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1206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325880"/>
            <a:ext cx="5486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14 pemagang (41%) di bawah 0,7×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94767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Tersebar di 10 departemen; kapasitasnya belum termanfaatkan optimal.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2971800"/>
            <a:ext cx="54864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Rajin hadir belum tentu produktif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359359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5 pemagang dengan kehadiran 100% memiliki indeks produktivitas di bawah 0,7×.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461772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Tren membaik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52395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Entri laporan per hari naik dari 1,68 (Juni) ke 1,93 (Juli), lalu stabil sekitar 1,8.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10 pemagang paling produktif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25880"/>
            <a:ext cx="3749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Asal departemen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947672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Digital Business (3), Finance (2), serta PKSDM, Financial Analysis, Verification, Transportation dan Tax &amp; Accounting.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3657600"/>
            <a:ext cx="3749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Catatan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4279392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Produktivitas tinggi belum tentu disiplin: Janu Prastyo masuk 10 besar tetapi terlambat 28 hari.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Hasil skor akhir: 25 pemagang Baik atau Sangat Baik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45720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325880"/>
          <a:ext cx="6217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828800"/>
                <a:gridCol w="73152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Perlu perhatian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Pembimbing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Isu utama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Skor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Masduqi Muhammad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Imam Subekti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Tidak ada laporan; hadir 75%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31,8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Widiya Desy Mawar Sari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Ahmad Jalaluddin Basyar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Produktivitas 0,28×; telat 29 hari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65,4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Alfina Zakya Ula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Tri Hartanto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Hadir 69% sejak masuk 14 Sep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67,3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Feti Fatmawati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Elfano Rangga Pratama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Telat 59 hari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74,5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Arinda Putri Aulia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Ahmad Jalaluddin Basyar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Produktivitas 0,44×; telat 15 hari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75,5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Syachira, Eka, Rizal, Farrel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Beragam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Produktivitas rendah (0,31–0,61×)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76,7–78,1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10 pemagang terbaik berdasarkan skor akhir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834640"/>
                <a:gridCol w="2651760"/>
                <a:gridCol w="914400"/>
                <a:gridCol w="1188720"/>
                <a:gridCol w="1005840"/>
                <a:gridCol w="1280160"/>
                <a:gridCol w="73152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Pemagang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Pembimbing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Hadir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Tepat waktu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Laporan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Produktivitas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Skor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Anggun Nur Tsania Agustin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Moh. Agus Efendi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99%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1,36×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99,0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Tahyudin Uzi Safaat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Endah Yunia Sri Windari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1,11×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98,6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Khofifatunnabilah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M. Rizad Fahruri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96%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99%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1,95×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98,5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Selvi Nurul Hasanah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Ganang Musyaffa Fahmi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95%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2,21×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97,9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Syakirah Tsaltsa Fitriah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Ahmad Jalaluddin Basyar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2,06×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97,8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Tharissa Adelia Putri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Siti Mujayanah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98%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1,00×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97,4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Ahmad Novan Juniardy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Endah Yunia Sri Windari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92%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97%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1,45×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96,9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Putri Widyowati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Wawan Setiawan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85%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99%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1,71×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96,8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Tiara Martha Asnadhinata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Ahmad Jalaluddin Basyar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96%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1,43×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96,2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Zalfa Nur Rohmah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Siti Mujayanah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92%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0,92×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96,2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Pemagang di 10 besar unggul di kedisiplinan dan 9 di antaranya berproduktivitas di atas rata-rata.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11 dari 20 pembimbing meraih rata-rata Sangat Baik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694944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25880"/>
            <a:ext cx="3749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Kelompok terbesar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194767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Ahmad Jalaluddin Basyar membimbing 7 pemagang (rata-rata 85,1); 2 di antaranya perlu pembinaan.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3749040"/>
            <a:ext cx="3749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Skor terendah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4370832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Imam Subekti, Tri Hartanto dan Elfano Rangga Pratama masing-masing membimbing 1 pemagang, jadi skornya mencerminkan satu orang.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Penempatan: 3 pemagang perlu dipindah ke unit tersibuk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76072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109728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Departemen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Aktif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Saran kuota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Selisih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7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Digital Business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372F"/>
                          </a:solidFill>
                        </a:rPr>
                        <a:t>−2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Secretariat &amp; Filling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372F"/>
                          </a:solidFill>
                        </a:rPr>
                        <a:t>−1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PKSDM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6A0C"/>
                          </a:solidFill>
                        </a:rPr>
                        <a:t>+1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Financial Analysis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6A0C"/>
                          </a:solidFill>
                        </a:rPr>
                        <a:t>+1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Verification Jr. Officer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6A0C"/>
                          </a:solidFill>
                        </a:rPr>
                        <a:t>+1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SM of Legal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46A0C"/>
                          </a:solidFill>
                        </a:rPr>
                        <a:t>+1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675120" y="4709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Saran kuota = rata-rata pemagang aktif × indeks beban, dibulatkan. 10 departemen lain sudah seimbang, termasuk PJ GM of Marketing yang kini diisi pemagang bimbingan Watin Utari.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Rekomendasi tindak lanjut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69712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Pembinaan individu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Masduqi, Widiya dan Alfina dipanggil bersama pembimbingnya; tetapkan target kehadiran, laporan dan tugas.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3258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169712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578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Disiplin waktu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Pembinaan bagi pemagang terlambat &gt; 15 hari dan pengingat rutin absen pulang.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32588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7532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169712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Target tugas harian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286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Pembimbing memberi target kerja harian bagi 14 pemagang berproduktivitas rendah.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023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16600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Redistribusi pemagang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754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Pindahkan 2 pemagang Digital Business dan 1 Secretariat ke PKSDM, Financial Analysis dan Verification.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79476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26280" y="4023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416600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5780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Standar laporan harian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754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Format minimal (tugas, output, jumlah) agar kinerja terukur adil; wajib bagi cabang Lamongan.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79476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75320" y="4023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4166006"/>
            <a:ext cx="309067" cy="30906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Evaluasi bulanan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75488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Pantau skor dan produktivitas tiap bulan; konfirmasi rekomendasi kuota dengan pembimbing.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Terima kasih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Detail perhitungan: file Excel “Evaluasi Magang Jun-Sep 2026”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aluasi Magang">
  <a:themeElements>
    <a:clrScheme name="Evaluasi Magang">
      <a:dk1>
        <a:srgbClr val="2B2B2B"/>
      </a:dk1>
      <a:lt1>
        <a:srgbClr val="FFFFFF"/>
      </a:lt1>
      <a:dk2>
        <a:srgbClr val="3D3A33"/>
      </a:dk2>
      <a:lt2>
        <a:srgbClr val="FFF6D9"/>
      </a:lt2>
      <a:accent1>
        <a:srgbClr val="F5B700"/>
      </a:accent1>
      <a:accent2>
        <a:srgbClr val="F07F1A"/>
      </a:accent2>
      <a:accent3>
        <a:srgbClr val="D7372F"/>
      </a:accent3>
      <a:accent4>
        <a:srgbClr val="FFDF7A"/>
      </a:accent4>
      <a:accent5>
        <a:srgbClr val="6B665C"/>
      </a:accent5>
      <a:accent6>
        <a:srgbClr val="A67C00"/>
      </a:accent6>
      <a:hlink>
        <a:srgbClr val="A67C00"/>
      </a:hlink>
      <a:folHlink>
        <a:srgbClr val="6B665C"/>
      </a:folHlink>
    </a:clrScheme>
    <a:fontScheme name="Evaluasi Maga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Evaluasi Program Magang Juni–September 2026</dc:title>
  <dc:subject>PptxGenJS Presentation</dc:subject>
  <dc:creator>Selvi Hasanah</dc:creator>
  <cp:lastModifiedBy>Selvi Hasanah</cp:lastModifiedBy>
  <cp:revision>1</cp:revision>
  <dcterms:created xsi:type="dcterms:W3CDTF">2026-10-13T08:18:45Z</dcterms:created>
  <dcterms:modified xsi:type="dcterms:W3CDTF">2026-10-13T08:18:45Z</dcterms:modified>
</cp:coreProperties>
</file>