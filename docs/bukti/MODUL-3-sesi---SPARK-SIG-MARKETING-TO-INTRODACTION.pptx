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3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7B27A"/>
              </a:solidFill>
              <a:effectLst/>
            </c:spPr>
          </c:dPt>
          <c:dPt>
            <c:idx val="1"/>
            <c:bubble3D val="0"/>
            <c:spPr>
              <a:solidFill>
                <a:srgbClr val="EEF0F4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Ya</c:v>
                </c:pt>
                <c:pt idx="1">
                  <c:v>Tidak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D3B6"/>
              </a:solidFill>
              <a:effectLst/>
            </c:spPr>
          </c:dPt>
          <c:dPt>
            <c:idx val="1"/>
            <c:bubble3D val="0"/>
            <c:spPr>
              <a:solidFill>
                <a:srgbClr val="EEF0F4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Ya</c:v>
                </c:pt>
                <c:pt idx="1">
                  <c:v>Tidak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5F6B7A"/>
                </a:solidFill>
                <a:latin typeface="Arial"/>
              </a:rPr>
              <a:t>Contoh: target naik 20%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Penjualan</c:v>
                </c:pt>
              </c:strCache>
            </c:strRef>
          </c:tx>
          <c:spPr>
            <a:solidFill>
              <a:srgbClr val="F7B27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8FD3B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33882240"/>
        <c:axId val="1133885504"/>
      </c:barChart>
      <c:catAx>
        <c:axId val="1133882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1133885504"/>
        <c:crosses val="autoZero"/>
        <c:auto val="1"/>
        <c:lblAlgn val="ctr"/>
        <c:lblOffset val="100"/>
        <c:noMultiLvlLbl val="1"/>
      </c:catAx>
      <c:valAx>
        <c:axId val="1133885504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1133882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10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merangkum tiga modul pelatihan SPARK Marketing to Introduction. Setiap slide materi dilengkapi kotak "Aksi </a:t>
            </a:r>
            <a:r>
              <a:rPr lang="en-US"/>
              <a:t>BM</a:t>
            </a:r>
            <a:r>
              <a:rPr lang="en-US" smtClean="0"/>
              <a:t>". terjemahan </a:t>
            </a:r>
            <a:r>
              <a:rPr lang="en-US" dirty="0"/>
              <a:t>konsep ke tindakan nyata di cabang.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chart" Target="../charts/chart3.xml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1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asi langkah 1 (zoom) #2"/>
          <p:cNvSpPr/>
          <p:nvPr/>
        </p:nvSpPr>
        <p:spPr>
          <a:xfrm>
            <a:off x="5760720" y="457200"/>
            <a:ext cx="2377440" cy="237744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Animasi langkah 2 (zoom) #3"/>
          <p:cNvSpPr/>
          <p:nvPr/>
        </p:nvSpPr>
        <p:spPr>
          <a:xfrm>
            <a:off x="7223760" y="1737360"/>
            <a:ext cx="1828800" cy="182880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4" name="Animasi langkah 3 (zoom) #4"/>
          <p:cNvSpPr/>
          <p:nvPr/>
        </p:nvSpPr>
        <p:spPr>
          <a:xfrm>
            <a:off x="5486400" y="2651760"/>
            <a:ext cx="1645920" cy="164592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5" name="Animasi langkah 4 (zoom) #5"/>
          <p:cNvSpPr/>
          <p:nvPr/>
        </p:nvSpPr>
        <p:spPr>
          <a:xfrm>
            <a:off x="7589520" y="182880"/>
            <a:ext cx="1005840" cy="100584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sp>
        <p:nvSpPr>
          <p:cNvPr id="6" name="Animasi langkah 5 (zoom) #6"/>
          <p:cNvSpPr/>
          <p:nvPr/>
        </p:nvSpPr>
        <p:spPr>
          <a:xfrm>
            <a:off x="6949440" y="3749040"/>
            <a:ext cx="914400" cy="91440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7" name="Animasi langkah 6 (zoom) #7"/>
          <p:cNvSpPr/>
          <p:nvPr/>
        </p:nvSpPr>
        <p:spPr>
          <a:xfrm>
            <a:off x="5029200" y="1463040"/>
            <a:ext cx="731520" cy="73152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8" name="Animasi langkah 7 (zoom) #8"/>
          <p:cNvSpPr/>
          <p:nvPr/>
        </p:nvSpPr>
        <p:spPr>
          <a:xfrm>
            <a:off x="6355080" y="10515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7 (zoom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1313078"/>
            <a:ext cx="665683" cy="665683"/>
          </a:xfrm>
          <a:prstGeom prst="rect">
            <a:avLst/>
          </a:prstGeom>
        </p:spPr>
      </p:pic>
      <p:sp>
        <p:nvSpPr>
          <p:cNvPr id="10" name="Animasi langkah 7 (zoom) #10"/>
          <p:cNvSpPr/>
          <p:nvPr/>
        </p:nvSpPr>
        <p:spPr>
          <a:xfrm>
            <a:off x="7680960" y="21945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Animasi langkah 7 (zoom) #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395728"/>
            <a:ext cx="512064" cy="512064"/>
          </a:xfrm>
          <a:prstGeom prst="rect">
            <a:avLst/>
          </a:prstGeom>
        </p:spPr>
      </p:pic>
      <p:sp>
        <p:nvSpPr>
          <p:cNvPr id="12" name="Animasi langkah 7 (zoom) #12"/>
          <p:cNvSpPr/>
          <p:nvPr/>
        </p:nvSpPr>
        <p:spPr>
          <a:xfrm>
            <a:off x="5852160" y="30175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Animasi langkah 7 (zoom) #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3218688"/>
            <a:ext cx="512064" cy="512064"/>
          </a:xfrm>
          <a:prstGeom prst="rect">
            <a:avLst/>
          </a:prstGeom>
        </p:spPr>
      </p:pic>
      <p:sp>
        <p:nvSpPr>
          <p:cNvPr id="15" name="Animasi langkah 2 (up) #15"/>
          <p:cNvSpPr txBox="1"/>
          <p:nvPr/>
        </p:nvSpPr>
        <p:spPr>
          <a:xfrm>
            <a:off x="548640" y="1143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 Introduction</a:t>
            </a:r>
            <a:endParaRPr lang="en-US" sz="3800" dirty="0"/>
          </a:p>
        </p:txBody>
      </p:sp>
      <p:sp>
        <p:nvSpPr>
          <p:cNvPr id="16" name="Animasi langkah 3 (up) #16"/>
          <p:cNvSpPr txBox="1"/>
          <p:nvPr/>
        </p:nvSpPr>
        <p:spPr>
          <a:xfrm>
            <a:off x="548640" y="23957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</a:t>
            </a:r>
            <a:r>
              <a:rPr lang="en-US" sz="16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– 3 untuk Persiapan Pelatihan</a:t>
            </a:r>
            <a:endParaRPr lang="en-US" sz="1600" dirty="0"/>
          </a:p>
        </p:txBody>
      </p:sp>
      <p:sp>
        <p:nvSpPr>
          <p:cNvPr id="17" name="Animasi langkah 4 (wipeL) #17"/>
          <p:cNvSpPr/>
          <p:nvPr/>
        </p:nvSpPr>
        <p:spPr>
          <a:xfrm>
            <a:off x="548640" y="320040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sp>
        <p:nvSpPr>
          <p:cNvPr id="18" name="Animasi langkah 4 (wipeL) #18"/>
          <p:cNvSpPr txBox="1"/>
          <p:nvPr/>
        </p:nvSpPr>
        <p:spPr>
          <a:xfrm>
            <a:off x="5486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Edisi khusus Branch Manager (BM)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2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4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6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8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2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Perjalanan Belajar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sesi, satu benang merah: kenali customer → bangun nilai → menangkan di pasar</a:t>
            </a:r>
            <a:endParaRPr lang="en-US" sz="1250" dirty="0"/>
          </a:p>
        </p:txBody>
      </p:sp>
      <p:sp>
        <p:nvSpPr>
          <p:cNvPr id="7" name="Animasi langkah 3 (wipeL) #7"/>
          <p:cNvSpPr/>
          <p:nvPr/>
        </p:nvSpPr>
        <p:spPr>
          <a:xfrm>
            <a:off x="1097280" y="2148840"/>
            <a:ext cx="6949440" cy="0"/>
          </a:xfrm>
          <a:prstGeom prst="line">
            <a:avLst/>
          </a:prstGeom>
          <a:noFill/>
          <a:ln w="25400">
            <a:solidFill>
              <a:srgbClr val="C9CFDA"/>
            </a:solidFill>
            <a:prstDash val="dash"/>
          </a:ln>
        </p:spPr>
      </p:sp>
      <p:sp>
        <p:nvSpPr>
          <p:cNvPr id="8" name="Animasi langkah 4 (zoom) #8"/>
          <p:cNvSpPr/>
          <p:nvPr/>
        </p:nvSpPr>
        <p:spPr>
          <a:xfrm>
            <a:off x="1463040" y="1691640"/>
            <a:ext cx="868680" cy="868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pic>
        <p:nvPicPr>
          <p:cNvPr id="9" name="Animasi langkah 4 (zoom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50" y="1882750"/>
            <a:ext cx="486461" cy="486461"/>
          </a:xfrm>
          <a:prstGeom prst="rect">
            <a:avLst/>
          </a:prstGeom>
        </p:spPr>
      </p:pic>
      <p:sp>
        <p:nvSpPr>
          <p:cNvPr id="10" name="Animasi langkah 5 (up) #10"/>
          <p:cNvSpPr/>
          <p:nvPr/>
        </p:nvSpPr>
        <p:spPr>
          <a:xfrm>
            <a:off x="457200" y="26974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19050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1" name="Animasi langkah 5 (up) #11"/>
          <p:cNvSpPr txBox="1"/>
          <p:nvPr/>
        </p:nvSpPr>
        <p:spPr>
          <a:xfrm>
            <a:off x="594360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21 Mei 2026</a:t>
            </a:r>
            <a:endParaRPr lang="en-US" sz="950" dirty="0"/>
          </a:p>
        </p:txBody>
      </p:sp>
      <p:sp>
        <p:nvSpPr>
          <p:cNvPr id="12" name="Animasi langkah 5 (up) #12"/>
          <p:cNvSpPr txBox="1"/>
          <p:nvPr/>
        </p:nvSpPr>
        <p:spPr>
          <a:xfrm>
            <a:off x="594360" y="2971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</a:t>
            </a:r>
            <a:endParaRPr lang="en-US" sz="1400" dirty="0"/>
          </a:p>
        </p:txBody>
      </p:sp>
      <p:sp>
        <p:nvSpPr>
          <p:cNvPr id="13" name="Animasi langkah 5 (up) #13"/>
          <p:cNvSpPr txBox="1"/>
          <p:nvPr/>
        </p:nvSpPr>
        <p:spPr>
          <a:xfrm>
            <a:off x="566928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marketing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Shopper · Consumer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 &amp; OTLO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Komoditisasi, STP, Journey, 4A</a:t>
            </a:r>
            <a:endParaRPr lang="en-US" sz="1050" dirty="0"/>
          </a:p>
        </p:txBody>
      </p:sp>
      <p:sp>
        <p:nvSpPr>
          <p:cNvPr id="14" name="Animasi langkah 6 (zoom) #14"/>
          <p:cNvSpPr/>
          <p:nvPr/>
        </p:nvSpPr>
        <p:spPr>
          <a:xfrm>
            <a:off x="4279392" y="1691640"/>
            <a:ext cx="868680" cy="868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15" name="Animasi langkah 6 (zoom) #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502" y="1882750"/>
            <a:ext cx="486461" cy="486461"/>
          </a:xfrm>
          <a:prstGeom prst="rect">
            <a:avLst/>
          </a:prstGeom>
        </p:spPr>
      </p:pic>
      <p:sp>
        <p:nvSpPr>
          <p:cNvPr id="16" name="Animasi langkah 7 (up) #16"/>
          <p:cNvSpPr/>
          <p:nvPr/>
        </p:nvSpPr>
        <p:spPr>
          <a:xfrm>
            <a:off x="3273552" y="26974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19050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7" name="Animasi langkah 7 (up) #17"/>
          <p:cNvSpPr txBox="1"/>
          <p:nvPr/>
        </p:nvSpPr>
        <p:spPr>
          <a:xfrm>
            <a:off x="3410712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10 Juni 2026</a:t>
            </a:r>
            <a:endParaRPr lang="en-US" sz="950" dirty="0"/>
          </a:p>
        </p:txBody>
      </p:sp>
      <p:sp>
        <p:nvSpPr>
          <p:cNvPr id="18" name="Animasi langkah 7 (up) #18"/>
          <p:cNvSpPr txBox="1"/>
          <p:nvPr/>
        </p:nvSpPr>
        <p:spPr>
          <a:xfrm>
            <a:off x="3410712" y="2971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&amp; Product</a:t>
            </a:r>
            <a:endParaRPr lang="en-US" sz="1400" dirty="0"/>
          </a:p>
        </p:txBody>
      </p:sp>
      <p:sp>
        <p:nvSpPr>
          <p:cNvPr id="19" name="Animasi langkah 7 (up) #19"/>
          <p:cNvSpPr txBox="1"/>
          <p:nvPr/>
        </p:nvSpPr>
        <p:spPr>
          <a:xfrm>
            <a:off x="338328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Insight → Action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6P &amp; 3 Game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Promise, DNA, Equity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customer-centric</a:t>
            </a:r>
            <a:endParaRPr lang="en-US" sz="1050" dirty="0"/>
          </a:p>
        </p:txBody>
      </p:sp>
      <p:sp>
        <p:nvSpPr>
          <p:cNvPr id="20" name="Animasi langkah 8 (zoom) #20"/>
          <p:cNvSpPr/>
          <p:nvPr/>
        </p:nvSpPr>
        <p:spPr>
          <a:xfrm>
            <a:off x="7095744" y="1691640"/>
            <a:ext cx="868680" cy="868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21" name="Animasi langkah 8 (zoom) #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854" y="1882750"/>
            <a:ext cx="486461" cy="486461"/>
          </a:xfrm>
          <a:prstGeom prst="rect">
            <a:avLst/>
          </a:prstGeom>
        </p:spPr>
      </p:pic>
      <p:sp>
        <p:nvSpPr>
          <p:cNvPr id="22" name="Animasi langkah 9 (up) #22"/>
          <p:cNvSpPr/>
          <p:nvPr/>
        </p:nvSpPr>
        <p:spPr>
          <a:xfrm>
            <a:off x="6089904" y="26974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19050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9 (up) #23"/>
          <p:cNvSpPr txBox="1"/>
          <p:nvPr/>
        </p:nvSpPr>
        <p:spPr>
          <a:xfrm>
            <a:off x="6227064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Sesi penutup</a:t>
            </a:r>
            <a:endParaRPr lang="en-US" sz="950" dirty="0"/>
          </a:p>
        </p:txBody>
      </p:sp>
      <p:sp>
        <p:nvSpPr>
          <p:cNvPr id="24" name="Animasi langkah 9 (up) #24"/>
          <p:cNvSpPr txBox="1"/>
          <p:nvPr/>
        </p:nvSpPr>
        <p:spPr>
          <a:xfrm>
            <a:off x="6227064" y="2971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25" name="Animasi langkah 9 (up) #25"/>
          <p:cNvSpPr txBox="1"/>
          <p:nvPr/>
        </p:nvSpPr>
        <p:spPr>
          <a:xfrm>
            <a:off x="6199632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numerik &amp; tertimbang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POSM, Promosi, ABCDE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&amp; Portofolio merek</a:t>
            </a:r>
            <a:endParaRPr lang="en-US" sz="10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Regional, Data/AI, Aliansi</a:t>
            </a:r>
            <a:endParaRPr lang="en-US" sz="1050" dirty="0"/>
          </a:p>
        </p:txBody>
      </p:sp>
      <p:sp>
        <p:nvSpPr>
          <p:cNvPr id="26" name="Animasi langkah 10 (wipeL) #26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7" name="Animasi langkah 10 (wipeL) #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8" name="Animasi langkah 10 (wipeL) #28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deck ini sebagai bahan briefing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tim.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punya satu tindakan yang bisa langsung dibawa ke cabang.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2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8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66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040"/>
                            </p:stCondLst>
                            <p:childTnLst>
                              <p:par>
                                <p:cTn id="9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42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F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asi langkah 1 (zoom) #2"/>
          <p:cNvSpPr/>
          <p:nvPr/>
        </p:nvSpPr>
        <p:spPr>
          <a:xfrm>
            <a:off x="5669280" y="548640"/>
            <a:ext cx="4206240" cy="4206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Animasi langkah 2 (zoom) #3"/>
          <p:cNvSpPr txBox="1"/>
          <p:nvPr/>
        </p:nvSpPr>
        <p:spPr>
          <a:xfrm>
            <a:off x="5669280" y="548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0" dirty="0"/>
          </a:p>
        </p:txBody>
      </p:sp>
      <p:sp>
        <p:nvSpPr>
          <p:cNvPr id="4" name="Animasi langkah 1 (fade) #4"/>
          <p:cNvSpPr txBox="1"/>
          <p:nvPr/>
        </p:nvSpPr>
        <p:spPr>
          <a:xfrm>
            <a:off x="5486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400" dirty="0"/>
          </a:p>
        </p:txBody>
      </p:sp>
      <p:sp>
        <p:nvSpPr>
          <p:cNvPr id="5" name="Animasi langkah 3 (up) #5"/>
          <p:cNvSpPr txBox="1"/>
          <p:nvPr/>
        </p:nvSpPr>
        <p:spPr>
          <a:xfrm>
            <a:off x="548640" y="1188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</a:t>
            </a:r>
            <a:endParaRPr lang="en-US" sz="3400" dirty="0"/>
          </a:p>
        </p:txBody>
      </p:sp>
      <p:sp>
        <p:nvSpPr>
          <p:cNvPr id="6" name="Animasi langkah 4 (up) #6"/>
          <p:cNvSpPr/>
          <p:nvPr/>
        </p:nvSpPr>
        <p:spPr>
          <a:xfrm>
            <a:off x="548640" y="2606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Animasi langkah 4 (up) #7"/>
          <p:cNvSpPr txBox="1"/>
          <p:nvPr/>
        </p:nvSpPr>
        <p:spPr>
          <a:xfrm>
            <a:off x="6583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Marketing?</a:t>
            </a:r>
            <a:endParaRPr lang="en-US" sz="1150" dirty="0"/>
          </a:p>
        </p:txBody>
      </p:sp>
      <p:sp>
        <p:nvSpPr>
          <p:cNvPr id="8" name="Animasi langkah 5 (up) #8"/>
          <p:cNvSpPr/>
          <p:nvPr/>
        </p:nvSpPr>
        <p:spPr>
          <a:xfrm>
            <a:off x="3063240" y="2606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Animasi langkah 5 (up) #9"/>
          <p:cNvSpPr txBox="1"/>
          <p:nvPr/>
        </p:nvSpPr>
        <p:spPr>
          <a:xfrm>
            <a:off x="31729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Shopper · Consumer</a:t>
            </a:r>
            <a:endParaRPr lang="en-US" sz="1150" dirty="0"/>
          </a:p>
        </p:txBody>
      </p:sp>
      <p:sp>
        <p:nvSpPr>
          <p:cNvPr id="10" name="Animasi langkah 6 (up) #10"/>
          <p:cNvSpPr/>
          <p:nvPr/>
        </p:nvSpPr>
        <p:spPr>
          <a:xfrm>
            <a:off x="54864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Animasi langkah 6 (up) #11"/>
          <p:cNvSpPr txBox="1"/>
          <p:nvPr/>
        </p:nvSpPr>
        <p:spPr>
          <a:xfrm>
            <a:off x="6583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</a:t>
            </a:r>
            <a:endParaRPr lang="en-US" sz="1150" dirty="0"/>
          </a:p>
        </p:txBody>
      </p:sp>
      <p:sp>
        <p:nvSpPr>
          <p:cNvPr id="12" name="Animasi langkah 7 (up) #12"/>
          <p:cNvSpPr/>
          <p:nvPr/>
        </p:nvSpPr>
        <p:spPr>
          <a:xfrm>
            <a:off x="306324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Animasi langkah 7 (up) #13"/>
          <p:cNvSpPr txBox="1"/>
          <p:nvPr/>
        </p:nvSpPr>
        <p:spPr>
          <a:xfrm>
            <a:off x="31729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Komoditas vs Komoditisasi</a:t>
            </a:r>
            <a:endParaRPr lang="en-US" sz="1150" dirty="0"/>
          </a:p>
        </p:txBody>
      </p:sp>
      <p:sp>
        <p:nvSpPr>
          <p:cNvPr id="14" name="Animasi langkah 8 (up) #14"/>
          <p:cNvSpPr/>
          <p:nvPr/>
        </p:nvSpPr>
        <p:spPr>
          <a:xfrm>
            <a:off x="548640" y="3520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Animasi langkah 8 (up) #15"/>
          <p:cNvSpPr txBox="1"/>
          <p:nvPr/>
        </p:nvSpPr>
        <p:spPr>
          <a:xfrm>
            <a:off x="6583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&amp; Consumer Journey</a:t>
            </a:r>
            <a:endParaRPr lang="en-US" sz="1150" dirty="0"/>
          </a:p>
        </p:txBody>
      </p:sp>
      <p:sp>
        <p:nvSpPr>
          <p:cNvPr id="16" name="Animasi langkah 9 (up) #16"/>
          <p:cNvSpPr/>
          <p:nvPr/>
        </p:nvSpPr>
        <p:spPr>
          <a:xfrm>
            <a:off x="3063240" y="3520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Animasi langkah 9 (up) #17"/>
          <p:cNvSpPr txBox="1"/>
          <p:nvPr/>
        </p:nvSpPr>
        <p:spPr>
          <a:xfrm>
            <a:off x="31729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4A SIG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8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6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4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2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8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6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4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Itu Urusan Semua Orang</a:t>
            </a:r>
            <a:endParaRPr lang="en-US" sz="2600" dirty="0"/>
          </a:p>
        </p:txBody>
      </p:sp>
      <p:sp>
        <p:nvSpPr>
          <p:cNvPr id="6" name="Animasi langkah 2 (up) #6"/>
          <p:cNvSpPr/>
          <p:nvPr/>
        </p:nvSpPr>
        <p:spPr>
          <a:xfrm>
            <a:off x="457200" y="109728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pic>
        <p:nvPicPr>
          <p:cNvPr id="7" name="Animasi langkah 2 (up) #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8" name="Animasi langkah 2 (up) #8"/>
          <p:cNvSpPr txBox="1"/>
          <p:nvPr/>
        </p:nvSpPr>
        <p:spPr>
          <a:xfrm>
            <a:off x="640080" y="16459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marketing adalah mengenal dan memahami customer sedemikian rupa sehingga produk sesuai kebutuhan mereka dan terjual dengan sendirinya.</a:t>
            </a:r>
            <a:endParaRPr lang="en-US" sz="1300" dirty="0"/>
          </a:p>
        </p:txBody>
      </p:sp>
      <p:sp>
        <p:nvSpPr>
          <p:cNvPr id="9" name="Animasi langkah 2 (up) #9"/>
          <p:cNvSpPr txBox="1"/>
          <p:nvPr/>
        </p:nvSpPr>
        <p:spPr>
          <a:xfrm>
            <a:off x="64008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Peter Drucker</a:t>
            </a:r>
            <a:endParaRPr lang="en-US" sz="1100" dirty="0"/>
          </a:p>
        </p:txBody>
      </p:sp>
      <p:sp>
        <p:nvSpPr>
          <p:cNvPr id="10" name="Animasi langkah 3 (zoom) #10"/>
          <p:cNvSpPr/>
          <p:nvPr/>
        </p:nvSpPr>
        <p:spPr>
          <a:xfrm>
            <a:off x="4754880" y="1097280"/>
            <a:ext cx="502920" cy="502920"/>
          </a:xfrm>
          <a:prstGeom prst="ellipse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pic>
        <p:nvPicPr>
          <p:cNvPr id="11" name="Animasi langkah 3 (zoom) #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1207922"/>
            <a:ext cx="281635" cy="281635"/>
          </a:xfrm>
          <a:prstGeom prst="rect">
            <a:avLst/>
          </a:prstGeom>
        </p:spPr>
      </p:pic>
      <p:sp>
        <p:nvSpPr>
          <p:cNvPr id="12" name="Animasi langkah 3 (fade) #12"/>
          <p:cNvSpPr txBox="1"/>
          <p:nvPr/>
        </p:nvSpPr>
        <p:spPr>
          <a:xfrm>
            <a:off x="539496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 bagi diri sendiri</a:t>
            </a:r>
            <a:endParaRPr lang="en-US" sz="1350" dirty="0"/>
          </a:p>
        </p:txBody>
      </p:sp>
      <p:sp>
        <p:nvSpPr>
          <p:cNvPr id="13" name="Animasi langkah 3 (fade) #13"/>
          <p:cNvSpPr txBox="1"/>
          <p:nvPr/>
        </p:nvSpPr>
        <p:spPr>
          <a:xfrm>
            <a:off x="5394960" y="1344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reputasi &amp; nilai pribadi.</a:t>
            </a:r>
            <a:endParaRPr lang="en-US" sz="1150" dirty="0"/>
          </a:p>
        </p:txBody>
      </p:sp>
      <p:sp>
        <p:nvSpPr>
          <p:cNvPr id="14" name="Animasi langkah 4 (zoom) #14"/>
          <p:cNvSpPr/>
          <p:nvPr/>
        </p:nvSpPr>
        <p:spPr>
          <a:xfrm>
            <a:off x="4754880" y="1755648"/>
            <a:ext cx="502920" cy="502920"/>
          </a:xfrm>
          <a:prstGeom prst="ellipse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pic>
        <p:nvPicPr>
          <p:cNvPr id="15" name="Animasi langkah 4 (zoom) #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22" y="1866290"/>
            <a:ext cx="281635" cy="281635"/>
          </a:xfrm>
          <a:prstGeom prst="rect">
            <a:avLst/>
          </a:prstGeom>
        </p:spPr>
      </p:pic>
      <p:sp>
        <p:nvSpPr>
          <p:cNvPr id="16" name="Animasi langkah 4 (fade) #16"/>
          <p:cNvSpPr txBox="1"/>
          <p:nvPr/>
        </p:nvSpPr>
        <p:spPr>
          <a:xfrm>
            <a:off x="53949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 bagi tim</a:t>
            </a:r>
            <a:endParaRPr lang="en-US" sz="1350" dirty="0"/>
          </a:p>
        </p:txBody>
      </p:sp>
      <p:sp>
        <p:nvSpPr>
          <p:cNvPr id="17" name="Animasi langkah 4 (fade) #17"/>
          <p:cNvSpPr txBox="1"/>
          <p:nvPr/>
        </p:nvSpPr>
        <p:spPr>
          <a:xfrm>
            <a:off x="5394960" y="2002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kebutuhan antar fungsi.</a:t>
            </a:r>
            <a:endParaRPr lang="en-US" sz="1150" dirty="0"/>
          </a:p>
        </p:txBody>
      </p:sp>
      <p:sp>
        <p:nvSpPr>
          <p:cNvPr id="18" name="Animasi langkah 5 (zoom) #18"/>
          <p:cNvSpPr/>
          <p:nvPr/>
        </p:nvSpPr>
        <p:spPr>
          <a:xfrm>
            <a:off x="4754880" y="2414016"/>
            <a:ext cx="502920" cy="502920"/>
          </a:xfrm>
          <a:prstGeom prst="ellipse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pic>
        <p:nvPicPr>
          <p:cNvPr id="19" name="Animasi langkah 5 (zoom) #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522" y="2524658"/>
            <a:ext cx="281635" cy="281635"/>
          </a:xfrm>
          <a:prstGeom prst="rect">
            <a:avLst/>
          </a:prstGeom>
        </p:spPr>
      </p:pic>
      <p:sp>
        <p:nvSpPr>
          <p:cNvPr id="20" name="Animasi langkah 5 (fade) #20"/>
          <p:cNvSpPr txBox="1"/>
          <p:nvPr/>
        </p:nvSpPr>
        <p:spPr>
          <a:xfrm>
            <a:off x="539496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 bagi organisasi</a:t>
            </a:r>
            <a:endParaRPr lang="en-US" sz="1350" dirty="0"/>
          </a:p>
        </p:txBody>
      </p:sp>
      <p:sp>
        <p:nvSpPr>
          <p:cNvPr id="21" name="Animasi langkah 5 (fade) #21"/>
          <p:cNvSpPr txBox="1"/>
          <p:nvPr/>
        </p:nvSpPr>
        <p:spPr>
          <a:xfrm>
            <a:off x="5394960" y="2660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interaksi membawa nama SIG.</a:t>
            </a:r>
            <a:endParaRPr lang="en-US" sz="1150" dirty="0"/>
          </a:p>
        </p:txBody>
      </p:sp>
      <p:sp>
        <p:nvSpPr>
          <p:cNvPr id="22" name="Animasi langkah 6 (zoom) #22"/>
          <p:cNvSpPr/>
          <p:nvPr/>
        </p:nvSpPr>
        <p:spPr>
          <a:xfrm>
            <a:off x="457200" y="31546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</p:spPr>
      </p:sp>
      <p:pic>
        <p:nvPicPr>
          <p:cNvPr id="23" name="Animasi langkah 6 (zoom) #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410712"/>
            <a:ext cx="457200" cy="457200"/>
          </a:xfrm>
          <a:prstGeom prst="rect">
            <a:avLst/>
          </a:prstGeom>
        </p:spPr>
      </p:pic>
      <p:sp>
        <p:nvSpPr>
          <p:cNvPr id="24" name="Animasi langkah 6 (zoom) #24"/>
          <p:cNvSpPr txBox="1"/>
          <p:nvPr/>
        </p:nvSpPr>
        <p:spPr>
          <a:xfrm>
            <a:off x="1325880" y="32004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kita tidak selalu di luar gedung. 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Terkadang customer adalah departemen lain yang kita layani </a:t>
            </a:r>
            <a:r>
              <a:rPr lang="en-US" sz="13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3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</a:t>
            </a:r>
            <a:r>
              <a:rPr lang="en-US" sz="13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kebutuhannya, berikan nilai yang sesuai.</a:t>
            </a:r>
            <a:endParaRPr lang="en-US" sz="1300" dirty="0"/>
          </a:p>
        </p:txBody>
      </p:sp>
      <p:sp>
        <p:nvSpPr>
          <p:cNvPr id="25" name="Animasi langkah 7 (wipeL) #25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6" name="Animasi langkah 7 (wipeL) #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7" name="Animasi langkah 7 (wipeL) #27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"customer internal" cabang (logistik, finance, pusat) seperti memetakan customer eksternal.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6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4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2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9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8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Marketing?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yang konsisten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7160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</p:spPr>
      </p:sp>
      <p:sp>
        <p:nvSpPr>
          <p:cNvPr id="8" name="Animasi langkah 3 (zoom) #8"/>
          <p:cNvSpPr txBox="1"/>
          <p:nvPr/>
        </p:nvSpPr>
        <p:spPr>
          <a:xfrm>
            <a:off x="45720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product to market</a:t>
            </a:r>
            <a:endParaRPr lang="en-US" sz="1100" dirty="0"/>
          </a:p>
        </p:txBody>
      </p:sp>
      <p:sp>
        <p:nvSpPr>
          <p:cNvPr id="9" name="Animasi langkah 4 (zoom) #9"/>
          <p:cNvSpPr/>
          <p:nvPr/>
        </p:nvSpPr>
        <p:spPr>
          <a:xfrm>
            <a:off x="2468880" y="137160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10" name="Animasi langkah 4 (zoom) #10"/>
          <p:cNvSpPr txBox="1"/>
          <p:nvPr/>
        </p:nvSpPr>
        <p:spPr>
          <a:xfrm>
            <a:off x="246888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promise</a:t>
            </a:r>
            <a:endParaRPr lang="en-US" sz="1100" dirty="0"/>
          </a:p>
        </p:txBody>
      </p:sp>
      <p:sp>
        <p:nvSpPr>
          <p:cNvPr id="11" name="Animasi langkah 5 (zoom) #11"/>
          <p:cNvSpPr/>
          <p:nvPr/>
        </p:nvSpPr>
        <p:spPr>
          <a:xfrm>
            <a:off x="4480560" y="137160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12" name="Animasi langkah 5 (zoom) #12"/>
          <p:cNvSpPr txBox="1"/>
          <p:nvPr/>
        </p:nvSpPr>
        <p:spPr>
          <a:xfrm>
            <a:off x="448056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dua arah</a:t>
            </a:r>
            <a:endParaRPr lang="en-US" sz="1100" dirty="0"/>
          </a:p>
        </p:txBody>
      </p:sp>
      <p:sp>
        <p:nvSpPr>
          <p:cNvPr id="13" name="Animasi langkah 6 (zoom) #13"/>
          <p:cNvSpPr/>
          <p:nvPr/>
        </p:nvSpPr>
        <p:spPr>
          <a:xfrm>
            <a:off x="6492240" y="137160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</p:spPr>
      </p:sp>
      <p:sp>
        <p:nvSpPr>
          <p:cNvPr id="14" name="Animasi langkah 6 (zoom) #14"/>
          <p:cNvSpPr txBox="1"/>
          <p:nvPr/>
        </p:nvSpPr>
        <p:spPr>
          <a:xfrm>
            <a:off x="6492240" y="1371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 → suka → coba → beli</a:t>
            </a:r>
            <a:endParaRPr lang="en-US" sz="1100" dirty="0"/>
          </a:p>
        </p:txBody>
      </p:sp>
      <p:sp>
        <p:nvSpPr>
          <p:cNvPr id="15" name="Animasi langkah 7 (zoom) #15"/>
          <p:cNvSpPr/>
          <p:nvPr/>
        </p:nvSpPr>
        <p:spPr>
          <a:xfrm>
            <a:off x="1463040" y="1938528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sp>
        <p:nvSpPr>
          <p:cNvPr id="16" name="Animasi langkah 7 (zoom) #16"/>
          <p:cNvSpPr txBox="1"/>
          <p:nvPr/>
        </p:nvSpPr>
        <p:spPr>
          <a:xfrm>
            <a:off x="1463040" y="1938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system penjualan</a:t>
            </a:r>
            <a:endParaRPr lang="en-US" sz="1100" dirty="0"/>
          </a:p>
        </p:txBody>
      </p:sp>
      <p:sp>
        <p:nvSpPr>
          <p:cNvPr id="17" name="Animasi langkah 8 (zoom) #17"/>
          <p:cNvSpPr/>
          <p:nvPr/>
        </p:nvSpPr>
        <p:spPr>
          <a:xfrm>
            <a:off x="3474720" y="1938528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</p:spPr>
      </p:sp>
      <p:sp>
        <p:nvSpPr>
          <p:cNvPr id="18" name="Animasi langkah 8 (zoom) #18"/>
          <p:cNvSpPr txBox="1"/>
          <p:nvPr/>
        </p:nvSpPr>
        <p:spPr>
          <a:xfrm>
            <a:off x="3474720" y="1938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value &amp; dipilih</a:t>
            </a:r>
            <a:endParaRPr lang="en-US" sz="1100" dirty="0"/>
          </a:p>
        </p:txBody>
      </p:sp>
      <p:sp>
        <p:nvSpPr>
          <p:cNvPr id="19" name="Animasi langkah 9 (zoom) #19"/>
          <p:cNvSpPr/>
          <p:nvPr/>
        </p:nvSpPr>
        <p:spPr>
          <a:xfrm>
            <a:off x="5486400" y="1938528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</p:spPr>
      </p:sp>
      <p:sp>
        <p:nvSpPr>
          <p:cNvPr id="20" name="Animasi langkah 9 (zoom) #20"/>
          <p:cNvSpPr txBox="1"/>
          <p:nvPr/>
        </p:nvSpPr>
        <p:spPr>
          <a:xfrm>
            <a:off x="5486400" y="19385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customer</a:t>
            </a:r>
            <a:endParaRPr lang="en-US" sz="1100" dirty="0"/>
          </a:p>
        </p:txBody>
      </p:sp>
      <p:sp>
        <p:nvSpPr>
          <p:cNvPr id="21" name="Animasi langkah 10 (wipeD) #21"/>
          <p:cNvSpPr/>
          <p:nvPr/>
        </p:nvSpPr>
        <p:spPr>
          <a:xfrm>
            <a:off x="4343400" y="2542032"/>
            <a:ext cx="457200" cy="365760"/>
          </a:xfrm>
          <a:prstGeom prst="downArrow">
            <a:avLst/>
          </a:prstGeom>
          <a:solidFill>
            <a:srgbClr val="2F6FA3"/>
          </a:solidFill>
          <a:ln w="12700">
            <a:solidFill>
              <a:srgbClr val="2F6FA3"/>
            </a:solidFill>
            <a:prstDash val="solid"/>
          </a:ln>
        </p:spPr>
      </p:sp>
      <p:sp>
        <p:nvSpPr>
          <p:cNvPr id="22" name="Animasi langkah 11 (zoom) #22"/>
          <p:cNvSpPr/>
          <p:nvPr/>
        </p:nvSpPr>
        <p:spPr>
          <a:xfrm>
            <a:off x="1371600" y="2971800"/>
            <a:ext cx="6400800" cy="566928"/>
          </a:xfrm>
          <a:prstGeom prst="roundRect">
            <a:avLst>
              <a:gd name="adj" fmla="val 50000"/>
            </a:avLst>
          </a:prstGeom>
          <a:solidFill>
            <a:srgbClr val="2F6FA3"/>
          </a:solidFill>
          <a:ln w="9525">
            <a:solidFill>
              <a:srgbClr val="2F6FA3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11 (zoom) #23"/>
          <p:cNvSpPr txBox="1"/>
          <p:nvPr/>
        </p:nvSpPr>
        <p:spPr>
          <a:xfrm>
            <a:off x="1371600" y="29718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INTI: Meeting needs &amp; providing benefits</a:t>
            </a:r>
            <a:endParaRPr lang="en-US" sz="1700" dirty="0"/>
          </a:p>
        </p:txBody>
      </p:sp>
      <p:sp>
        <p:nvSpPr>
          <p:cNvPr id="24" name="Animasi langkah 12 (fade) #24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Kotler: </a:t>
            </a: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· targeting · marketing mix.   </a:t>
            </a:r>
            <a:r>
              <a:rPr lang="en-US" sz="115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bukan exact </a:t>
            </a:r>
            <a:r>
              <a:rPr lang="en-US" sz="1150" b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science. </a:t>
            </a:r>
            <a:r>
              <a:rPr lang="en-US" sz="1150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perpaduan</a:t>
            </a:r>
            <a:r>
              <a:rPr lang="en-US" sz="1150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&amp; seni; yang berhasil hari ini belum tentu berhasil besok.</a:t>
            </a:r>
            <a:endParaRPr lang="en-US" sz="1150" dirty="0"/>
          </a:p>
        </p:txBody>
      </p:sp>
      <p:sp>
        <p:nvSpPr>
          <p:cNvPr id="25" name="Animasi langkah 13 (wipeL) #25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6" name="Animasi langkah 13 (wipeL) #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7" name="Animasi langkah 13 (wipeL) #27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yang sukses di cabang lain perlu diuji ulang di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jangan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mentah-mentah.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4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2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28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66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4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2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8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18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6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Shopper,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Consumer. Beda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kepada siapa kita bicara dan pesan apa yang disampaikan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1115568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327" y="1612087"/>
            <a:ext cx="332842" cy="332842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457200" y="2130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membeli dari kita</a:t>
            </a:r>
            <a:endParaRPr lang="en-US" sz="1100" dirty="0"/>
          </a:p>
        </p:txBody>
      </p:sp>
      <p:sp>
        <p:nvSpPr>
          <p:cNvPr id="12" name="Animasi langkah 3 (up) #12"/>
          <p:cNvSpPr txBox="1"/>
          <p:nvPr/>
        </p:nvSpPr>
        <p:spPr>
          <a:xfrm>
            <a:off x="5486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bangunan, kontraktor, ready-mix</a:t>
            </a:r>
            <a:endParaRPr lang="en-US" sz="1050" dirty="0"/>
          </a:p>
        </p:txBody>
      </p:sp>
      <p:sp>
        <p:nvSpPr>
          <p:cNvPr id="13" name="Animasi langkah 4 (up) #13"/>
          <p:cNvSpPr/>
          <p:nvPr/>
        </p:nvSpPr>
        <p:spPr>
          <a:xfrm>
            <a:off x="2542032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4" name="Animasi langkah 4 (up) #14"/>
          <p:cNvSpPr/>
          <p:nvPr/>
        </p:nvSpPr>
        <p:spPr>
          <a:xfrm>
            <a:off x="3200400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Animasi langkah 4 (up) #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159" y="1612087"/>
            <a:ext cx="332842" cy="332842"/>
          </a:xfrm>
          <a:prstGeom prst="rect">
            <a:avLst/>
          </a:prstGeom>
        </p:spPr>
      </p:pic>
      <p:sp>
        <p:nvSpPr>
          <p:cNvPr id="16" name="Animasi langkah 4 (up) #16"/>
          <p:cNvSpPr txBox="1"/>
          <p:nvPr/>
        </p:nvSpPr>
        <p:spPr>
          <a:xfrm>
            <a:off x="2542032" y="2130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</a:t>
            </a:r>
            <a:endParaRPr lang="en-US" sz="1500" dirty="0"/>
          </a:p>
        </p:txBody>
      </p:sp>
      <p:sp>
        <p:nvSpPr>
          <p:cNvPr id="17" name="Animasi langkah 4 (up) #17"/>
          <p:cNvSpPr txBox="1"/>
          <p:nvPr/>
        </p:nvSpPr>
        <p:spPr>
          <a:xfrm>
            <a:off x="263347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bertransaksi langsung</a:t>
            </a:r>
            <a:endParaRPr lang="en-US" sz="1100" dirty="0"/>
          </a:p>
        </p:txBody>
      </p:sp>
      <p:sp>
        <p:nvSpPr>
          <p:cNvPr id="18" name="Animasi langkah 4 (up) #18"/>
          <p:cNvSpPr txBox="1"/>
          <p:nvPr/>
        </p:nvSpPr>
        <p:spPr>
          <a:xfrm>
            <a:off x="2633472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Tukang/kontraktor yang bayar di toko</a:t>
            </a:r>
            <a:endParaRPr lang="en-US" sz="1050" dirty="0"/>
          </a:p>
        </p:txBody>
      </p:sp>
      <p:sp>
        <p:nvSpPr>
          <p:cNvPr id="19" name="Animasi langkah 5 (up) #19"/>
          <p:cNvSpPr/>
          <p:nvPr/>
        </p:nvSpPr>
        <p:spPr>
          <a:xfrm>
            <a:off x="4626864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5 (up) #20"/>
          <p:cNvSpPr/>
          <p:nvPr/>
        </p:nvSpPr>
        <p:spPr>
          <a:xfrm>
            <a:off x="5285232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Animasi langkah 5 (up) #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5991" y="1612087"/>
            <a:ext cx="332842" cy="332842"/>
          </a:xfrm>
          <a:prstGeom prst="rect">
            <a:avLst/>
          </a:prstGeom>
        </p:spPr>
      </p:pic>
      <p:sp>
        <p:nvSpPr>
          <p:cNvPr id="22" name="Animasi langkah 5 (up) #22"/>
          <p:cNvSpPr txBox="1"/>
          <p:nvPr/>
        </p:nvSpPr>
        <p:spPr>
          <a:xfrm>
            <a:off x="4626864" y="2130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500" dirty="0"/>
          </a:p>
        </p:txBody>
      </p:sp>
      <p:sp>
        <p:nvSpPr>
          <p:cNvPr id="23" name="Animasi langkah 5 (up) #23"/>
          <p:cNvSpPr txBox="1"/>
          <p:nvPr/>
        </p:nvSpPr>
        <p:spPr>
          <a:xfrm>
            <a:off x="4718304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memakai / merasakan</a:t>
            </a:r>
            <a:endParaRPr lang="en-US" sz="1100" dirty="0"/>
          </a:p>
        </p:txBody>
      </p:sp>
      <p:sp>
        <p:nvSpPr>
          <p:cNvPr id="24" name="Animasi langkah 5 (up) #24"/>
          <p:cNvSpPr txBox="1"/>
          <p:nvPr/>
        </p:nvSpPr>
        <p:spPr>
          <a:xfrm>
            <a:off x="4718304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Pemilik rumah penikmat hasil bangunan</a:t>
            </a:r>
            <a:endParaRPr lang="en-US" sz="1050" dirty="0"/>
          </a:p>
        </p:txBody>
      </p:sp>
      <p:sp>
        <p:nvSpPr>
          <p:cNvPr id="25" name="Animasi langkah 6 (up) #25"/>
          <p:cNvSpPr/>
          <p:nvPr/>
        </p:nvSpPr>
        <p:spPr>
          <a:xfrm>
            <a:off x="6711696" y="137160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6" name="Animasi langkah 6 (up) #26"/>
          <p:cNvSpPr/>
          <p:nvPr/>
        </p:nvSpPr>
        <p:spPr>
          <a:xfrm>
            <a:off x="7370064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Animasi langkah 6 (up) #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823" y="1612087"/>
            <a:ext cx="332842" cy="332842"/>
          </a:xfrm>
          <a:prstGeom prst="rect">
            <a:avLst/>
          </a:prstGeom>
        </p:spPr>
      </p:pic>
      <p:sp>
        <p:nvSpPr>
          <p:cNvPr id="28" name="Animasi langkah 6 (up) #28"/>
          <p:cNvSpPr txBox="1"/>
          <p:nvPr/>
        </p:nvSpPr>
        <p:spPr>
          <a:xfrm>
            <a:off x="6711696" y="2130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500" dirty="0"/>
          </a:p>
        </p:txBody>
      </p:sp>
      <p:sp>
        <p:nvSpPr>
          <p:cNvPr id="29" name="Animasi langkah 6 (up) #29"/>
          <p:cNvSpPr txBox="1"/>
          <p:nvPr/>
        </p:nvSpPr>
        <p:spPr>
          <a:xfrm>
            <a:off x="6803136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Peduli dampak sosial</a:t>
            </a:r>
            <a:endParaRPr lang="en-US" sz="1100" dirty="0"/>
          </a:p>
        </p:txBody>
      </p:sp>
      <p:sp>
        <p:nvSpPr>
          <p:cNvPr id="30" name="Animasi langkah 6 (up) #30"/>
          <p:cNvSpPr txBox="1"/>
          <p:nvPr/>
        </p:nvSpPr>
        <p:spPr>
          <a:xfrm>
            <a:off x="6803136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merek karena keberlanjutan</a:t>
            </a:r>
            <a:endParaRPr lang="en-US" sz="1050" dirty="0"/>
          </a:p>
        </p:txBody>
      </p:sp>
      <p:sp>
        <p:nvSpPr>
          <p:cNvPr id="31" name="Animasi langkah 7 (fade) #31"/>
          <p:cNvSpPr/>
          <p:nvPr/>
        </p:nvSpPr>
        <p:spPr>
          <a:xfrm>
            <a:off x="457200" y="3364992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32" name="Animasi langkah 7 (fade) #32"/>
          <p:cNvSpPr txBox="1"/>
          <p:nvPr/>
        </p:nvSpPr>
        <p:spPr>
          <a:xfrm>
            <a:off x="640080" y="33649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Nugget: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= customer, Bapak = shopper, Anak = consumer. Bicara ke satu pihak saja? Toko tak memajang, Bapak tak membeli, atau Anak menolak makan. </a:t>
            </a: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Komunikasikan ke ketiganya dengan pendekatan berbeda.</a:t>
            </a:r>
            <a:endParaRPr lang="en-US" sz="1150" dirty="0"/>
          </a:p>
        </p:txBody>
      </p:sp>
      <p:sp>
        <p:nvSpPr>
          <p:cNvPr id="33" name="Animasi langkah 8 (wipeL) #33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4" name="Animasi langkah 8 (wipeL) #3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5" name="Animasi langkah 8 (wipeL) #35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pesan terpisah untuk pemilik toko (margin), tukang (kemudahan &amp; bangga), dan pemilik rumah (rasa aman).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4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2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90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8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66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Insight. Model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Gunung Es</a:t>
            </a:r>
            <a:endParaRPr lang="en-US" sz="2600" dirty="0"/>
          </a:p>
        </p:txBody>
      </p:sp>
      <p:sp>
        <p:nvSpPr>
          <p:cNvPr id="6" name="Animasi langkah 2 (up) #6"/>
          <p:cNvSpPr/>
          <p:nvPr/>
        </p:nvSpPr>
        <p:spPr>
          <a:xfrm>
            <a:off x="731520" y="1051560"/>
            <a:ext cx="3291840" cy="3154680"/>
          </a:xfrm>
          <a:prstGeom prst="triangle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Animasi langkah 3 (wipeD) #7"/>
          <p:cNvSpPr/>
          <p:nvPr/>
        </p:nvSpPr>
        <p:spPr>
          <a:xfrm>
            <a:off x="457200" y="1874520"/>
            <a:ext cx="3840480" cy="2377440"/>
          </a:xfrm>
          <a:prstGeom prst="rect">
            <a:avLst/>
          </a:prstGeom>
          <a:solidFill>
            <a:srgbClr val="8EC3EC">
              <a:alpha val="65000"/>
            </a:srgbClr>
          </a:solidFill>
          <a:ln w="12700">
            <a:solidFill>
              <a:srgbClr val="8EC3EC">
                <a:alpha val="65000"/>
              </a:srgbClr>
            </a:solidFill>
            <a:prstDash val="solid"/>
          </a:ln>
        </p:spPr>
      </p:sp>
      <p:sp>
        <p:nvSpPr>
          <p:cNvPr id="8" name="Animasi langkah 4 (fade) #8"/>
          <p:cNvSpPr txBox="1"/>
          <p:nvPr/>
        </p:nvSpPr>
        <p:spPr>
          <a:xfrm>
            <a:off x="251460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Yang terlihat &amp; terucap</a:t>
            </a:r>
            <a:endParaRPr lang="en-US" sz="1050" dirty="0"/>
          </a:p>
        </p:txBody>
      </p:sp>
      <p:sp>
        <p:nvSpPr>
          <p:cNvPr id="9" name="Animasi langkah 5 (fade) #9"/>
          <p:cNvSpPr txBox="1"/>
          <p:nvPr/>
        </p:nvSpPr>
        <p:spPr>
          <a:xfrm>
            <a:off x="123444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Kebutuhan, perasaan, motivasi &amp; kekhawatiran tersembunyi</a:t>
            </a:r>
            <a:endParaRPr lang="en-US" sz="1200" dirty="0"/>
          </a:p>
        </p:txBody>
      </p:sp>
      <p:sp>
        <p:nvSpPr>
          <p:cNvPr id="10" name="Animasi langkah 6 (fade) #10"/>
          <p:cNvSpPr txBox="1"/>
          <p:nvPr/>
        </p:nvSpPr>
        <p:spPr>
          <a:xfrm>
            <a:off x="45720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= pemahaman mendalam tentang apa yang sungguh dibutuhkan, dirasakan &amp; </a:t>
            </a:r>
            <a:r>
              <a:rPr lang="en-US" sz="130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diinginkan</a:t>
            </a: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</a:t>
            </a:r>
            <a:r>
              <a:rPr lang="en-US" sz="13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bukan </a:t>
            </a: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sekadar apa yang mereka katakan.</a:t>
            </a:r>
            <a:endParaRPr lang="en-US" sz="1300" dirty="0"/>
          </a:p>
        </p:txBody>
      </p:sp>
      <p:sp>
        <p:nvSpPr>
          <p:cNvPr id="11" name="Animasi langkah 7 (up) #11"/>
          <p:cNvSpPr/>
          <p:nvPr/>
        </p:nvSpPr>
        <p:spPr>
          <a:xfrm>
            <a:off x="4572000" y="210312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pic>
        <p:nvPicPr>
          <p:cNvPr id="12" name="Animasi langkah 7 (up) #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40280"/>
            <a:ext cx="347472" cy="347472"/>
          </a:xfrm>
          <a:prstGeom prst="rect">
            <a:avLst/>
          </a:prstGeom>
        </p:spPr>
      </p:pic>
      <p:sp>
        <p:nvSpPr>
          <p:cNvPr id="13" name="Animasi langkah 7 (up) #13"/>
          <p:cNvSpPr txBox="1"/>
          <p:nvPr/>
        </p:nvSpPr>
        <p:spPr>
          <a:xfrm>
            <a:off x="5193792" y="2240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Kisah "Spark" di Surabaya</a:t>
            </a:r>
            <a:endParaRPr lang="en-US" sz="1300" dirty="0"/>
          </a:p>
        </p:txBody>
      </p:sp>
      <p:sp>
        <p:nvSpPr>
          <p:cNvPr id="14" name="Animasi langkah 7 (up) #14"/>
          <p:cNvSpPr txBox="1"/>
          <p:nvPr/>
        </p:nvSpPr>
        <p:spPr>
          <a:xfrm>
            <a:off x="4754880" y="2651760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yang terkenal tidak mau membeli. Alih-alih menawarkan produk, salesman muda bertanya tentang anak pemilik yang sekolah di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Amerika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sang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pemilik langsung antusias. Temukan apa yang paling berarti bagi seseorang.</a:t>
            </a:r>
            <a:endParaRPr lang="en-US" sz="1150" dirty="0"/>
          </a:p>
        </p:txBody>
      </p:sp>
      <p:sp>
        <p:nvSpPr>
          <p:cNvPr id="15" name="Animasi langkah 8 (wipeL) #15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16" name="Animasi langkah 8 (wipeL) #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17" name="Animasi langkah 8 (wipeL) #17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sales membuka kunjungan dengan topik yang penting bagi pemilik toko, bukan langsung menawarkan order.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6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4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2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8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6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Menggali Insight: Framework OTLO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langkah sederhana yang bisa dilakukan siapa saja di lapangan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4173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6F8FC"/>
          </a:solidFill>
          <a:ln w="19050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 txBox="1"/>
          <p:nvPr/>
        </p:nvSpPr>
        <p:spPr>
          <a:xfrm>
            <a:off x="457200" y="14630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4000" dirty="0"/>
          </a:p>
        </p:txBody>
      </p:sp>
      <p:sp>
        <p:nvSpPr>
          <p:cNvPr id="9" name="Animasi langkah 3 (up) #9"/>
          <p:cNvSpPr/>
          <p:nvPr/>
        </p:nvSpPr>
        <p:spPr>
          <a:xfrm>
            <a:off x="1115568" y="2148840"/>
            <a:ext cx="548640" cy="54864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pic>
        <p:nvPicPr>
          <p:cNvPr id="10" name="Animasi langkah 3 (up) #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69" y="2269541"/>
            <a:ext cx="307238" cy="307238"/>
          </a:xfrm>
          <a:prstGeom prst="rect">
            <a:avLst/>
          </a:prstGeom>
        </p:spPr>
      </p:pic>
      <p:sp>
        <p:nvSpPr>
          <p:cNvPr id="11" name="Animasi langkah 3 (up) #11"/>
          <p:cNvSpPr txBox="1"/>
          <p:nvPr/>
        </p:nvSpPr>
        <p:spPr>
          <a:xfrm>
            <a:off x="54864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50" dirty="0"/>
          </a:p>
        </p:txBody>
      </p:sp>
      <p:sp>
        <p:nvSpPr>
          <p:cNvPr id="12" name="Animasi langkah 3 (up) #12"/>
          <p:cNvSpPr txBox="1"/>
          <p:nvPr/>
        </p:nvSpPr>
        <p:spPr>
          <a:xfrm>
            <a:off x="54864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Amati perilaku tanpa intervensi</a:t>
            </a:r>
            <a:endParaRPr lang="en-US" sz="1050" dirty="0"/>
          </a:p>
        </p:txBody>
      </p:sp>
      <p:sp>
        <p:nvSpPr>
          <p:cNvPr id="13" name="Animasi langkah 3 (up) #13"/>
          <p:cNvSpPr txBox="1"/>
          <p:nvPr/>
        </p:nvSpPr>
        <p:spPr>
          <a:xfrm>
            <a:off x="548640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Tukang langsung ambil semen atau membandingkan dulu?</a:t>
            </a:r>
            <a:endParaRPr lang="en-US" sz="1000" dirty="0"/>
          </a:p>
        </p:txBody>
      </p:sp>
      <p:sp>
        <p:nvSpPr>
          <p:cNvPr id="14" name="Animasi langkah 3 (wipeL) #14"/>
          <p:cNvSpPr/>
          <p:nvPr/>
        </p:nvSpPr>
        <p:spPr>
          <a:xfrm>
            <a:off x="2350008" y="2331720"/>
            <a:ext cx="182880" cy="256032"/>
          </a:xfrm>
          <a:prstGeom prst="rightArrow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5" name="Animasi langkah 4 (up) #15"/>
          <p:cNvSpPr/>
          <p:nvPr/>
        </p:nvSpPr>
        <p:spPr>
          <a:xfrm>
            <a:off x="2560320" y="14173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6F8FC"/>
          </a:solidFill>
          <a:ln w="19050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6" name="Animasi langkah 4 (up) #16"/>
          <p:cNvSpPr txBox="1"/>
          <p:nvPr/>
        </p:nvSpPr>
        <p:spPr>
          <a:xfrm>
            <a:off x="2560320" y="14630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000" dirty="0"/>
          </a:p>
        </p:txBody>
      </p:sp>
      <p:sp>
        <p:nvSpPr>
          <p:cNvPr id="17" name="Animasi langkah 4 (up) #17"/>
          <p:cNvSpPr/>
          <p:nvPr/>
        </p:nvSpPr>
        <p:spPr>
          <a:xfrm>
            <a:off x="3218688" y="2148840"/>
            <a:ext cx="548640" cy="54864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18" name="Animasi langkah 4 (up) #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389" y="2269541"/>
            <a:ext cx="307238" cy="307238"/>
          </a:xfrm>
          <a:prstGeom prst="rect">
            <a:avLst/>
          </a:prstGeom>
        </p:spPr>
      </p:pic>
      <p:sp>
        <p:nvSpPr>
          <p:cNvPr id="19" name="Animasi langkah 4 (up) #19"/>
          <p:cNvSpPr txBox="1"/>
          <p:nvPr/>
        </p:nvSpPr>
        <p:spPr>
          <a:xfrm>
            <a:off x="265176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350" dirty="0"/>
          </a:p>
        </p:txBody>
      </p:sp>
      <p:sp>
        <p:nvSpPr>
          <p:cNvPr id="20" name="Animasi langkah 4 (up) #20"/>
          <p:cNvSpPr txBox="1"/>
          <p:nvPr/>
        </p:nvSpPr>
        <p:spPr>
          <a:xfrm>
            <a:off x="265176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Rasakan sendiri produknya</a:t>
            </a:r>
            <a:endParaRPr lang="en-US" sz="1050" dirty="0"/>
          </a:p>
        </p:txBody>
      </p:sp>
      <p:sp>
        <p:nvSpPr>
          <p:cNvPr id="21" name="Animasi langkah 4 (up) #21"/>
          <p:cNvSpPr txBox="1"/>
          <p:nvPr/>
        </p:nvSpPr>
        <p:spPr>
          <a:xfrm>
            <a:off x="2651760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 proses pemakaian di lapangan.</a:t>
            </a:r>
            <a:endParaRPr lang="en-US" sz="1000" dirty="0"/>
          </a:p>
        </p:txBody>
      </p:sp>
      <p:sp>
        <p:nvSpPr>
          <p:cNvPr id="22" name="Animasi langkah 4 (wipeL) #22"/>
          <p:cNvSpPr/>
          <p:nvPr/>
        </p:nvSpPr>
        <p:spPr>
          <a:xfrm>
            <a:off x="4453128" y="2331720"/>
            <a:ext cx="182880" cy="256032"/>
          </a:xfrm>
          <a:prstGeom prst="rightArrow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3" name="Animasi langkah 5 (up) #23"/>
          <p:cNvSpPr/>
          <p:nvPr/>
        </p:nvSpPr>
        <p:spPr>
          <a:xfrm>
            <a:off x="4663440" y="14173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6F8FC"/>
          </a:solidFill>
          <a:ln w="19050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4" name="Animasi langkah 5 (up) #24"/>
          <p:cNvSpPr txBox="1"/>
          <p:nvPr/>
        </p:nvSpPr>
        <p:spPr>
          <a:xfrm>
            <a:off x="4663440" y="14630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4000" dirty="0"/>
          </a:p>
        </p:txBody>
      </p:sp>
      <p:sp>
        <p:nvSpPr>
          <p:cNvPr id="25" name="Animasi langkah 5 (up) #25"/>
          <p:cNvSpPr/>
          <p:nvPr/>
        </p:nvSpPr>
        <p:spPr>
          <a:xfrm>
            <a:off x="5321808" y="2148840"/>
            <a:ext cx="548640" cy="54864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26" name="Animasi langkah 5 (up) #2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509" y="2269541"/>
            <a:ext cx="307238" cy="307238"/>
          </a:xfrm>
          <a:prstGeom prst="rect">
            <a:avLst/>
          </a:prstGeom>
        </p:spPr>
      </p:pic>
      <p:sp>
        <p:nvSpPr>
          <p:cNvPr id="27" name="Animasi langkah 5 (up) #27"/>
          <p:cNvSpPr txBox="1"/>
          <p:nvPr/>
        </p:nvSpPr>
        <p:spPr>
          <a:xfrm>
            <a:off x="475488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350" dirty="0"/>
          </a:p>
        </p:txBody>
      </p:sp>
      <p:sp>
        <p:nvSpPr>
          <p:cNvPr id="28" name="Animasi langkah 5 (up) #28"/>
          <p:cNvSpPr txBox="1"/>
          <p:nvPr/>
        </p:nvSpPr>
        <p:spPr>
          <a:xfrm>
            <a:off x="475488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alasan, dengar tanpa menghakimi</a:t>
            </a:r>
            <a:endParaRPr lang="en-US" sz="1050" dirty="0"/>
          </a:p>
        </p:txBody>
      </p:sp>
      <p:sp>
        <p:nvSpPr>
          <p:cNvPr id="29" name="Animasi langkah 5 (up) #29"/>
          <p:cNvSpPr txBox="1"/>
          <p:nvPr/>
        </p:nvSpPr>
        <p:spPr>
          <a:xfrm>
            <a:off x="4754880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"Pak, kenapa pilih merek ini?"</a:t>
            </a:r>
            <a:endParaRPr lang="en-US" sz="1000" dirty="0"/>
          </a:p>
        </p:txBody>
      </p:sp>
      <p:sp>
        <p:nvSpPr>
          <p:cNvPr id="30" name="Animasi langkah 5 (wipeL) #30"/>
          <p:cNvSpPr/>
          <p:nvPr/>
        </p:nvSpPr>
        <p:spPr>
          <a:xfrm>
            <a:off x="6556248" y="2331720"/>
            <a:ext cx="182880" cy="256032"/>
          </a:xfrm>
          <a:prstGeom prst="rightArrow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31" name="Animasi langkah 6 (up) #31"/>
          <p:cNvSpPr/>
          <p:nvPr/>
        </p:nvSpPr>
        <p:spPr>
          <a:xfrm>
            <a:off x="6766560" y="14173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F6F8FC"/>
          </a:solidFill>
          <a:ln w="19050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32" name="Animasi langkah 6 (up) #32"/>
          <p:cNvSpPr txBox="1"/>
          <p:nvPr/>
        </p:nvSpPr>
        <p:spPr>
          <a:xfrm>
            <a:off x="6766560" y="14630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4000" dirty="0"/>
          </a:p>
        </p:txBody>
      </p:sp>
      <p:sp>
        <p:nvSpPr>
          <p:cNvPr id="33" name="Animasi langkah 6 (up) #33"/>
          <p:cNvSpPr/>
          <p:nvPr/>
        </p:nvSpPr>
        <p:spPr>
          <a:xfrm>
            <a:off x="7424928" y="2148840"/>
            <a:ext cx="548640" cy="54864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pic>
        <p:nvPicPr>
          <p:cNvPr id="34" name="Animasi langkah 6 (up) #3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5629" y="2269541"/>
            <a:ext cx="307238" cy="307238"/>
          </a:xfrm>
          <a:prstGeom prst="rect">
            <a:avLst/>
          </a:prstGeom>
        </p:spPr>
      </p:pic>
      <p:sp>
        <p:nvSpPr>
          <p:cNvPr id="35" name="Animasi langkah 6 (up) #35"/>
          <p:cNvSpPr txBox="1"/>
          <p:nvPr/>
        </p:nvSpPr>
        <p:spPr>
          <a:xfrm>
            <a:off x="685800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Emotion</a:t>
            </a:r>
            <a:endParaRPr lang="en-US" sz="1350" dirty="0"/>
          </a:p>
        </p:txBody>
      </p:sp>
      <p:sp>
        <p:nvSpPr>
          <p:cNvPr id="36" name="Animasi langkah 6 (up) #36"/>
          <p:cNvSpPr txBox="1"/>
          <p:nvPr/>
        </p:nvSpPr>
        <p:spPr>
          <a:xfrm>
            <a:off x="6858000" y="3017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Emosi lebih jujur dari kata-kata</a:t>
            </a:r>
            <a:endParaRPr lang="en-US" sz="1050" dirty="0"/>
          </a:p>
        </p:txBody>
      </p:sp>
      <p:sp>
        <p:nvSpPr>
          <p:cNvPr id="37" name="Animasi langkah 6 (up) #37"/>
          <p:cNvSpPr txBox="1"/>
          <p:nvPr/>
        </p:nvSpPr>
        <p:spPr>
          <a:xfrm>
            <a:off x="6858000" y="34930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Ekspresi bangga saat menyebut merek.</a:t>
            </a:r>
            <a:endParaRPr lang="en-US" sz="1000" dirty="0"/>
          </a:p>
        </p:txBody>
      </p:sp>
      <p:sp>
        <p:nvSpPr>
          <p:cNvPr id="38" name="Animasi langkah 7 (wipeL) #38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9" name="Animasi langkah 7 (wipeL) #3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40" name="Animasi langkah 7 (wipeL) #40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OTLO checklist wajib saat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minimal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insight baru per sales per minggu.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4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2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900"/>
                            </p:stCondLst>
                            <p:childTnLst>
                              <p:par>
                                <p:cTn id="1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28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in the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Sehari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Tukang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Telusuri keseharian konsumen untuk menemukan momen yang relevan</a:t>
            </a:r>
            <a:endParaRPr lang="en-US" sz="1250" dirty="0"/>
          </a:p>
        </p:txBody>
      </p:sp>
      <p:sp>
        <p:nvSpPr>
          <p:cNvPr id="7" name="Animasi langkah 3 (wipeL) #7"/>
          <p:cNvSpPr/>
          <p:nvPr/>
        </p:nvSpPr>
        <p:spPr>
          <a:xfrm>
            <a:off x="822960" y="1828800"/>
            <a:ext cx="7498080" cy="0"/>
          </a:xfrm>
          <a:prstGeom prst="line">
            <a:avLst/>
          </a:prstGeom>
          <a:noFill/>
          <a:ln w="31750">
            <a:solidFill>
              <a:srgbClr val="2F6FA3"/>
            </a:solidFill>
            <a:prstDash val="solid"/>
          </a:ln>
        </p:spPr>
      </p:sp>
      <p:sp>
        <p:nvSpPr>
          <p:cNvPr id="8" name="Animasi langkah 4 (zoom) #8"/>
          <p:cNvSpPr/>
          <p:nvPr/>
        </p:nvSpPr>
        <p:spPr>
          <a:xfrm>
            <a:off x="1097280" y="1481328"/>
            <a:ext cx="685800" cy="68580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pic>
        <p:nvPicPr>
          <p:cNvPr id="9" name="Animasi langkah 4 (zoom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632204"/>
            <a:ext cx="384048" cy="384048"/>
          </a:xfrm>
          <a:prstGeom prst="rect">
            <a:avLst/>
          </a:prstGeom>
        </p:spPr>
      </p:pic>
      <p:sp>
        <p:nvSpPr>
          <p:cNvPr id="10" name="Animasi langkah 4 (up) #10"/>
          <p:cNvSpPr txBox="1"/>
          <p:nvPr/>
        </p:nvSpPr>
        <p:spPr>
          <a:xfrm>
            <a:off x="45720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</a:t>
            </a:r>
            <a:endParaRPr lang="en-US" sz="1400" dirty="0"/>
          </a:p>
        </p:txBody>
      </p:sp>
      <p:sp>
        <p:nvSpPr>
          <p:cNvPr id="11" name="Animasi langkah 4 (up) #11"/>
          <p:cNvSpPr txBox="1"/>
          <p:nvPr/>
        </p:nvSpPr>
        <p:spPr>
          <a:xfrm>
            <a:off x="548640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Khawatir biaya sekolah anak</a:t>
            </a:r>
            <a:endParaRPr lang="en-US" sz="1050" dirty="0"/>
          </a:p>
        </p:txBody>
      </p:sp>
      <p:sp>
        <p:nvSpPr>
          <p:cNvPr id="12" name="Animasi langkah 4 (up) #12"/>
          <p:cNvSpPr/>
          <p:nvPr/>
        </p:nvSpPr>
        <p:spPr>
          <a:xfrm>
            <a:off x="548640" y="2926080"/>
            <a:ext cx="1783080" cy="411480"/>
          </a:xfrm>
          <a:prstGeom prst="roundRect">
            <a:avLst>
              <a:gd name="adj" fmla="val 48889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</p:spPr>
      </p:sp>
      <p:sp>
        <p:nvSpPr>
          <p:cNvPr id="13" name="Animasi langkah 4 (up) #13"/>
          <p:cNvSpPr txBox="1"/>
          <p:nvPr/>
        </p:nvSpPr>
        <p:spPr>
          <a:xfrm>
            <a:off x="54864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beasiswa bermerek</a:t>
            </a:r>
            <a:endParaRPr lang="en-US" sz="1000" dirty="0"/>
          </a:p>
        </p:txBody>
      </p:sp>
      <p:sp>
        <p:nvSpPr>
          <p:cNvPr id="14" name="Animasi langkah 5 (zoom) #14"/>
          <p:cNvSpPr/>
          <p:nvPr/>
        </p:nvSpPr>
        <p:spPr>
          <a:xfrm>
            <a:off x="3200400" y="1481328"/>
            <a:ext cx="685800" cy="6858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15" name="Animasi langkah 5 (zoom) #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76" y="1632204"/>
            <a:ext cx="384048" cy="384048"/>
          </a:xfrm>
          <a:prstGeom prst="rect">
            <a:avLst/>
          </a:prstGeom>
        </p:spPr>
      </p:pic>
      <p:sp>
        <p:nvSpPr>
          <p:cNvPr id="16" name="Animasi langkah 5 (up) #16"/>
          <p:cNvSpPr txBox="1"/>
          <p:nvPr/>
        </p:nvSpPr>
        <p:spPr>
          <a:xfrm>
            <a:off x="25603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Siang</a:t>
            </a:r>
            <a:endParaRPr lang="en-US" sz="1400" dirty="0"/>
          </a:p>
        </p:txBody>
      </p:sp>
      <p:sp>
        <p:nvSpPr>
          <p:cNvPr id="17" name="Animasi langkah 5 (up) #17"/>
          <p:cNvSpPr txBox="1"/>
          <p:nvPr/>
        </p:nvSpPr>
        <p:spPr>
          <a:xfrm>
            <a:off x="2651760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Panas &amp; lelah di bawah terik</a:t>
            </a:r>
            <a:endParaRPr lang="en-US" sz="1050" dirty="0"/>
          </a:p>
        </p:txBody>
      </p:sp>
      <p:sp>
        <p:nvSpPr>
          <p:cNvPr id="18" name="Animasi langkah 5 (up) #18"/>
          <p:cNvSpPr/>
          <p:nvPr/>
        </p:nvSpPr>
        <p:spPr>
          <a:xfrm>
            <a:off x="2651760" y="2926080"/>
            <a:ext cx="1783080" cy="411480"/>
          </a:xfrm>
          <a:prstGeom prst="roundRect">
            <a:avLst>
              <a:gd name="adj" fmla="val 48889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19" name="Animasi langkah 5 (up) #19"/>
          <p:cNvSpPr txBox="1"/>
          <p:nvPr/>
        </p:nvSpPr>
        <p:spPr>
          <a:xfrm>
            <a:off x="265176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kenyamanan &amp; istirahat</a:t>
            </a:r>
            <a:endParaRPr lang="en-US" sz="1000" dirty="0"/>
          </a:p>
        </p:txBody>
      </p:sp>
      <p:sp>
        <p:nvSpPr>
          <p:cNvPr id="20" name="Animasi langkah 6 (zoom) #20"/>
          <p:cNvSpPr/>
          <p:nvPr/>
        </p:nvSpPr>
        <p:spPr>
          <a:xfrm>
            <a:off x="5303520" y="1481328"/>
            <a:ext cx="685800" cy="68580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21" name="Animasi langkah 6 (zoom) #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396" y="1632204"/>
            <a:ext cx="384048" cy="384048"/>
          </a:xfrm>
          <a:prstGeom prst="rect">
            <a:avLst/>
          </a:prstGeom>
        </p:spPr>
      </p:pic>
      <p:sp>
        <p:nvSpPr>
          <p:cNvPr id="22" name="Animasi langkah 6 (up) #22"/>
          <p:cNvSpPr txBox="1"/>
          <p:nvPr/>
        </p:nvSpPr>
        <p:spPr>
          <a:xfrm>
            <a:off x="466344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Istirahat</a:t>
            </a:r>
            <a:endParaRPr lang="en-US" sz="1400" dirty="0"/>
          </a:p>
        </p:txBody>
      </p:sp>
      <p:sp>
        <p:nvSpPr>
          <p:cNvPr id="23" name="Animasi langkah 6 (up) #23"/>
          <p:cNvSpPr txBox="1"/>
          <p:nvPr/>
        </p:nvSpPr>
        <p:spPr>
          <a:xfrm>
            <a:off x="4754880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camilan / rokok</a:t>
            </a:r>
            <a:endParaRPr lang="en-US" sz="1050" dirty="0"/>
          </a:p>
        </p:txBody>
      </p:sp>
      <p:sp>
        <p:nvSpPr>
          <p:cNvPr id="24" name="Animasi langkah 6 (up) #24"/>
          <p:cNvSpPr/>
          <p:nvPr/>
        </p:nvSpPr>
        <p:spPr>
          <a:xfrm>
            <a:off x="4754880" y="2926080"/>
            <a:ext cx="1783080" cy="411480"/>
          </a:xfrm>
          <a:prstGeom prst="roundRect">
            <a:avLst>
              <a:gd name="adj" fmla="val 48889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25" name="Animasi langkah 6 (up) #25"/>
          <p:cNvSpPr txBox="1"/>
          <p:nvPr/>
        </p:nvSpPr>
        <p:spPr>
          <a:xfrm>
            <a:off x="475488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barang &gt; diskon harga</a:t>
            </a:r>
            <a:endParaRPr lang="en-US" sz="1000" dirty="0"/>
          </a:p>
        </p:txBody>
      </p:sp>
      <p:sp>
        <p:nvSpPr>
          <p:cNvPr id="26" name="Animasi langkah 7 (zoom) #26"/>
          <p:cNvSpPr/>
          <p:nvPr/>
        </p:nvSpPr>
        <p:spPr>
          <a:xfrm>
            <a:off x="7406640" y="1481328"/>
            <a:ext cx="685800" cy="68580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pic>
        <p:nvPicPr>
          <p:cNvPr id="27" name="Animasi langkah 7 (zoom) #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516" y="1632204"/>
            <a:ext cx="384048" cy="384048"/>
          </a:xfrm>
          <a:prstGeom prst="rect">
            <a:avLst/>
          </a:prstGeom>
        </p:spPr>
      </p:pic>
      <p:sp>
        <p:nvSpPr>
          <p:cNvPr id="28" name="Animasi langkah 7 (up) #28"/>
          <p:cNvSpPr txBox="1"/>
          <p:nvPr/>
        </p:nvSpPr>
        <p:spPr>
          <a:xfrm>
            <a:off x="676656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Malam</a:t>
            </a:r>
            <a:endParaRPr lang="en-US" sz="1400" dirty="0"/>
          </a:p>
        </p:txBody>
      </p:sp>
      <p:sp>
        <p:nvSpPr>
          <p:cNvPr id="29" name="Animasi langkah 7 (up) #29"/>
          <p:cNvSpPr txBox="1"/>
          <p:nvPr/>
        </p:nvSpPr>
        <p:spPr>
          <a:xfrm>
            <a:off x="6858000" y="2514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Memikirkan kebutuhan dapur</a:t>
            </a:r>
            <a:endParaRPr lang="en-US" sz="1050" dirty="0"/>
          </a:p>
        </p:txBody>
      </p:sp>
      <p:sp>
        <p:nvSpPr>
          <p:cNvPr id="30" name="Animasi langkah 7 (up) #30"/>
          <p:cNvSpPr/>
          <p:nvPr/>
        </p:nvSpPr>
        <p:spPr>
          <a:xfrm>
            <a:off x="6858000" y="2926080"/>
            <a:ext cx="1783080" cy="411480"/>
          </a:xfrm>
          <a:prstGeom prst="roundRect">
            <a:avLst>
              <a:gd name="adj" fmla="val 48889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sp>
        <p:nvSpPr>
          <p:cNvPr id="31" name="Animasi langkah 7 (up) #31"/>
          <p:cNvSpPr txBox="1"/>
          <p:nvPr/>
        </p:nvSpPr>
        <p:spPr>
          <a:xfrm>
            <a:off x="685800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minyak goreng efektif</a:t>
            </a:r>
            <a:endParaRPr lang="en-US" sz="1000" dirty="0"/>
          </a:p>
        </p:txBody>
      </p:sp>
      <p:sp>
        <p:nvSpPr>
          <p:cNvPr id="32" name="Animasi langkah 8 (fade) #32"/>
          <p:cNvSpPr txBox="1"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Cilegon: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"Beli semen, dapat minyak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goreng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Tak ada hubungan semen dan minyak goreng, tapi ada hubungan tukang dengan istrinya yang memasak di rumah.</a:t>
            </a:r>
            <a:endParaRPr lang="en-US" sz="1150" dirty="0"/>
          </a:p>
        </p:txBody>
      </p:sp>
      <p:sp>
        <p:nvSpPr>
          <p:cNvPr id="33" name="Animasi langkah 9 (wipeL) #33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4" name="Animasi langkah 9 (wipeL) #3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5" name="Animasi langkah 9 (wipeL) #35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program tukang dari kebutuhan hidup mereka, bukan sekadar potongan harga.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2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9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28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66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04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Data: Framework 5W1H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berhenti pada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pahami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 di balik angka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822960" y="1417320"/>
            <a:ext cx="1188720" cy="1051560"/>
          </a:xfrm>
          <a:prstGeom prst="hexagon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8" name="Animasi langkah 3 (zoom) #8"/>
          <p:cNvSpPr txBox="1"/>
          <p:nvPr/>
        </p:nvSpPr>
        <p:spPr>
          <a:xfrm>
            <a:off x="822960" y="14173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700" dirty="0"/>
          </a:p>
        </p:txBody>
      </p:sp>
      <p:sp>
        <p:nvSpPr>
          <p:cNvPr id="9" name="Animasi langkah 3 (fade) #9"/>
          <p:cNvSpPr txBox="1"/>
          <p:nvPr/>
        </p:nvSpPr>
        <p:spPr>
          <a:xfrm>
            <a:off x="210312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terjadi?</a:t>
            </a:r>
            <a:endParaRPr lang="en-US" sz="1200" dirty="0"/>
          </a:p>
        </p:txBody>
      </p:sp>
      <p:sp>
        <p:nvSpPr>
          <p:cNvPr id="10" name="Animasi langkah 4 (zoom) #10"/>
          <p:cNvSpPr/>
          <p:nvPr/>
        </p:nvSpPr>
        <p:spPr>
          <a:xfrm>
            <a:off x="3383280" y="1417320"/>
            <a:ext cx="1188720" cy="1051560"/>
          </a:xfrm>
          <a:prstGeom prst="hexagon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11" name="Animasi langkah 4 (zoom) #11"/>
          <p:cNvSpPr txBox="1"/>
          <p:nvPr/>
        </p:nvSpPr>
        <p:spPr>
          <a:xfrm>
            <a:off x="3383280" y="14173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700" dirty="0"/>
          </a:p>
        </p:txBody>
      </p:sp>
      <p:sp>
        <p:nvSpPr>
          <p:cNvPr id="12" name="Animasi langkah 4 (fade) #12"/>
          <p:cNvSpPr txBox="1"/>
          <p:nvPr/>
        </p:nvSpPr>
        <p:spPr>
          <a:xfrm>
            <a:off x="466344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mana?</a:t>
            </a:r>
            <a:endParaRPr lang="en-US" sz="1200" dirty="0"/>
          </a:p>
        </p:txBody>
      </p:sp>
      <p:sp>
        <p:nvSpPr>
          <p:cNvPr id="13" name="Animasi langkah 5 (zoom) #13"/>
          <p:cNvSpPr/>
          <p:nvPr/>
        </p:nvSpPr>
        <p:spPr>
          <a:xfrm>
            <a:off x="5943600" y="1417320"/>
            <a:ext cx="1188720" cy="1051560"/>
          </a:xfrm>
          <a:prstGeom prst="hexagon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14" name="Animasi langkah 5 (zoom) #14"/>
          <p:cNvSpPr txBox="1"/>
          <p:nvPr/>
        </p:nvSpPr>
        <p:spPr>
          <a:xfrm>
            <a:off x="5943600" y="14173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700" dirty="0"/>
          </a:p>
        </p:txBody>
      </p:sp>
      <p:sp>
        <p:nvSpPr>
          <p:cNvPr id="15" name="Animasi langkah 5 (fade) #15"/>
          <p:cNvSpPr txBox="1"/>
          <p:nvPr/>
        </p:nvSpPr>
        <p:spPr>
          <a:xfrm>
            <a:off x="7223760" y="1691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Kapan?</a:t>
            </a:r>
            <a:endParaRPr lang="en-US" sz="1200" dirty="0"/>
          </a:p>
        </p:txBody>
      </p:sp>
      <p:sp>
        <p:nvSpPr>
          <p:cNvPr id="16" name="Animasi langkah 6 (zoom) #16"/>
          <p:cNvSpPr/>
          <p:nvPr/>
        </p:nvSpPr>
        <p:spPr>
          <a:xfrm>
            <a:off x="822960" y="2743200"/>
            <a:ext cx="1188720" cy="1051560"/>
          </a:xfrm>
          <a:prstGeom prst="hexagon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sp>
        <p:nvSpPr>
          <p:cNvPr id="17" name="Animasi langkah 6 (zoom) #17"/>
          <p:cNvSpPr txBox="1"/>
          <p:nvPr/>
        </p:nvSpPr>
        <p:spPr>
          <a:xfrm>
            <a:off x="822960" y="27432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700" dirty="0"/>
          </a:p>
        </p:txBody>
      </p:sp>
      <p:sp>
        <p:nvSpPr>
          <p:cNvPr id="18" name="Animasi langkah 6 (fade) #18"/>
          <p:cNvSpPr txBox="1"/>
          <p:nvPr/>
        </p:nvSpPr>
        <p:spPr>
          <a:xfrm>
            <a:off x="210312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terlibat?</a:t>
            </a:r>
            <a:endParaRPr lang="en-US" sz="1200" dirty="0"/>
          </a:p>
        </p:txBody>
      </p:sp>
      <p:sp>
        <p:nvSpPr>
          <p:cNvPr id="19" name="Animasi langkah 7 (zoom) #19"/>
          <p:cNvSpPr/>
          <p:nvPr/>
        </p:nvSpPr>
        <p:spPr>
          <a:xfrm>
            <a:off x="3383280" y="2743200"/>
            <a:ext cx="1188720" cy="1051560"/>
          </a:xfrm>
          <a:prstGeom prst="hexagon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20" name="Animasi langkah 7 (zoom) #20"/>
          <p:cNvSpPr txBox="1"/>
          <p:nvPr/>
        </p:nvSpPr>
        <p:spPr>
          <a:xfrm>
            <a:off x="3383280" y="27432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700" dirty="0"/>
          </a:p>
        </p:txBody>
      </p:sp>
      <p:sp>
        <p:nvSpPr>
          <p:cNvPr id="21" name="Animasi langkah 7 (fade) #21"/>
          <p:cNvSpPr txBox="1"/>
          <p:nvPr/>
        </p:nvSpPr>
        <p:spPr>
          <a:xfrm>
            <a:off x="466344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terjadi?</a:t>
            </a:r>
            <a:endParaRPr lang="en-US" sz="1200" dirty="0"/>
          </a:p>
        </p:txBody>
      </p:sp>
      <p:sp>
        <p:nvSpPr>
          <p:cNvPr id="22" name="Animasi langkah 8 (zoom) #22"/>
          <p:cNvSpPr/>
          <p:nvPr/>
        </p:nvSpPr>
        <p:spPr>
          <a:xfrm>
            <a:off x="5943600" y="2743200"/>
            <a:ext cx="1188720" cy="1051560"/>
          </a:xfrm>
          <a:prstGeom prst="hexagon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23" name="Animasi langkah 8 (zoom) #23"/>
          <p:cNvSpPr txBox="1"/>
          <p:nvPr/>
        </p:nvSpPr>
        <p:spPr>
          <a:xfrm>
            <a:off x="5943600" y="27432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700" dirty="0"/>
          </a:p>
        </p:txBody>
      </p:sp>
      <p:sp>
        <p:nvSpPr>
          <p:cNvPr id="24" name="Animasi langkah 8 (fade) #24"/>
          <p:cNvSpPr txBox="1"/>
          <p:nvPr/>
        </p:nvSpPr>
        <p:spPr>
          <a:xfrm>
            <a:off x="722376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prosesnya?</a:t>
            </a:r>
            <a:endParaRPr lang="en-US" sz="1200" dirty="0"/>
          </a:p>
        </p:txBody>
      </p:sp>
      <p:sp>
        <p:nvSpPr>
          <p:cNvPr id="25" name="Animasi langkah 9 (wipeL) #25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6" name="Animasi langkah 9 (wipeL) #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7" name="Animasi langkah 9 (wipeL) #27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penjualan turun, bedah dengan 5W1H sebelum memutuskan promo atau turun harga.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4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28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6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4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Komoditas ≠ Komoditisasi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"Semen ya semen, yang penting </a:t>
            </a:r>
            <a:r>
              <a:rPr lang="en-US" sz="1250" i="1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murah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mentalitas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harus ditolak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640080" y="153619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646834"/>
            <a:ext cx="281635" cy="281635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128016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komoditas</a:t>
            </a:r>
            <a:endParaRPr lang="en-US" sz="15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1280160" y="1874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memang punya spesifikasi mirip.</a:t>
            </a:r>
            <a:endParaRPr lang="en-US" sz="1150" dirty="0"/>
          </a:p>
        </p:txBody>
      </p:sp>
      <p:sp>
        <p:nvSpPr>
          <p:cNvPr id="12" name="Animasi langkah 4 (up) #12"/>
          <p:cNvSpPr/>
          <p:nvPr/>
        </p:nvSpPr>
        <p:spPr>
          <a:xfrm>
            <a:off x="475488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3" name="Animasi langkah 4 (up) #13"/>
          <p:cNvSpPr/>
          <p:nvPr/>
        </p:nvSpPr>
        <p:spPr>
          <a:xfrm>
            <a:off x="4937760" y="153619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Animasi langkah 4 (up) #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402" y="1646834"/>
            <a:ext cx="281635" cy="281635"/>
          </a:xfrm>
          <a:prstGeom prst="rect">
            <a:avLst/>
          </a:prstGeom>
        </p:spPr>
      </p:pic>
      <p:sp>
        <p:nvSpPr>
          <p:cNvPr id="15" name="Animasi langkah 4 (up) #15"/>
          <p:cNvSpPr txBox="1"/>
          <p:nvPr/>
        </p:nvSpPr>
        <p:spPr>
          <a:xfrm>
            <a:off x="557784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Komoditisasi</a:t>
            </a:r>
            <a:endParaRPr lang="en-US" sz="1500" dirty="0"/>
          </a:p>
        </p:txBody>
      </p:sp>
      <p:sp>
        <p:nvSpPr>
          <p:cNvPr id="16" name="Animasi langkah 4 (up) #16"/>
          <p:cNvSpPr txBox="1"/>
          <p:nvPr/>
        </p:nvSpPr>
        <p:spPr>
          <a:xfrm>
            <a:off x="5577840" y="1874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menyerahkan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ke pasar berujung perang harga &amp; margin tergerus.</a:t>
            </a:r>
            <a:endParaRPr lang="en-US" sz="1150" dirty="0"/>
          </a:p>
        </p:txBody>
      </p:sp>
      <p:sp>
        <p:nvSpPr>
          <p:cNvPr id="17" name="Animasi langkah 5 (fade) #17"/>
          <p:cNvSpPr/>
          <p:nvPr/>
        </p:nvSpPr>
        <p:spPr>
          <a:xfrm>
            <a:off x="457200" y="297180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8" name="Animasi langkah 6 (zoom) #18"/>
          <p:cNvSpPr txBox="1"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≈50%</a:t>
            </a:r>
            <a:endParaRPr lang="en-US" sz="4000" dirty="0"/>
          </a:p>
        </p:txBody>
      </p:sp>
      <p:sp>
        <p:nvSpPr>
          <p:cNvPr id="19" name="Animasi langkah 6 (zoom) #19"/>
          <p:cNvSpPr txBox="1"/>
          <p:nvPr/>
        </p:nvSpPr>
        <p:spPr>
          <a:xfrm>
            <a:off x="54864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pangsa minyak goreng bermerek</a:t>
            </a:r>
            <a:endParaRPr lang="en-US" sz="950" dirty="0"/>
          </a:p>
        </p:txBody>
      </p:sp>
      <p:sp>
        <p:nvSpPr>
          <p:cNvPr id="20" name="Animasi langkah 7 (fade) #20"/>
          <p:cNvSpPr txBox="1"/>
          <p:nvPr/>
        </p:nvSpPr>
        <p:spPr>
          <a:xfrm>
            <a:off x="2560320" y="301752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Pelajaran Sania: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dituang ke wajan, Sania, Filma, Tropical sulit dibedakan. Sania menang bukan karena termurah, tapi karena cerita "lebih bening, lebih sedikit minyak menempel" yang mengunci persepsi konsumen.</a:t>
            </a:r>
            <a:endParaRPr lang="en-US" sz="1150" dirty="0"/>
          </a:p>
        </p:txBody>
      </p:sp>
      <p:sp>
        <p:nvSpPr>
          <p:cNvPr id="21" name="Animasi langkah 8 (wipeL) #21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2" name="Animasi langkah 8 (wipeL) #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3" name="Animasi langkah 8 (wipeL) #23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hentikan argumen "kalah karena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menemukan &amp; mengomunikasikan pembeda yang bermakna.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4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2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9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8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66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De-Komoditisasi: Belajar dari Prestige Water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pasar yang dikuasai raksasa dengan diferensiasi menyeluruh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zoom) #8"/>
          <p:cNvSpPr txBox="1"/>
          <p:nvPr/>
        </p:nvSpPr>
        <p:spPr>
          <a:xfrm>
            <a:off x="45720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8+</a:t>
            </a:r>
            <a:endParaRPr lang="en-US" sz="2600" dirty="0"/>
          </a:p>
        </p:txBody>
      </p:sp>
      <p:sp>
        <p:nvSpPr>
          <p:cNvPr id="9" name="Animasi langkah 3 (zoom) #9"/>
          <p:cNvSpPr txBox="1"/>
          <p:nvPr/>
        </p:nvSpPr>
        <p:spPr>
          <a:xfrm>
            <a:off x="457200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200" dirty="0"/>
          </a:p>
        </p:txBody>
      </p:sp>
      <p:sp>
        <p:nvSpPr>
          <p:cNvPr id="10" name="Animasi langkah 3 (zoom) #10"/>
          <p:cNvSpPr txBox="1"/>
          <p:nvPr/>
        </p:nvSpPr>
        <p:spPr>
          <a:xfrm>
            <a:off x="54864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alkaline, manfaat kesehatan</a:t>
            </a:r>
            <a:endParaRPr lang="en-US" sz="1050" dirty="0"/>
          </a:p>
        </p:txBody>
      </p:sp>
      <p:sp>
        <p:nvSpPr>
          <p:cNvPr id="11" name="Animasi langkah 4 (zoom) #11"/>
          <p:cNvSpPr/>
          <p:nvPr/>
        </p:nvSpPr>
        <p:spPr>
          <a:xfrm>
            <a:off x="2542032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2" name="Animasi langkah 4 (zoom) #12"/>
          <p:cNvSpPr txBox="1"/>
          <p:nvPr/>
        </p:nvSpPr>
        <p:spPr>
          <a:xfrm>
            <a:off x="2542032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2600" dirty="0"/>
          </a:p>
        </p:txBody>
      </p:sp>
      <p:sp>
        <p:nvSpPr>
          <p:cNvPr id="13" name="Animasi langkah 4 (zoom) #13"/>
          <p:cNvSpPr txBox="1"/>
          <p:nvPr/>
        </p:nvSpPr>
        <p:spPr>
          <a:xfrm>
            <a:off x="2542032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</a:t>
            </a:r>
            <a:endParaRPr lang="en-US" sz="1200" dirty="0"/>
          </a:p>
        </p:txBody>
      </p:sp>
      <p:sp>
        <p:nvSpPr>
          <p:cNvPr id="14" name="Animasi langkah 4 (zoom) #14"/>
          <p:cNvSpPr txBox="1"/>
          <p:nvPr/>
        </p:nvSpPr>
        <p:spPr>
          <a:xfrm>
            <a:off x="2633472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tangan perempuan, muat di tas</a:t>
            </a:r>
            <a:endParaRPr lang="en-US" sz="1050" dirty="0"/>
          </a:p>
        </p:txBody>
      </p:sp>
      <p:sp>
        <p:nvSpPr>
          <p:cNvPr id="15" name="Animasi langkah 5 (zoom) #15"/>
          <p:cNvSpPr/>
          <p:nvPr/>
        </p:nvSpPr>
        <p:spPr>
          <a:xfrm>
            <a:off x="4626864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6" name="Animasi langkah 5 (zoom) #16"/>
          <p:cNvSpPr txBox="1"/>
          <p:nvPr/>
        </p:nvSpPr>
        <p:spPr>
          <a:xfrm>
            <a:off x="4626864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2600" dirty="0"/>
          </a:p>
        </p:txBody>
      </p:sp>
      <p:sp>
        <p:nvSpPr>
          <p:cNvPr id="17" name="Animasi langkah 5 (zoom) #17"/>
          <p:cNvSpPr txBox="1"/>
          <p:nvPr/>
        </p:nvSpPr>
        <p:spPr>
          <a:xfrm>
            <a:off x="4626864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</a:t>
            </a:r>
            <a:endParaRPr lang="en-US" sz="1200" dirty="0"/>
          </a:p>
        </p:txBody>
      </p:sp>
      <p:sp>
        <p:nvSpPr>
          <p:cNvPr id="18" name="Animasi langkah 5 (zoom) #18"/>
          <p:cNvSpPr txBox="1"/>
          <p:nvPr/>
        </p:nvSpPr>
        <p:spPr>
          <a:xfrm>
            <a:off x="4718304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di rak, sasar perempuan</a:t>
            </a:r>
            <a:endParaRPr lang="en-US" sz="1050" dirty="0"/>
          </a:p>
        </p:txBody>
      </p:sp>
      <p:sp>
        <p:nvSpPr>
          <p:cNvPr id="19" name="Animasi langkah 6 (zoom) #19"/>
          <p:cNvSpPr/>
          <p:nvPr/>
        </p:nvSpPr>
        <p:spPr>
          <a:xfrm>
            <a:off x="6711696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6 (zoom) #20"/>
          <p:cNvSpPr txBox="1"/>
          <p:nvPr/>
        </p:nvSpPr>
        <p:spPr>
          <a:xfrm>
            <a:off x="6711696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Rp5.000</a:t>
            </a:r>
            <a:endParaRPr lang="en-US" sz="2600" dirty="0"/>
          </a:p>
        </p:txBody>
      </p:sp>
      <p:sp>
        <p:nvSpPr>
          <p:cNvPr id="21" name="Animasi langkah 6 (zoom) #21"/>
          <p:cNvSpPr txBox="1"/>
          <p:nvPr/>
        </p:nvSpPr>
        <p:spPr>
          <a:xfrm>
            <a:off x="6711696" y="2057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200" dirty="0"/>
          </a:p>
        </p:txBody>
      </p:sp>
      <p:sp>
        <p:nvSpPr>
          <p:cNvPr id="22" name="Animasi langkah 6 (zoom) #22"/>
          <p:cNvSpPr txBox="1"/>
          <p:nvPr/>
        </p:nvSpPr>
        <p:spPr>
          <a:xfrm>
            <a:off x="6803136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Rp2.500–3.000 → sinyal kualitas</a:t>
            </a:r>
            <a:endParaRPr lang="en-US" sz="1050" dirty="0"/>
          </a:p>
        </p:txBody>
      </p:sp>
      <p:sp>
        <p:nvSpPr>
          <p:cNvPr id="23" name="Animasi langkah 7 (zoom) #23"/>
          <p:cNvSpPr txBox="1"/>
          <p:nvPr/>
        </p:nvSpPr>
        <p:spPr>
          <a:xfrm>
            <a:off x="457200" y="3063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4000" dirty="0"/>
          </a:p>
        </p:txBody>
      </p:sp>
      <p:sp>
        <p:nvSpPr>
          <p:cNvPr id="24" name="Animasi langkah 7 (fade) #24"/>
          <p:cNvSpPr txBox="1"/>
          <p:nvPr/>
        </p:nvSpPr>
        <p:spPr>
          <a:xfrm>
            <a:off x="173736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pangsa pasar di kategori yang </a:t>
            </a:r>
            <a:r>
              <a:rPr lang="en-US" sz="110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dikuasai</a:t>
            </a: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raksasa</a:t>
            </a:r>
            <a:r>
              <a:rPr lang="en-US" sz="1100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dengan </a:t>
            </a: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 unit jauh lebih tinggi.</a:t>
            </a:r>
            <a:endParaRPr lang="en-US" sz="1100" dirty="0"/>
          </a:p>
        </p:txBody>
      </p:sp>
      <p:sp>
        <p:nvSpPr>
          <p:cNvPr id="25" name="Animasi langkah 8 (up) #25"/>
          <p:cNvSpPr/>
          <p:nvPr/>
        </p:nvSpPr>
        <p:spPr>
          <a:xfrm>
            <a:off x="4572000" y="3063240"/>
            <a:ext cx="4114800" cy="1143000"/>
          </a:xfrm>
          <a:prstGeom prst="roundRect">
            <a:avLst>
              <a:gd name="adj" fmla="val 9600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</p:spPr>
      </p:sp>
      <p:sp>
        <p:nvSpPr>
          <p:cNvPr id="26" name="Animasi langkah 8 (up) #26"/>
          <p:cNvSpPr txBox="1"/>
          <p:nvPr/>
        </p:nvSpPr>
        <p:spPr>
          <a:xfrm>
            <a:off x="4709160" y="306324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Menohok: 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kg air Prestige lebih mahal dari 1 kg semen. Bukan soal siapa yang lebih susah membuat produk, tapi siapa yang mampu membangun nilai di benak konsumen.</a:t>
            </a:r>
            <a:endParaRPr lang="en-US" sz="1100" dirty="0"/>
          </a:p>
        </p:txBody>
      </p:sp>
      <p:sp>
        <p:nvSpPr>
          <p:cNvPr id="27" name="Animasi langkah 9 (wipeL) #27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8" name="Animasi langkah 9 (wipeL) #2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9" name="Animasi langkah 9 (wipeL) #29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satu segmen tajam di wilayah Anda yang mau membayar lebih untuk nilai tertentu.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4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2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9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8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66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4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Strategi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 dulu kepada siapa kita berbicara</a:t>
            </a:r>
            <a:endParaRPr lang="en-US" sz="1250" dirty="0"/>
          </a:p>
        </p:txBody>
      </p:sp>
      <p:sp>
        <p:nvSpPr>
          <p:cNvPr id="7" name="Animasi langkah 3 (wipeL) #7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wipeL) #8"/>
          <p:cNvSpPr txBox="1"/>
          <p:nvPr/>
        </p:nvSpPr>
        <p:spPr>
          <a:xfrm>
            <a:off x="548640" y="13258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9" name="Animasi langkah 3 (wipeL) #9"/>
          <p:cNvSpPr txBox="1"/>
          <p:nvPr/>
        </p:nvSpPr>
        <p:spPr>
          <a:xfrm>
            <a:off x="1325880" y="1399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10" name="Animasi langkah 3 (wipeL) #10"/>
          <p:cNvSpPr txBox="1"/>
          <p:nvPr/>
        </p:nvSpPr>
        <p:spPr>
          <a:xfrm>
            <a:off x="132588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saja kelompok di pasar?</a:t>
            </a:r>
            <a:endParaRPr lang="en-US" sz="1050" dirty="0"/>
          </a:p>
        </p:txBody>
      </p:sp>
      <p:sp>
        <p:nvSpPr>
          <p:cNvPr id="11" name="Animasi langkah 3 (wipeL) #11"/>
          <p:cNvSpPr txBox="1"/>
          <p:nvPr/>
        </p:nvSpPr>
        <p:spPr>
          <a:xfrm>
            <a:off x="3520440" y="1371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Geografis (Jabar, Jatim), demografis (tukang, kontraktor, pemilik rumah), psikografis (price-sensitive vs quality-seeker)</a:t>
            </a:r>
            <a:endParaRPr lang="en-US" sz="1100" dirty="0"/>
          </a:p>
        </p:txBody>
      </p:sp>
      <p:sp>
        <p:nvSpPr>
          <p:cNvPr id="12" name="Animasi langkah 4 (wipeL) #12"/>
          <p:cNvSpPr/>
          <p:nvPr/>
        </p:nvSpPr>
        <p:spPr>
          <a:xfrm>
            <a:off x="731520" y="2313432"/>
            <a:ext cx="7680960" cy="868680"/>
          </a:xfrm>
          <a:prstGeom prst="roundRect">
            <a:avLst>
              <a:gd name="adj" fmla="val 12632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3" name="Animasi langkah 4 (wipeL) #13"/>
          <p:cNvSpPr txBox="1"/>
          <p:nvPr/>
        </p:nvSpPr>
        <p:spPr>
          <a:xfrm>
            <a:off x="822960" y="2313432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600" dirty="0"/>
          </a:p>
        </p:txBody>
      </p:sp>
      <p:sp>
        <p:nvSpPr>
          <p:cNvPr id="14" name="Animasi langkah 4 (wipeL) #14"/>
          <p:cNvSpPr txBox="1"/>
          <p:nvPr/>
        </p:nvSpPr>
        <p:spPr>
          <a:xfrm>
            <a:off x="160020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500" dirty="0"/>
          </a:p>
        </p:txBody>
      </p:sp>
      <p:sp>
        <p:nvSpPr>
          <p:cNvPr id="15" name="Animasi langkah 4 (wipeL) #15"/>
          <p:cNvSpPr txBox="1"/>
          <p:nvPr/>
        </p:nvSpPr>
        <p:spPr>
          <a:xfrm>
            <a:off x="1600200" y="2724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paling sesuai kekuatan kita?</a:t>
            </a:r>
            <a:endParaRPr lang="en-US" sz="1050" dirty="0"/>
          </a:p>
        </p:txBody>
      </p:sp>
      <p:sp>
        <p:nvSpPr>
          <p:cNvPr id="16" name="Animasi langkah 4 (wipeL) #16"/>
          <p:cNvSpPr txBox="1"/>
          <p:nvPr/>
        </p:nvSpPr>
        <p:spPr>
          <a:xfrm>
            <a:off x="3794760" y="23591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Mis. kontraktor menengah yang utamakan kualitas &amp; konsistensi pasokan</a:t>
            </a:r>
            <a:endParaRPr lang="en-US" sz="1100" dirty="0"/>
          </a:p>
        </p:txBody>
      </p:sp>
      <p:sp>
        <p:nvSpPr>
          <p:cNvPr id="17" name="Animasi langkah 5 (wipeL) #17"/>
          <p:cNvSpPr/>
          <p:nvPr/>
        </p:nvSpPr>
        <p:spPr>
          <a:xfrm>
            <a:off x="1005840" y="3300984"/>
            <a:ext cx="7132320" cy="868680"/>
          </a:xfrm>
          <a:prstGeom prst="roundRect">
            <a:avLst>
              <a:gd name="adj" fmla="val 12632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8" name="Animasi langkah 5 (wipeL) #18"/>
          <p:cNvSpPr txBox="1"/>
          <p:nvPr/>
        </p:nvSpPr>
        <p:spPr>
          <a:xfrm>
            <a:off x="1097280" y="3300984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600" dirty="0"/>
          </a:p>
        </p:txBody>
      </p:sp>
      <p:sp>
        <p:nvSpPr>
          <p:cNvPr id="19" name="Animasi langkah 5 (wipeL) #19"/>
          <p:cNvSpPr txBox="1"/>
          <p:nvPr/>
        </p:nvSpPr>
        <p:spPr>
          <a:xfrm>
            <a:off x="1874520" y="3374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500" dirty="0"/>
          </a:p>
        </p:txBody>
      </p:sp>
      <p:sp>
        <p:nvSpPr>
          <p:cNvPr id="20" name="Animasi langkah 5 (wipeL) #20"/>
          <p:cNvSpPr txBox="1"/>
          <p:nvPr/>
        </p:nvSpPr>
        <p:spPr>
          <a:xfrm>
            <a:off x="1874520" y="37124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 dikenal sebagai apa?</a:t>
            </a:r>
            <a:endParaRPr lang="en-US" sz="1050" dirty="0"/>
          </a:p>
        </p:txBody>
      </p:sp>
      <p:sp>
        <p:nvSpPr>
          <p:cNvPr id="21" name="Animasi langkah 5 (wipeL) #21"/>
          <p:cNvSpPr txBox="1"/>
          <p:nvPr/>
        </p:nvSpPr>
        <p:spPr>
          <a:xfrm>
            <a:off x="4069080" y="33467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"Semen pilihan tukang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r>
              <a:rPr lang="en-US" sz="11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10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dipercaya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bukan sekadar murah</a:t>
            </a:r>
            <a:endParaRPr lang="en-US" sz="1100" dirty="0"/>
          </a:p>
        </p:txBody>
      </p:sp>
      <p:sp>
        <p:nvSpPr>
          <p:cNvPr id="22" name="Animasi langkah 6 (wipeL) #22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3" name="Animasi langkah 6 (wipeL) #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4" name="Animasi langkah 6 (wipeL) #24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1–2 segmen prioritas per wilayah dan arahkan sumber daya sales ke sana (STP juga berlaku untuk karier).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4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2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Journey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butuh peran marketing yang berbeda</a:t>
            </a:r>
            <a:endParaRPr lang="en-US" sz="1250" dirty="0"/>
          </a:p>
        </p:txBody>
      </p:sp>
      <p:sp>
        <p:nvSpPr>
          <p:cNvPr id="7" name="Animasi langkah 3 (wipeL) #7"/>
          <p:cNvSpPr/>
          <p:nvPr/>
        </p:nvSpPr>
        <p:spPr>
          <a:xfrm>
            <a:off x="914400" y="1783080"/>
            <a:ext cx="6949440" cy="0"/>
          </a:xfrm>
          <a:prstGeom prst="line">
            <a:avLst/>
          </a:prstGeom>
          <a:noFill/>
          <a:ln w="38100">
            <a:solidFill>
              <a:srgbClr val="C9CFDA"/>
            </a:solidFill>
            <a:prstDash val="solid"/>
          </a:ln>
        </p:spPr>
      </p:sp>
      <p:sp>
        <p:nvSpPr>
          <p:cNvPr id="8" name="Animasi langkah 4 (zoom) #8"/>
          <p:cNvSpPr/>
          <p:nvPr/>
        </p:nvSpPr>
        <p:spPr>
          <a:xfrm>
            <a:off x="914400" y="1417320"/>
            <a:ext cx="731520" cy="73152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pic>
        <p:nvPicPr>
          <p:cNvPr id="9" name="Animasi langkah 4 (zoom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1578254"/>
            <a:ext cx="409651" cy="409651"/>
          </a:xfrm>
          <a:prstGeom prst="rect">
            <a:avLst/>
          </a:prstGeom>
        </p:spPr>
      </p:pic>
      <p:sp>
        <p:nvSpPr>
          <p:cNvPr id="10" name="Animasi langkah 4 (up) #10"/>
          <p:cNvSpPr txBox="1"/>
          <p:nvPr/>
        </p:nvSpPr>
        <p:spPr>
          <a:xfrm>
            <a:off x="45720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1" name="Animasi langkah 4 (up) #11"/>
          <p:cNvSpPr txBox="1"/>
          <p:nvPr/>
        </p:nvSpPr>
        <p:spPr>
          <a:xfrm>
            <a:off x="54864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terlihat di tempat tepat</a:t>
            </a:r>
            <a:endParaRPr lang="en-US" sz="1000" dirty="0"/>
          </a:p>
        </p:txBody>
      </p:sp>
      <p:sp>
        <p:nvSpPr>
          <p:cNvPr id="12" name="Animasi langkah 5 (zoom) #12"/>
          <p:cNvSpPr/>
          <p:nvPr/>
        </p:nvSpPr>
        <p:spPr>
          <a:xfrm>
            <a:off x="2651760" y="1417320"/>
            <a:ext cx="731520" cy="73152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13" name="Animasi langkah 5 (zoom) #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694" y="1578254"/>
            <a:ext cx="409651" cy="409651"/>
          </a:xfrm>
          <a:prstGeom prst="rect">
            <a:avLst/>
          </a:prstGeom>
        </p:spPr>
      </p:pic>
      <p:sp>
        <p:nvSpPr>
          <p:cNvPr id="14" name="Animasi langkah 5 (up) #14"/>
          <p:cNvSpPr txBox="1"/>
          <p:nvPr/>
        </p:nvSpPr>
        <p:spPr>
          <a:xfrm>
            <a:off x="219456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5" name="Animasi langkah 5 (up) #15"/>
          <p:cNvSpPr txBox="1"/>
          <p:nvPr/>
        </p:nvSpPr>
        <p:spPr>
          <a:xfrm>
            <a:off x="228600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informatif &amp; testimoni</a:t>
            </a:r>
            <a:endParaRPr lang="en-US" sz="1000" dirty="0"/>
          </a:p>
        </p:txBody>
      </p:sp>
      <p:sp>
        <p:nvSpPr>
          <p:cNvPr id="16" name="Animasi langkah 6 (zoom) #16"/>
          <p:cNvSpPr/>
          <p:nvPr/>
        </p:nvSpPr>
        <p:spPr>
          <a:xfrm>
            <a:off x="4389120" y="141732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pic>
        <p:nvPicPr>
          <p:cNvPr id="17" name="Animasi langkah 6 (zoom) #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054" y="1578254"/>
            <a:ext cx="409651" cy="409651"/>
          </a:xfrm>
          <a:prstGeom prst="rect">
            <a:avLst/>
          </a:prstGeom>
        </p:spPr>
      </p:pic>
      <p:sp>
        <p:nvSpPr>
          <p:cNvPr id="18" name="Animasi langkah 6 (up) #18"/>
          <p:cNvSpPr txBox="1"/>
          <p:nvPr/>
        </p:nvSpPr>
        <p:spPr>
          <a:xfrm>
            <a:off x="393192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300" dirty="0"/>
          </a:p>
        </p:txBody>
      </p:sp>
      <p:sp>
        <p:nvSpPr>
          <p:cNvPr id="19" name="Animasi langkah 6 (up) #19"/>
          <p:cNvSpPr txBox="1"/>
          <p:nvPr/>
        </p:nvSpPr>
        <p:spPr>
          <a:xfrm>
            <a:off x="402336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Tersedia, mudah, harga sepadan</a:t>
            </a:r>
            <a:endParaRPr lang="en-US" sz="1000" dirty="0"/>
          </a:p>
        </p:txBody>
      </p:sp>
      <p:sp>
        <p:nvSpPr>
          <p:cNvPr id="20" name="Animasi langkah 7 (zoom) #20"/>
          <p:cNvSpPr/>
          <p:nvPr/>
        </p:nvSpPr>
        <p:spPr>
          <a:xfrm>
            <a:off x="6126480" y="1417320"/>
            <a:ext cx="731520" cy="73152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21" name="Animasi langkah 7 (zoom) #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414" y="1578254"/>
            <a:ext cx="409651" cy="409651"/>
          </a:xfrm>
          <a:prstGeom prst="rect">
            <a:avLst/>
          </a:prstGeom>
        </p:spPr>
      </p:pic>
      <p:sp>
        <p:nvSpPr>
          <p:cNvPr id="22" name="Animasi langkah 7 (up) #22"/>
          <p:cNvSpPr txBox="1"/>
          <p:nvPr/>
        </p:nvSpPr>
        <p:spPr>
          <a:xfrm>
            <a:off x="566928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23" name="Animasi langkah 7 (up) #23"/>
          <p:cNvSpPr txBox="1"/>
          <p:nvPr/>
        </p:nvSpPr>
        <p:spPr>
          <a:xfrm>
            <a:off x="576072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&amp; layanan purna jual</a:t>
            </a:r>
            <a:endParaRPr lang="en-US" sz="1000" dirty="0"/>
          </a:p>
        </p:txBody>
      </p:sp>
      <p:sp>
        <p:nvSpPr>
          <p:cNvPr id="24" name="Animasi langkah 8 (zoom) #24"/>
          <p:cNvSpPr/>
          <p:nvPr/>
        </p:nvSpPr>
        <p:spPr>
          <a:xfrm>
            <a:off x="7863840" y="1417320"/>
            <a:ext cx="731520" cy="73152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pic>
        <p:nvPicPr>
          <p:cNvPr id="25" name="Animasi langkah 8 (zoom) #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4774" y="1578254"/>
            <a:ext cx="409651" cy="409651"/>
          </a:xfrm>
          <a:prstGeom prst="rect">
            <a:avLst/>
          </a:prstGeom>
        </p:spPr>
      </p:pic>
      <p:sp>
        <p:nvSpPr>
          <p:cNvPr id="26" name="Animasi langkah 8 (up) #26"/>
          <p:cNvSpPr txBox="1"/>
          <p:nvPr/>
        </p:nvSpPr>
        <p:spPr>
          <a:xfrm>
            <a:off x="7406640" y="2212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1300" dirty="0"/>
          </a:p>
        </p:txBody>
      </p:sp>
      <p:sp>
        <p:nvSpPr>
          <p:cNvPr id="27" name="Animasi langkah 8 (up) #27"/>
          <p:cNvSpPr txBox="1"/>
          <p:nvPr/>
        </p:nvSpPr>
        <p:spPr>
          <a:xfrm>
            <a:off x="749808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loyalitas &amp; komunitas</a:t>
            </a:r>
            <a:endParaRPr lang="en-US" sz="1000" dirty="0"/>
          </a:p>
        </p:txBody>
      </p:sp>
      <p:sp>
        <p:nvSpPr>
          <p:cNvPr id="28" name="Animasi langkah 9 (fade) #28"/>
          <p:cNvSpPr/>
          <p:nvPr/>
        </p:nvSpPr>
        <p:spPr>
          <a:xfrm>
            <a:off x="5029200" y="3017520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</p:spPr>
      </p:sp>
      <p:sp>
        <p:nvSpPr>
          <p:cNvPr id="29" name="Animasi langkah 9 (fade) #29"/>
          <p:cNvSpPr txBox="1"/>
          <p:nvPr/>
        </p:nvSpPr>
        <p:spPr>
          <a:xfrm>
            <a:off x="5120640" y="30175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/ Re-evaluate: 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titik kecewa, perbaiki segera</a:t>
            </a:r>
            <a:endParaRPr lang="en-US" sz="1050" dirty="0"/>
          </a:p>
        </p:txBody>
      </p:sp>
      <p:sp>
        <p:nvSpPr>
          <p:cNvPr id="30" name="Animasi langkah 10 (up) #30"/>
          <p:cNvSpPr/>
          <p:nvPr/>
        </p:nvSpPr>
        <p:spPr>
          <a:xfrm>
            <a:off x="457200" y="3017520"/>
            <a:ext cx="4389120" cy="1188720"/>
          </a:xfrm>
          <a:prstGeom prst="roundRect">
            <a:avLst>
              <a:gd name="adj" fmla="val 9231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pic>
        <p:nvPicPr>
          <p:cNvPr id="31" name="Animasi langkah 10 (up) #3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3154680"/>
            <a:ext cx="365760" cy="365760"/>
          </a:xfrm>
          <a:prstGeom prst="rect">
            <a:avLst/>
          </a:prstGeom>
        </p:spPr>
      </p:pic>
      <p:sp>
        <p:nvSpPr>
          <p:cNvPr id="32" name="Animasi langkah 10 (up) #32"/>
          <p:cNvSpPr txBox="1"/>
          <p:nvPr/>
        </p:nvSpPr>
        <p:spPr>
          <a:xfrm>
            <a:off x="1078992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 kini di TikTok, bukan Google</a:t>
            </a:r>
            <a:endParaRPr lang="en-US" sz="1250" dirty="0"/>
          </a:p>
        </p:txBody>
      </p:sp>
      <p:sp>
        <p:nvSpPr>
          <p:cNvPr id="33" name="Animasi langkah 10 (up) #33"/>
          <p:cNvSpPr txBox="1"/>
          <p:nvPr/>
        </p:nvSpPr>
        <p:spPr>
          <a:xfrm>
            <a:off x="621792" y="35478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konten → tertarik → beli di satu aplikasi. Strategi digital perlu mempertimbangkan pergeseran ini.</a:t>
            </a:r>
            <a:endParaRPr lang="en-US" sz="1050" dirty="0"/>
          </a:p>
        </p:txBody>
      </p:sp>
      <p:sp>
        <p:nvSpPr>
          <p:cNvPr id="34" name="Animasi langkah 11 (fade) #34"/>
          <p:cNvSpPr txBox="1"/>
          <p:nvPr/>
        </p:nvSpPr>
        <p:spPr>
          <a:xfrm>
            <a:off x="502920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Loyalty → Advocacy: pelanggan puas merekomendasikan ke orang lain.</a:t>
            </a:r>
            <a:endParaRPr lang="en-US" sz="1050" dirty="0"/>
          </a:p>
        </p:txBody>
      </p:sp>
      <p:sp>
        <p:nvSpPr>
          <p:cNvPr id="35" name="Animasi langkah 12 (wipeL) #35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6" name="Animasi langkah 12 (wipeL) #3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7" name="Animasi langkah 12 (wipeL) #37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di tahap mana konsumen wilayah Anda "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bocor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fokuskan aktivitas pada tahap itu.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2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9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8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66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4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420"/>
                            </p:stCondLst>
                            <p:childTnLst>
                              <p:par>
                                <p:cTn id="1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8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18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SIG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solusi tunggal; empat pilar dijalankan bersama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zoom) #8"/>
          <p:cNvSpPr/>
          <p:nvPr/>
        </p:nvSpPr>
        <p:spPr>
          <a:xfrm>
            <a:off x="594360" y="15087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zoom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1639519"/>
            <a:ext cx="332842" cy="332842"/>
          </a:xfrm>
          <a:prstGeom prst="rect">
            <a:avLst/>
          </a:prstGeom>
        </p:spPr>
      </p:pic>
      <p:sp>
        <p:nvSpPr>
          <p:cNvPr id="10" name="Animasi langkah 3 (zoom) #10"/>
          <p:cNvSpPr txBox="1"/>
          <p:nvPr/>
        </p:nvSpPr>
        <p:spPr>
          <a:xfrm>
            <a:off x="1325880" y="1389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Affordability</a:t>
            </a:r>
            <a:endParaRPr lang="en-US" sz="1400" dirty="0"/>
          </a:p>
        </p:txBody>
      </p:sp>
      <p:sp>
        <p:nvSpPr>
          <p:cNvPr id="11" name="Animasi langkah 3 (zoom) #11"/>
          <p:cNvSpPr txBox="1"/>
          <p:nvPr/>
        </p:nvSpPr>
        <p:spPr>
          <a:xfrm>
            <a:off x="1325880" y="1691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harga ≠ naik volume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brand equity agar harga terasa wajar</a:t>
            </a:r>
            <a:endParaRPr lang="en-US" sz="1000" dirty="0"/>
          </a:p>
        </p:txBody>
      </p:sp>
      <p:sp>
        <p:nvSpPr>
          <p:cNvPr id="12" name="Animasi langkah 4 (zoom) #12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3" name="Animasi langkah 4 (zoom) #13"/>
          <p:cNvSpPr/>
          <p:nvPr/>
        </p:nvSpPr>
        <p:spPr>
          <a:xfrm>
            <a:off x="4800600" y="15087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Animasi langkah 4 (zoom) #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359" y="1639519"/>
            <a:ext cx="332842" cy="332842"/>
          </a:xfrm>
          <a:prstGeom prst="rect">
            <a:avLst/>
          </a:prstGeom>
        </p:spPr>
      </p:pic>
      <p:sp>
        <p:nvSpPr>
          <p:cNvPr id="15" name="Animasi langkah 4 (zoom) #15"/>
          <p:cNvSpPr txBox="1"/>
          <p:nvPr/>
        </p:nvSpPr>
        <p:spPr>
          <a:xfrm>
            <a:off x="5532120" y="1389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Availability</a:t>
            </a:r>
            <a:endParaRPr lang="en-US" sz="1400" dirty="0"/>
          </a:p>
        </p:txBody>
      </p:sp>
      <p:sp>
        <p:nvSpPr>
          <p:cNvPr id="16" name="Animasi langkah 4 (zoom) #16"/>
          <p:cNvSpPr txBox="1"/>
          <p:nvPr/>
        </p:nvSpPr>
        <p:spPr>
          <a:xfrm>
            <a:off x="5532120" y="1691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ditemukan / tersembunyi di belakang toko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distribusi, pastikan front of store</a:t>
            </a:r>
            <a:endParaRPr lang="en-US" sz="1000" dirty="0"/>
          </a:p>
        </p:txBody>
      </p:sp>
      <p:sp>
        <p:nvSpPr>
          <p:cNvPr id="17" name="Animasi langkah 5 (zoom) #17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8" name="Animasi langkah 5 (zoom) #18"/>
          <p:cNvSpPr/>
          <p:nvPr/>
        </p:nvSpPr>
        <p:spPr>
          <a:xfrm>
            <a:off x="594360" y="26060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Animasi langkah 5 (zoom) #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" y="2736799"/>
            <a:ext cx="332842" cy="332842"/>
          </a:xfrm>
          <a:prstGeom prst="rect">
            <a:avLst/>
          </a:prstGeom>
        </p:spPr>
      </p:pic>
      <p:sp>
        <p:nvSpPr>
          <p:cNvPr id="20" name="Animasi langkah 5 (zoom) #20"/>
          <p:cNvSpPr txBox="1"/>
          <p:nvPr/>
        </p:nvSpPr>
        <p:spPr>
          <a:xfrm>
            <a:off x="132588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Attractiveness</a:t>
            </a:r>
            <a:endParaRPr lang="en-US" sz="1400" dirty="0"/>
          </a:p>
        </p:txBody>
      </p:sp>
      <p:sp>
        <p:nvSpPr>
          <p:cNvPr id="21" name="Animasi langkah 5 (zoom) #21"/>
          <p:cNvSpPr txBox="1"/>
          <p:nvPr/>
        </p:nvSpPr>
        <p:spPr>
          <a:xfrm>
            <a:off x="1325880" y="27889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lapangan memudar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Hadirkan kembali merek secara fisik &amp; visual</a:t>
            </a:r>
            <a:endParaRPr lang="en-US" sz="1000" dirty="0"/>
          </a:p>
        </p:txBody>
      </p:sp>
      <p:sp>
        <p:nvSpPr>
          <p:cNvPr id="22" name="Animasi langkah 6 (zoom) #22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6 (zoom) #23"/>
          <p:cNvSpPr/>
          <p:nvPr/>
        </p:nvSpPr>
        <p:spPr>
          <a:xfrm>
            <a:off x="4800600" y="26060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Animasi langkah 6 (zoom) #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359" y="2736799"/>
            <a:ext cx="332842" cy="332842"/>
          </a:xfrm>
          <a:prstGeom prst="rect">
            <a:avLst/>
          </a:prstGeom>
        </p:spPr>
      </p:pic>
      <p:sp>
        <p:nvSpPr>
          <p:cNvPr id="25" name="Animasi langkah 6 (zoom) #25"/>
          <p:cNvSpPr txBox="1"/>
          <p:nvPr/>
        </p:nvSpPr>
        <p:spPr>
          <a:xfrm>
            <a:off x="553212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Advocacy</a:t>
            </a:r>
            <a:endParaRPr lang="en-US" sz="1400" dirty="0"/>
          </a:p>
        </p:txBody>
      </p:sp>
      <p:sp>
        <p:nvSpPr>
          <p:cNvPr id="26" name="Animasi langkah 6 (zoom) #26"/>
          <p:cNvSpPr txBox="1"/>
          <p:nvPr/>
        </p:nvSpPr>
        <p:spPr>
          <a:xfrm>
            <a:off x="5532120" y="27889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Tukang belum cukup loyal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khusus bangun preferensi tukang</a:t>
            </a:r>
            <a:endParaRPr lang="en-US" sz="1000" dirty="0"/>
          </a:p>
        </p:txBody>
      </p:sp>
      <p:sp>
        <p:nvSpPr>
          <p:cNvPr id="27" name="Animasi langkah 7 (fade) #27"/>
          <p:cNvSpPr txBox="1"/>
          <p:nvPr/>
        </p:nvSpPr>
        <p:spPr>
          <a:xfrm>
            <a:off x="457200" y="3584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Kupang: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Bosowa lebih mahal dari Semen Tonasa namun lebih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visibilitas merek lebih kuat. Harga bukan satu-satunya penentu.</a:t>
            </a:r>
            <a:endParaRPr lang="en-US" sz="1150" dirty="0"/>
          </a:p>
        </p:txBody>
      </p:sp>
      <p:sp>
        <p:nvSpPr>
          <p:cNvPr id="28" name="Animasi langkah 8 (wipeL) #28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9" name="Animasi langkah 8 (wipeL) #2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0" name="Animasi langkah 8 (wipeL) #30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4A di setiap area: di mana produk tak tersedia, tak terlihat, atau tak direkomendasikan tukang?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4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2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9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28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6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Pelajaran Kepemimpinan &amp; Karier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helper salesman Unilever hingga Direktur BUMN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Persistensi Mengalahkan Penolakan</a:t>
            </a:r>
            <a:endParaRPr lang="en-US" sz="1400" dirty="0"/>
          </a:p>
        </p:txBody>
      </p:sp>
      <p:sp>
        <p:nvSpPr>
          <p:cNvPr id="9" name="Animasi langkah 3 (up) #9"/>
          <p:cNvSpPr txBox="1"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anti-sales di Pasar Kembang, Surabaya</a:t>
            </a:r>
            <a:endParaRPr lang="en-US" sz="1050" dirty="0"/>
          </a:p>
        </p:txBody>
      </p:sp>
      <p:sp>
        <p:nvSpPr>
          <p:cNvPr id="10" name="Animasi langkah 4 (zoom) #10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rgbClr val="FFD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nimasi langkah 4 (zoom) #11"/>
          <p:cNvSpPr txBox="1"/>
          <p:nvPr/>
        </p:nvSpPr>
        <p:spPr>
          <a:xfrm>
            <a:off x="9144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Animasi langkah 4 (zoom) #12"/>
          <p:cNvSpPr txBox="1"/>
          <p:nvPr/>
        </p:nvSpPr>
        <p:spPr>
          <a:xfrm>
            <a:off x="68580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Dicaci</a:t>
            </a:r>
            <a:endParaRPr lang="en-US" sz="1100" dirty="0"/>
          </a:p>
        </p:txBody>
      </p:sp>
      <p:sp>
        <p:nvSpPr>
          <p:cNvPr id="13" name="Animasi langkah 5 (zoom) #13"/>
          <p:cNvSpPr/>
          <p:nvPr/>
        </p:nvSpPr>
        <p:spPr>
          <a:xfrm>
            <a:off x="2148840" y="2103120"/>
            <a:ext cx="685800" cy="685800"/>
          </a:xfrm>
          <a:prstGeom prst="ellipse">
            <a:avLst/>
          </a:prstGeom>
          <a:solidFill>
            <a:srgbClr val="FFF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Animasi langkah 5 (zoom) #14"/>
          <p:cNvSpPr txBox="1"/>
          <p:nvPr/>
        </p:nvSpPr>
        <p:spPr>
          <a:xfrm>
            <a:off x="21488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nimasi langkah 5 (zoom) #15"/>
          <p:cNvSpPr txBox="1"/>
          <p:nvPr/>
        </p:nvSpPr>
        <p:spPr>
          <a:xfrm>
            <a:off x="192024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Melunak</a:t>
            </a:r>
            <a:endParaRPr lang="en-US" sz="1100" dirty="0"/>
          </a:p>
        </p:txBody>
      </p:sp>
      <p:sp>
        <p:nvSpPr>
          <p:cNvPr id="16" name="Animasi langkah 6 (zoom) #16"/>
          <p:cNvSpPr/>
          <p:nvPr/>
        </p:nvSpPr>
        <p:spPr>
          <a:xfrm>
            <a:off x="3383280" y="2103120"/>
            <a:ext cx="685800" cy="685800"/>
          </a:xfrm>
          <a:prstGeom prst="ellipse">
            <a:avLst/>
          </a:prstGeom>
          <a:solidFill>
            <a:srgbClr val="C9F2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Animasi langkah 6 (zoom) #17"/>
          <p:cNvSpPr txBox="1"/>
          <p:nvPr/>
        </p:nvSpPr>
        <p:spPr>
          <a:xfrm>
            <a:off x="33832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Animasi langkah 6 (zoom) #18"/>
          <p:cNvSpPr txBox="1"/>
          <p:nvPr/>
        </p:nvSpPr>
        <p:spPr>
          <a:xfrm>
            <a:off x="315468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13 pcs</a:t>
            </a:r>
            <a:endParaRPr lang="en-US" sz="1100" dirty="0"/>
          </a:p>
        </p:txBody>
      </p:sp>
      <p:sp>
        <p:nvSpPr>
          <p:cNvPr id="19" name="Animasi langkah 7 (fade) #19"/>
          <p:cNvSpPr txBox="1"/>
          <p:nvPr/>
        </p:nvSpPr>
        <p:spPr>
          <a:xfrm>
            <a:off x="64008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Akhirnya menjadi salah satu toko dengan transaksi terbesar.</a:t>
            </a:r>
            <a:endParaRPr lang="en-US" sz="1150" dirty="0"/>
          </a:p>
        </p:txBody>
      </p:sp>
      <p:sp>
        <p:nvSpPr>
          <p:cNvPr id="20" name="Animasi langkah 8 (zoom) #20"/>
          <p:cNvSpPr/>
          <p:nvPr/>
        </p:nvSpPr>
        <p:spPr>
          <a:xfrm>
            <a:off x="4754880" y="1417320"/>
            <a:ext cx="548640" cy="54864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pic>
        <p:nvPicPr>
          <p:cNvPr id="21" name="Animasi langkah 8 (zoom) #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81" y="1538021"/>
            <a:ext cx="307238" cy="307238"/>
          </a:xfrm>
          <a:prstGeom prst="rect">
            <a:avLst/>
          </a:prstGeom>
        </p:spPr>
      </p:pic>
      <p:sp>
        <p:nvSpPr>
          <p:cNvPr id="22" name="Animasi langkah 8 (fade) #22"/>
          <p:cNvSpPr txBox="1"/>
          <p:nvPr/>
        </p:nvSpPr>
        <p:spPr>
          <a:xfrm>
            <a:off x="5440680" y="1325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Berlian tetap berlian</a:t>
            </a:r>
            <a:endParaRPr lang="en-US" sz="1300" dirty="0"/>
          </a:p>
        </p:txBody>
      </p:sp>
      <p:sp>
        <p:nvSpPr>
          <p:cNvPr id="23" name="Animasi langkah 8 (fade) #23"/>
          <p:cNvSpPr txBox="1"/>
          <p:nvPr/>
        </p:nvSpPr>
        <p:spPr>
          <a:xfrm>
            <a:off x="5440680" y="16002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Dipindah ke posisi "buangan", buktikan </a:t>
            </a:r>
            <a:r>
              <a:rPr lang="en-US" sz="105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</a:t>
            </a: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kinerja</a:t>
            </a:r>
            <a:r>
              <a:rPr lang="en-US" sz="1050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</a:t>
            </a:r>
            <a:r>
              <a:rPr lang="en-US" sz="1050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Line Manager tercepat.</a:t>
            </a:r>
            <a:endParaRPr lang="en-US" sz="1050" dirty="0"/>
          </a:p>
        </p:txBody>
      </p:sp>
      <p:sp>
        <p:nvSpPr>
          <p:cNvPr id="24" name="Animasi langkah 9 (zoom) #24"/>
          <p:cNvSpPr/>
          <p:nvPr/>
        </p:nvSpPr>
        <p:spPr>
          <a:xfrm>
            <a:off x="4754880" y="2377440"/>
            <a:ext cx="548640" cy="54864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pic>
        <p:nvPicPr>
          <p:cNvPr id="25" name="Animasi langkah 9 (zoom) #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581" y="2498141"/>
            <a:ext cx="307238" cy="307238"/>
          </a:xfrm>
          <a:prstGeom prst="rect">
            <a:avLst/>
          </a:prstGeom>
        </p:spPr>
      </p:pic>
      <p:sp>
        <p:nvSpPr>
          <p:cNvPr id="26" name="Animasi langkah 9 (fade) #26"/>
          <p:cNvSpPr txBox="1"/>
          <p:nvPr/>
        </p:nvSpPr>
        <p:spPr>
          <a:xfrm>
            <a:off x="544068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yourself seen &amp; heard</a:t>
            </a:r>
            <a:endParaRPr lang="en-US" sz="1300" dirty="0"/>
          </a:p>
        </p:txBody>
      </p:sp>
      <p:sp>
        <p:nvSpPr>
          <p:cNvPr id="27" name="Animasi langkah 9 (fade) #27"/>
          <p:cNvSpPr txBox="1"/>
          <p:nvPr/>
        </p:nvSpPr>
        <p:spPr>
          <a:xfrm>
            <a:off x="5440680" y="2560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tunjukkan kualitas, integritas &amp; komunikasi.</a:t>
            </a:r>
            <a:endParaRPr lang="en-US" sz="1050" dirty="0"/>
          </a:p>
        </p:txBody>
      </p:sp>
      <p:sp>
        <p:nvSpPr>
          <p:cNvPr id="28" name="Animasi langkah 10 (zoom) #28"/>
          <p:cNvSpPr/>
          <p:nvPr/>
        </p:nvSpPr>
        <p:spPr>
          <a:xfrm>
            <a:off x="4754880" y="3337560"/>
            <a:ext cx="548640" cy="54864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pic>
        <p:nvPicPr>
          <p:cNvPr id="29" name="Animasi langkah 10 (zoom) #2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581" y="3458261"/>
            <a:ext cx="307238" cy="307238"/>
          </a:xfrm>
          <a:prstGeom prst="rect">
            <a:avLst/>
          </a:prstGeom>
        </p:spPr>
      </p:pic>
      <p:sp>
        <p:nvSpPr>
          <p:cNvPr id="30" name="Animasi langkah 10 (fade) #30"/>
          <p:cNvSpPr txBox="1"/>
          <p:nvPr/>
        </p:nvSpPr>
        <p:spPr>
          <a:xfrm>
            <a:off x="544068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Pahami atasan Anda</a:t>
            </a:r>
            <a:endParaRPr lang="en-US" sz="1300" dirty="0"/>
          </a:p>
        </p:txBody>
      </p:sp>
      <p:sp>
        <p:nvSpPr>
          <p:cNvPr id="31" name="Animasi langkah 10 (fade) #31"/>
          <p:cNvSpPr txBox="1"/>
          <p:nvPr/>
        </p:nvSpPr>
        <p:spPr>
          <a:xfrm>
            <a:off x="5440680" y="3520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yang fokus proses, ada yang </a:t>
            </a:r>
            <a:r>
              <a:rPr lang="en-US" sz="1050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</a:t>
            </a: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hasil. sesuaikan </a:t>
            </a: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pendekatan.</a:t>
            </a:r>
            <a:endParaRPr lang="en-US" sz="1050" dirty="0"/>
          </a:p>
        </p:txBody>
      </p:sp>
      <p:sp>
        <p:nvSpPr>
          <p:cNvPr id="32" name="Animasi langkah 11 (wipeL) #32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3" name="Animasi langkah 11 (wipeL) #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4" name="Animasi langkah 11 (wipeL) #34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menyerah pada toko "sulit" sebelum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potensinya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jadwalkan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konsisten.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4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2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66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4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42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8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Understanding Customer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Lapangan: Gali Insight Semen SIG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blended 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learning. bahan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sesi berikutnya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 txBox="1"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Animasi langkah 3 (up) #9"/>
          <p:cNvSpPr/>
          <p:nvPr/>
        </p:nvSpPr>
        <p:spPr>
          <a:xfrm>
            <a:off x="2286000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Animasi langkah 3 (up) #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759" y="1612087"/>
            <a:ext cx="332842" cy="332842"/>
          </a:xfrm>
          <a:prstGeom prst="rect">
            <a:avLst/>
          </a:prstGeom>
        </p:spPr>
      </p:pic>
      <p:sp>
        <p:nvSpPr>
          <p:cNvPr id="11" name="Animasi langkah 3 (up) #11"/>
          <p:cNvSpPr txBox="1"/>
          <p:nvPr/>
        </p:nvSpPr>
        <p:spPr>
          <a:xfrm>
            <a:off x="594360" y="2148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tukang</a:t>
            </a:r>
            <a:endParaRPr lang="en-US" sz="1400" dirty="0"/>
          </a:p>
        </p:txBody>
      </p:sp>
      <p:sp>
        <p:nvSpPr>
          <p:cNvPr id="12" name="Animasi langkah 3 (up) #12"/>
          <p:cNvSpPr txBox="1"/>
          <p:nvPr/>
        </p:nvSpPr>
        <p:spPr>
          <a:xfrm>
            <a:off x="594360" y="24505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proyek terdekat: merek apa yang dipakai &amp; mengapa?</a:t>
            </a:r>
            <a:endParaRPr lang="en-US" sz="1100" dirty="0"/>
          </a:p>
        </p:txBody>
      </p:sp>
      <p:sp>
        <p:nvSpPr>
          <p:cNvPr id="13" name="Animasi langkah 4 (up) #13"/>
          <p:cNvSpPr/>
          <p:nvPr/>
        </p:nvSpPr>
        <p:spPr>
          <a:xfrm>
            <a:off x="324612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4" name="Animasi langkah 4 (up) #14"/>
          <p:cNvSpPr txBox="1"/>
          <p:nvPr/>
        </p:nvSpPr>
        <p:spPr>
          <a:xfrm>
            <a:off x="33832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Animasi langkah 4 (up) #15"/>
          <p:cNvSpPr/>
          <p:nvPr/>
        </p:nvSpPr>
        <p:spPr>
          <a:xfrm>
            <a:off x="5074920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Animasi langkah 4 (up) #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679" y="1612087"/>
            <a:ext cx="332842" cy="332842"/>
          </a:xfrm>
          <a:prstGeom prst="rect">
            <a:avLst/>
          </a:prstGeom>
        </p:spPr>
      </p:pic>
      <p:sp>
        <p:nvSpPr>
          <p:cNvPr id="17" name="Animasi langkah 4 (up) #17"/>
          <p:cNvSpPr txBox="1"/>
          <p:nvPr/>
        </p:nvSpPr>
        <p:spPr>
          <a:xfrm>
            <a:off x="3383280" y="2148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toko bangunan</a:t>
            </a:r>
            <a:endParaRPr lang="en-US" sz="1400" dirty="0"/>
          </a:p>
        </p:txBody>
      </p:sp>
      <p:sp>
        <p:nvSpPr>
          <p:cNvPr id="18" name="Animasi langkah 4 (up) #18"/>
          <p:cNvSpPr txBox="1"/>
          <p:nvPr/>
        </p:nvSpPr>
        <p:spPr>
          <a:xfrm>
            <a:off x="3383280" y="24505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 apa yang paling laris &amp; apa alasannya?</a:t>
            </a:r>
            <a:endParaRPr lang="en-US" sz="1100" dirty="0"/>
          </a:p>
        </p:txBody>
      </p:sp>
      <p:sp>
        <p:nvSpPr>
          <p:cNvPr id="19" name="Animasi langkah 5 (up) #19"/>
          <p:cNvSpPr/>
          <p:nvPr/>
        </p:nvSpPr>
        <p:spPr>
          <a:xfrm>
            <a:off x="603504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5 (up) #20"/>
          <p:cNvSpPr txBox="1"/>
          <p:nvPr/>
        </p:nvSpPr>
        <p:spPr>
          <a:xfrm>
            <a:off x="6172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Animasi langkah 5 (up) #21"/>
          <p:cNvSpPr/>
          <p:nvPr/>
        </p:nvSpPr>
        <p:spPr>
          <a:xfrm>
            <a:off x="7863840" y="148132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Animasi langkah 5 (up) #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599" y="1612087"/>
            <a:ext cx="332842" cy="332842"/>
          </a:xfrm>
          <a:prstGeom prst="rect">
            <a:avLst/>
          </a:prstGeom>
        </p:spPr>
      </p:pic>
      <p:sp>
        <p:nvSpPr>
          <p:cNvPr id="23" name="Animasi langkah 5 (up) #23"/>
          <p:cNvSpPr txBox="1"/>
          <p:nvPr/>
        </p:nvSpPr>
        <p:spPr>
          <a:xfrm>
            <a:off x="6172200" y="21488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Dokumentasikan</a:t>
            </a:r>
            <a:endParaRPr lang="en-US" sz="1400" dirty="0"/>
          </a:p>
        </p:txBody>
      </p:sp>
      <p:sp>
        <p:nvSpPr>
          <p:cNvPr id="24" name="Animasi langkah 5 (up) #24"/>
          <p:cNvSpPr txBox="1"/>
          <p:nvPr/>
        </p:nvSpPr>
        <p:spPr>
          <a:xfrm>
            <a:off x="6172200" y="24505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dikatakan, dirasakan, dan insight-nya.</a:t>
            </a:r>
            <a:endParaRPr lang="en-US" sz="1100" dirty="0"/>
          </a:p>
        </p:txBody>
      </p:sp>
      <p:sp>
        <p:nvSpPr>
          <p:cNvPr id="25" name="Animasi langkah 6 (fade) #25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6" name="Animasi langkah 6 (fade) #26"/>
          <p:cNvSpPr txBox="1"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Sesi 1: </a:t>
            </a: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untuk semua • needs &amp; benefits • bedakan customer–shopper–consumer • insight seperti gunung es • tolak komoditisasi • STP sebelum strategi • jalankan 4A.</a:t>
            </a:r>
            <a:endParaRPr lang="en-US" sz="1200" dirty="0"/>
          </a:p>
        </p:txBody>
      </p:sp>
      <p:sp>
        <p:nvSpPr>
          <p:cNvPr id="27" name="Animasi langkah 7 (wipeL) #27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8" name="Animasi langkah 7 (wipeL) #2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9" name="Animasi langkah 7 (wipeL) #29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tugas ini rutinitas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bulanan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tim.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bahas temuan dalam rapat cabang.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4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2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9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28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2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asi langkah 1 (zoom) #2"/>
          <p:cNvSpPr/>
          <p:nvPr/>
        </p:nvSpPr>
        <p:spPr>
          <a:xfrm>
            <a:off x="5669280" y="548640"/>
            <a:ext cx="4206240" cy="4206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Animasi langkah 2 (zoom) #3"/>
          <p:cNvSpPr txBox="1"/>
          <p:nvPr/>
        </p:nvSpPr>
        <p:spPr>
          <a:xfrm>
            <a:off x="5669280" y="548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0" dirty="0"/>
          </a:p>
        </p:txBody>
      </p:sp>
      <p:sp>
        <p:nvSpPr>
          <p:cNvPr id="4" name="Animasi langkah 1 (fade) #4"/>
          <p:cNvSpPr txBox="1"/>
          <p:nvPr/>
        </p:nvSpPr>
        <p:spPr>
          <a:xfrm>
            <a:off x="5486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400" dirty="0"/>
          </a:p>
        </p:txBody>
      </p:sp>
      <p:sp>
        <p:nvSpPr>
          <p:cNvPr id="5" name="Animasi langkah 3 (up) #5"/>
          <p:cNvSpPr txBox="1"/>
          <p:nvPr/>
        </p:nvSpPr>
        <p:spPr>
          <a:xfrm>
            <a:off x="548640" y="1188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Mix: Proposition &amp; Product</a:t>
            </a:r>
            <a:endParaRPr lang="en-US" sz="3400" dirty="0"/>
          </a:p>
        </p:txBody>
      </p:sp>
      <p:sp>
        <p:nvSpPr>
          <p:cNvPr id="6" name="Animasi langkah 4 (up) #6"/>
          <p:cNvSpPr/>
          <p:nvPr/>
        </p:nvSpPr>
        <p:spPr>
          <a:xfrm>
            <a:off x="548640" y="2606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Animasi langkah 4 (up) #7"/>
          <p:cNvSpPr txBox="1"/>
          <p:nvPr/>
        </p:nvSpPr>
        <p:spPr>
          <a:xfrm>
            <a:off x="6583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Insight → Action</a:t>
            </a:r>
            <a:endParaRPr lang="en-US" sz="1150" dirty="0"/>
          </a:p>
        </p:txBody>
      </p:sp>
      <p:sp>
        <p:nvSpPr>
          <p:cNvPr id="8" name="Animasi langkah 5 (up) #8"/>
          <p:cNvSpPr/>
          <p:nvPr/>
        </p:nvSpPr>
        <p:spPr>
          <a:xfrm>
            <a:off x="3063240" y="2606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Animasi langkah 5 (up) #9"/>
          <p:cNvSpPr txBox="1"/>
          <p:nvPr/>
        </p:nvSpPr>
        <p:spPr>
          <a:xfrm>
            <a:off x="31729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6P</a:t>
            </a:r>
            <a:endParaRPr lang="en-US" sz="1150" dirty="0"/>
          </a:p>
        </p:txBody>
      </p:sp>
      <p:sp>
        <p:nvSpPr>
          <p:cNvPr id="10" name="Animasi langkah 6 (up) #10"/>
          <p:cNvSpPr/>
          <p:nvPr/>
        </p:nvSpPr>
        <p:spPr>
          <a:xfrm>
            <a:off x="54864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Animasi langkah 6 (up) #11"/>
          <p:cNvSpPr txBox="1"/>
          <p:nvPr/>
        </p:nvSpPr>
        <p:spPr>
          <a:xfrm>
            <a:off x="6583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 &amp; 3 Game</a:t>
            </a:r>
            <a:endParaRPr lang="en-US" sz="1150" dirty="0"/>
          </a:p>
        </p:txBody>
      </p:sp>
      <p:sp>
        <p:nvSpPr>
          <p:cNvPr id="12" name="Animasi langkah 7 (up) #12"/>
          <p:cNvSpPr/>
          <p:nvPr/>
        </p:nvSpPr>
        <p:spPr>
          <a:xfrm>
            <a:off x="306324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Animasi langkah 7 (up) #13"/>
          <p:cNvSpPr txBox="1"/>
          <p:nvPr/>
        </p:nvSpPr>
        <p:spPr>
          <a:xfrm>
            <a:off x="31729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 &amp; Brand DNA</a:t>
            </a:r>
            <a:endParaRPr lang="en-US" sz="1150" dirty="0"/>
          </a:p>
        </p:txBody>
      </p:sp>
      <p:sp>
        <p:nvSpPr>
          <p:cNvPr id="14" name="Animasi langkah 8 (up) #14"/>
          <p:cNvSpPr/>
          <p:nvPr/>
        </p:nvSpPr>
        <p:spPr>
          <a:xfrm>
            <a:off x="548640" y="3520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Animasi langkah 8 (up) #15"/>
          <p:cNvSpPr txBox="1"/>
          <p:nvPr/>
        </p:nvSpPr>
        <p:spPr>
          <a:xfrm>
            <a:off x="6583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 &amp; Kemasan</a:t>
            </a:r>
            <a:endParaRPr lang="en-US" sz="1150" dirty="0"/>
          </a:p>
        </p:txBody>
      </p:sp>
      <p:sp>
        <p:nvSpPr>
          <p:cNvPr id="16" name="Animasi langkah 9 (up) #16"/>
          <p:cNvSpPr/>
          <p:nvPr/>
        </p:nvSpPr>
        <p:spPr>
          <a:xfrm>
            <a:off x="3063240" y="3520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Animasi langkah 9 (up) #17"/>
          <p:cNvSpPr txBox="1"/>
          <p:nvPr/>
        </p:nvSpPr>
        <p:spPr>
          <a:xfrm>
            <a:off x="31729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Customer-Centric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8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6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4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2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8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6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4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Insight → Action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temuan lapangan: Batu Raja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7160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123444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594360" y="21488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 Batu Raja tinggi, tapi penjualan menurun.</a:t>
            </a:r>
            <a:endParaRPr lang="en-US" sz="1150" dirty="0"/>
          </a:p>
        </p:txBody>
      </p:sp>
      <p:sp>
        <p:nvSpPr>
          <p:cNvPr id="12" name="Animasi langkah 3 (up) #12"/>
          <p:cNvSpPr txBox="1"/>
          <p:nvPr/>
        </p:nvSpPr>
        <p:spPr>
          <a:xfrm>
            <a:off x="5943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 err="1" smtClean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r>
              <a:rPr lang="en-US" sz="1000" b="1" i="1" dirty="0" smtClean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b="1" i="1" dirty="0" err="1" smtClean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r>
              <a:rPr lang="en-US" sz="1000" b="1" i="1" dirty="0" smtClean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i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keputusan</a:t>
            </a:r>
            <a:endParaRPr lang="en-US" sz="1000" dirty="0"/>
          </a:p>
        </p:txBody>
      </p:sp>
      <p:sp>
        <p:nvSpPr>
          <p:cNvPr id="13" name="Animasi langkah 4 (wipeL) #13"/>
          <p:cNvSpPr/>
          <p:nvPr/>
        </p:nvSpPr>
        <p:spPr>
          <a:xfrm>
            <a:off x="3017520" y="2377440"/>
            <a:ext cx="22860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4" name="Animasi langkah 5 (up) #14"/>
          <p:cNvSpPr/>
          <p:nvPr/>
        </p:nvSpPr>
        <p:spPr>
          <a:xfrm>
            <a:off x="3291840" y="137160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5" name="Animasi langkah 5 (up) #15"/>
          <p:cNvSpPr/>
          <p:nvPr/>
        </p:nvSpPr>
        <p:spPr>
          <a:xfrm>
            <a:off x="3429000" y="15087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Animasi langkah 5 (up) #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701" y="1629461"/>
            <a:ext cx="307238" cy="307238"/>
          </a:xfrm>
          <a:prstGeom prst="rect">
            <a:avLst/>
          </a:prstGeom>
        </p:spPr>
      </p:pic>
      <p:sp>
        <p:nvSpPr>
          <p:cNvPr id="17" name="Animasi langkah 5 (up) #17"/>
          <p:cNvSpPr txBox="1"/>
          <p:nvPr/>
        </p:nvSpPr>
        <p:spPr>
          <a:xfrm>
            <a:off x="406908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800" dirty="0"/>
          </a:p>
        </p:txBody>
      </p:sp>
      <p:sp>
        <p:nvSpPr>
          <p:cNvPr id="18" name="Animasi langkah 5 (up) #18"/>
          <p:cNvSpPr txBox="1"/>
          <p:nvPr/>
        </p:nvSpPr>
        <p:spPr>
          <a:xfrm>
            <a:off x="3429000" y="21488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menghargai merek, tapi harga terasa tak sebanding dengan benefit saat ini.</a:t>
            </a:r>
            <a:endParaRPr lang="en-US" sz="1150" dirty="0"/>
          </a:p>
        </p:txBody>
      </p:sp>
      <p:sp>
        <p:nvSpPr>
          <p:cNvPr id="19" name="Animasi langkah 5 (up) #19"/>
          <p:cNvSpPr txBox="1"/>
          <p:nvPr/>
        </p:nvSpPr>
        <p:spPr>
          <a:xfrm>
            <a:off x="342900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Kupas seperti bawang: MENGAPA?</a:t>
            </a:r>
            <a:endParaRPr lang="en-US" sz="1000" dirty="0"/>
          </a:p>
        </p:txBody>
      </p:sp>
      <p:sp>
        <p:nvSpPr>
          <p:cNvPr id="20" name="Animasi langkah 6 (wipeL) #20"/>
          <p:cNvSpPr/>
          <p:nvPr/>
        </p:nvSpPr>
        <p:spPr>
          <a:xfrm>
            <a:off x="5852160" y="2377440"/>
            <a:ext cx="22860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21" name="Animasi langkah 7 (up) #21"/>
          <p:cNvSpPr/>
          <p:nvPr/>
        </p:nvSpPr>
        <p:spPr>
          <a:xfrm>
            <a:off x="6126480" y="1371600"/>
            <a:ext cx="2514600" cy="2331720"/>
          </a:xfrm>
          <a:prstGeom prst="roundRect">
            <a:avLst>
              <a:gd name="adj" fmla="val 4706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2" name="Animasi langkah 7 (up) #22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Animasi langkah 7 (up) #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629461"/>
            <a:ext cx="307238" cy="307238"/>
          </a:xfrm>
          <a:prstGeom prst="rect">
            <a:avLst/>
          </a:prstGeom>
        </p:spPr>
      </p:pic>
      <p:sp>
        <p:nvSpPr>
          <p:cNvPr id="24" name="Animasi langkah 7 (up) #24"/>
          <p:cNvSpPr txBox="1"/>
          <p:nvPr/>
        </p:nvSpPr>
        <p:spPr>
          <a:xfrm>
            <a:off x="690372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800" dirty="0"/>
          </a:p>
        </p:txBody>
      </p:sp>
      <p:sp>
        <p:nvSpPr>
          <p:cNvPr id="25" name="Animasi langkah 7 (up) #25"/>
          <p:cNvSpPr txBox="1"/>
          <p:nvPr/>
        </p:nvSpPr>
        <p:spPr>
          <a:xfrm>
            <a:off x="6263640" y="21488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justifikasi harga lewat komunikasi benefit; pertegas posisi vs kompetitor.</a:t>
            </a:r>
            <a:endParaRPr lang="en-US" sz="1150" dirty="0"/>
          </a:p>
        </p:txBody>
      </p:sp>
      <p:sp>
        <p:nvSpPr>
          <p:cNvPr id="26" name="Animasi langkah 7 (up) #26"/>
          <p:cNvSpPr txBox="1"/>
          <p:nvPr/>
        </p:nvSpPr>
        <p:spPr>
          <a:xfrm>
            <a:off x="62636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Konkret, terukur, dieksekusi</a:t>
            </a:r>
            <a:endParaRPr lang="en-US" sz="1000" dirty="0"/>
          </a:p>
        </p:txBody>
      </p:sp>
      <p:sp>
        <p:nvSpPr>
          <p:cNvPr id="27" name="Animasi langkah 8 (zoom) #27"/>
          <p:cNvSpPr txBox="1"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berhenti di data, jangan berhenti di </a:t>
            </a:r>
            <a:r>
              <a:rPr lang="en-US" sz="1300" b="1" dirty="0" smtClean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insight. </a:t>
            </a:r>
            <a:r>
              <a:rPr lang="en-US" sz="1300" b="1" dirty="0" err="1" smtClean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300" b="1" dirty="0" smtClean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tercipta dari ACTION.</a:t>
            </a:r>
            <a:endParaRPr lang="en-US" sz="1300" dirty="0"/>
          </a:p>
        </p:txBody>
      </p:sp>
      <p:sp>
        <p:nvSpPr>
          <p:cNvPr id="28" name="Animasi langkah 9 (wipeL) #28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9" name="Animasi langkah 9 (wipeL) #2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0" name="Animasi langkah 9 (wipeL) #30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laporan pasar dari tim wajib ditutup dengan satu action, PIC, dan tenggat.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4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2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9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28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66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04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6P (Model Unilever)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 klasik + Proposition &amp; 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Act. semua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terpadu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258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C9F2E1"/>
          </a:solidFill>
          <a:ln w="25400">
            <a:solidFill>
              <a:srgbClr val="1F7A5C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zoom) #8"/>
          <p:cNvSpPr/>
          <p:nvPr/>
        </p:nvSpPr>
        <p:spPr>
          <a:xfrm>
            <a:off x="594360" y="1463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zoom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" y="1573682"/>
            <a:ext cx="281635" cy="281635"/>
          </a:xfrm>
          <a:prstGeom prst="rect">
            <a:avLst/>
          </a:prstGeom>
        </p:spPr>
      </p:pic>
      <p:sp>
        <p:nvSpPr>
          <p:cNvPr id="10" name="Animasi langkah 3 (zoom) #10"/>
          <p:cNvSpPr txBox="1"/>
          <p:nvPr/>
        </p:nvSpPr>
        <p:spPr>
          <a:xfrm>
            <a:off x="118872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1500" dirty="0"/>
          </a:p>
        </p:txBody>
      </p:sp>
      <p:sp>
        <p:nvSpPr>
          <p:cNvPr id="11" name="Animasi langkah 3 (zoom) #11"/>
          <p:cNvSpPr txBox="1"/>
          <p:nvPr/>
        </p:nvSpPr>
        <p:spPr>
          <a:xfrm>
            <a:off x="594360" y="2011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merek &amp; </a:t>
            </a:r>
            <a:r>
              <a:rPr lang="en-US" sz="10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r>
              <a:rPr lang="en-US" sz="10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FONDASI 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</a:t>
            </a:r>
            <a:endParaRPr lang="en-US" sz="1050" dirty="0"/>
          </a:p>
        </p:txBody>
      </p:sp>
      <p:sp>
        <p:nvSpPr>
          <p:cNvPr id="12" name="Animasi langkah 4 (zoom) #12"/>
          <p:cNvSpPr/>
          <p:nvPr/>
        </p:nvSpPr>
        <p:spPr>
          <a:xfrm>
            <a:off x="3246120" y="13258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3" name="Animasi langkah 4 (zoom) #13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Animasi langkah 4 (zoom) #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922" y="1573682"/>
            <a:ext cx="281635" cy="281635"/>
          </a:xfrm>
          <a:prstGeom prst="rect">
            <a:avLst/>
          </a:prstGeom>
        </p:spPr>
      </p:pic>
      <p:sp>
        <p:nvSpPr>
          <p:cNvPr id="15" name="Animasi langkah 4 (zoom) #15"/>
          <p:cNvSpPr txBox="1"/>
          <p:nvPr/>
        </p:nvSpPr>
        <p:spPr>
          <a:xfrm>
            <a:off x="397764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16" name="Animasi langkah 4 (zoom) #16"/>
          <p:cNvSpPr txBox="1"/>
          <p:nvPr/>
        </p:nvSpPr>
        <p:spPr>
          <a:xfrm>
            <a:off x="3383280" y="2011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Kualitas, varian (OPC, PCC, PPC), kemasan, layanan teknis</a:t>
            </a:r>
            <a:endParaRPr lang="en-US" sz="1050" dirty="0"/>
          </a:p>
        </p:txBody>
      </p:sp>
      <p:sp>
        <p:nvSpPr>
          <p:cNvPr id="17" name="Animasi langkah 5 (zoom) #17"/>
          <p:cNvSpPr/>
          <p:nvPr/>
        </p:nvSpPr>
        <p:spPr>
          <a:xfrm>
            <a:off x="6035040" y="13258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8" name="Animasi langkah 5 (zoom) #18"/>
          <p:cNvSpPr/>
          <p:nvPr/>
        </p:nvSpPr>
        <p:spPr>
          <a:xfrm>
            <a:off x="6172200" y="14630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Animasi langkah 5 (zoom) #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842" y="1573682"/>
            <a:ext cx="281635" cy="281635"/>
          </a:xfrm>
          <a:prstGeom prst="rect">
            <a:avLst/>
          </a:prstGeom>
        </p:spPr>
      </p:pic>
      <p:sp>
        <p:nvSpPr>
          <p:cNvPr id="20" name="Animasi langkah 5 (zoom) #20"/>
          <p:cNvSpPr txBox="1"/>
          <p:nvPr/>
        </p:nvSpPr>
        <p:spPr>
          <a:xfrm>
            <a:off x="6766560" y="1463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500" dirty="0"/>
          </a:p>
        </p:txBody>
      </p:sp>
      <p:sp>
        <p:nvSpPr>
          <p:cNvPr id="21" name="Animasi langkah 5 (zoom) #21"/>
          <p:cNvSpPr txBox="1"/>
          <p:nvPr/>
        </p:nvSpPr>
        <p:spPr>
          <a:xfrm>
            <a:off x="6172200" y="2011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= sinyal kualitas; disparitas perlu dijustifikasi</a:t>
            </a:r>
            <a:endParaRPr lang="en-US" sz="1050" dirty="0"/>
          </a:p>
        </p:txBody>
      </p:sp>
      <p:sp>
        <p:nvSpPr>
          <p:cNvPr id="22" name="Animasi langkah 6 (zoom) #22"/>
          <p:cNvSpPr/>
          <p:nvPr/>
        </p:nvSpPr>
        <p:spPr>
          <a:xfrm>
            <a:off x="457200" y="26974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6 (zoom) #23"/>
          <p:cNvSpPr/>
          <p:nvPr/>
        </p:nvSpPr>
        <p:spPr>
          <a:xfrm>
            <a:off x="594360" y="2834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Animasi langkah 6 (zoom) #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" y="2945282"/>
            <a:ext cx="281635" cy="281635"/>
          </a:xfrm>
          <a:prstGeom prst="rect">
            <a:avLst/>
          </a:prstGeom>
        </p:spPr>
      </p:pic>
      <p:sp>
        <p:nvSpPr>
          <p:cNvPr id="25" name="Animasi langkah 6 (zoom) #25"/>
          <p:cNvSpPr txBox="1"/>
          <p:nvPr/>
        </p:nvSpPr>
        <p:spPr>
          <a:xfrm>
            <a:off x="118872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500" dirty="0"/>
          </a:p>
        </p:txBody>
      </p:sp>
      <p:sp>
        <p:nvSpPr>
          <p:cNvPr id="26" name="Animasi langkah 6 (zoom) #26"/>
          <p:cNvSpPr txBox="1"/>
          <p:nvPr/>
        </p:nvSpPr>
        <p:spPr>
          <a:xfrm>
            <a:off x="594360" y="3383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</a:t>
            </a:r>
            <a:r>
              <a:rPr lang="en-US" sz="10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</a:t>
            </a:r>
            <a:r>
              <a:rPr lang="en-US" sz="10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tersembunyi</a:t>
            </a:r>
            <a:r>
              <a:rPr lang="en-US" sz="10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investasi sia-sia</a:t>
            </a:r>
            <a:endParaRPr lang="en-US" sz="1050" dirty="0"/>
          </a:p>
        </p:txBody>
      </p:sp>
      <p:sp>
        <p:nvSpPr>
          <p:cNvPr id="27" name="Animasi langkah 7 (zoom) #27"/>
          <p:cNvSpPr/>
          <p:nvPr/>
        </p:nvSpPr>
        <p:spPr>
          <a:xfrm>
            <a:off x="3246120" y="26974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8" name="Animasi langkah 7 (zoom) #28"/>
          <p:cNvSpPr/>
          <p:nvPr/>
        </p:nvSpPr>
        <p:spPr>
          <a:xfrm>
            <a:off x="3383280" y="2834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Animasi langkah 7 (zoom) #2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922" y="2945282"/>
            <a:ext cx="281635" cy="281635"/>
          </a:xfrm>
          <a:prstGeom prst="rect">
            <a:avLst/>
          </a:prstGeom>
        </p:spPr>
      </p:pic>
      <p:sp>
        <p:nvSpPr>
          <p:cNvPr id="30" name="Animasi langkah 7 (zoom) #30"/>
          <p:cNvSpPr txBox="1"/>
          <p:nvPr/>
        </p:nvSpPr>
        <p:spPr>
          <a:xfrm>
            <a:off x="397764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31" name="Animasi langkah 7 (zoom) #31"/>
          <p:cNvSpPr txBox="1"/>
          <p:nvPr/>
        </p:nvSpPr>
        <p:spPr>
          <a:xfrm>
            <a:off x="3383280" y="3383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Iklan, program tukang, POSM, sponsorship, TikTok</a:t>
            </a:r>
            <a:endParaRPr lang="en-US" sz="1050" dirty="0"/>
          </a:p>
        </p:txBody>
      </p:sp>
      <p:sp>
        <p:nvSpPr>
          <p:cNvPr id="32" name="Animasi langkah 8 (zoom) #32"/>
          <p:cNvSpPr/>
          <p:nvPr/>
        </p:nvSpPr>
        <p:spPr>
          <a:xfrm>
            <a:off x="6035040" y="26974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33" name="Animasi langkah 8 (zoom) #33"/>
          <p:cNvSpPr/>
          <p:nvPr/>
        </p:nvSpPr>
        <p:spPr>
          <a:xfrm>
            <a:off x="6172200" y="2834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Animasi langkah 8 (zoom) #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2842" y="2945282"/>
            <a:ext cx="281635" cy="281635"/>
          </a:xfrm>
          <a:prstGeom prst="rect">
            <a:avLst/>
          </a:prstGeom>
        </p:spPr>
      </p:pic>
      <p:sp>
        <p:nvSpPr>
          <p:cNvPr id="35" name="Animasi langkah 8 (zoom) #35"/>
          <p:cNvSpPr txBox="1"/>
          <p:nvPr/>
        </p:nvSpPr>
        <p:spPr>
          <a:xfrm>
            <a:off x="676656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36" name="Animasi langkah 8 (zoom) #36"/>
          <p:cNvSpPr txBox="1"/>
          <p:nvPr/>
        </p:nvSpPr>
        <p:spPr>
          <a:xfrm>
            <a:off x="6172200" y="33832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tukang, sales rep &amp; pemilik toko</a:t>
            </a:r>
            <a:endParaRPr lang="en-US" sz="1050" dirty="0"/>
          </a:p>
        </p:txBody>
      </p:sp>
      <p:sp>
        <p:nvSpPr>
          <p:cNvPr id="37" name="Animasi langkah 9 (wipeL) #37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8" name="Animasi langkah 9 (wipeL) #3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9" name="Animasi langkah 9 (wipeL) #39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 yang paling penting; namun di area baru atau krisis, pilih satu P untuk diprioritaskan sementara.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4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2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9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28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660"/>
                            </p:stCondLst>
                            <p:childTnLst>
                              <p:par>
                                <p:cTn id="1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04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Goals: Volume, Turnover, Profit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harus </a:t>
            </a:r>
            <a:r>
              <a:rPr lang="en-US" sz="1250" i="1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mengoptimalkan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profit. bukan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mengejar volume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594360" y="1417320"/>
            <a:ext cx="1143000" cy="114300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8" name="Animasi langkah 3 (zoom) #8"/>
          <p:cNvSpPr txBox="1"/>
          <p:nvPr/>
        </p:nvSpPr>
        <p:spPr>
          <a:xfrm>
            <a:off x="594360" y="1417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9" name="Animasi langkah 4 (zoom) #9"/>
          <p:cNvSpPr txBox="1"/>
          <p:nvPr/>
        </p:nvSpPr>
        <p:spPr>
          <a:xfrm>
            <a:off x="1737360" y="14173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10" name="Animasi langkah 5 (zoom) #10"/>
          <p:cNvSpPr/>
          <p:nvPr/>
        </p:nvSpPr>
        <p:spPr>
          <a:xfrm>
            <a:off x="2286000" y="1417320"/>
            <a:ext cx="1143000" cy="11430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11" name="Animasi langkah 5 (zoom) #11"/>
          <p:cNvSpPr txBox="1"/>
          <p:nvPr/>
        </p:nvSpPr>
        <p:spPr>
          <a:xfrm>
            <a:off x="2286000" y="1417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12" name="Animasi langkah 6 (zoom) #12"/>
          <p:cNvSpPr txBox="1"/>
          <p:nvPr/>
        </p:nvSpPr>
        <p:spPr>
          <a:xfrm>
            <a:off x="3429000" y="14173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3" name="Animasi langkah 7 (zoom) #13"/>
          <p:cNvSpPr/>
          <p:nvPr/>
        </p:nvSpPr>
        <p:spPr>
          <a:xfrm>
            <a:off x="3977640" y="1417320"/>
            <a:ext cx="1143000" cy="114300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14" name="Animasi langkah 7 (zoom) #14"/>
          <p:cNvSpPr txBox="1"/>
          <p:nvPr/>
        </p:nvSpPr>
        <p:spPr>
          <a:xfrm>
            <a:off x="3977640" y="1417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400" dirty="0"/>
          </a:p>
        </p:txBody>
      </p:sp>
      <p:sp>
        <p:nvSpPr>
          <p:cNvPr id="15" name="Animasi langkah 8 (zoom) #15"/>
          <p:cNvSpPr txBox="1"/>
          <p:nvPr/>
        </p:nvSpPr>
        <p:spPr>
          <a:xfrm>
            <a:off x="5120640" y="14173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800" dirty="0"/>
          </a:p>
        </p:txBody>
      </p:sp>
      <p:sp>
        <p:nvSpPr>
          <p:cNvPr id="16" name="Animasi langkah 9 (zoom) #16"/>
          <p:cNvSpPr/>
          <p:nvPr/>
        </p:nvSpPr>
        <p:spPr>
          <a:xfrm>
            <a:off x="5669280" y="1417320"/>
            <a:ext cx="1143000" cy="114300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sp>
        <p:nvSpPr>
          <p:cNvPr id="17" name="Animasi langkah 9 (zoom) #17"/>
          <p:cNvSpPr txBox="1"/>
          <p:nvPr/>
        </p:nvSpPr>
        <p:spPr>
          <a:xfrm>
            <a:off x="5669280" y="1417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8" name="Animasi langkah 10 (zoom) #18"/>
          <p:cNvSpPr txBox="1"/>
          <p:nvPr/>
        </p:nvSpPr>
        <p:spPr>
          <a:xfrm>
            <a:off x="6812280" y="14173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9" name="Animasi langkah 11 (zoom) #19"/>
          <p:cNvSpPr/>
          <p:nvPr/>
        </p:nvSpPr>
        <p:spPr>
          <a:xfrm>
            <a:off x="7360920" y="1417320"/>
            <a:ext cx="1143000" cy="114300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20" name="Animasi langkah 11 (zoom) #20"/>
          <p:cNvSpPr txBox="1"/>
          <p:nvPr/>
        </p:nvSpPr>
        <p:spPr>
          <a:xfrm>
            <a:off x="7360920" y="1417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21" name="Animasi langkah 12 (up) #21"/>
          <p:cNvSpPr/>
          <p:nvPr/>
        </p:nvSpPr>
        <p:spPr>
          <a:xfrm>
            <a:off x="457200" y="29260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2" name="Animasi langkah 12 (up) #22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23" name="Animasi langkah 12 (up) #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163824"/>
            <a:ext cx="256032" cy="256032"/>
          </a:xfrm>
          <a:prstGeom prst="rect">
            <a:avLst/>
          </a:prstGeom>
        </p:spPr>
      </p:pic>
      <p:sp>
        <p:nvSpPr>
          <p:cNvPr id="24" name="Animasi langkah 12 (up) #24"/>
          <p:cNvSpPr txBox="1"/>
          <p:nvPr/>
        </p:nvSpPr>
        <p:spPr>
          <a:xfrm>
            <a:off x="1143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harga</a:t>
            </a:r>
            <a:endParaRPr lang="en-US" sz="1300" dirty="0"/>
          </a:p>
        </p:txBody>
      </p:sp>
      <p:sp>
        <p:nvSpPr>
          <p:cNvPr id="25" name="Animasi langkah 12 (up) #25"/>
          <p:cNvSpPr txBox="1"/>
          <p:nvPr/>
        </p:nvSpPr>
        <p:spPr>
          <a:xfrm>
            <a:off x="59436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mungkin turun</a:t>
            </a:r>
            <a:endParaRPr lang="en-US" sz="1100" dirty="0"/>
          </a:p>
        </p:txBody>
      </p:sp>
      <p:sp>
        <p:nvSpPr>
          <p:cNvPr id="26" name="Animasi langkah 13 (up) #26"/>
          <p:cNvSpPr/>
          <p:nvPr/>
        </p:nvSpPr>
        <p:spPr>
          <a:xfrm>
            <a:off x="3246120" y="29260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7" name="Animasi langkah 13 (up) #27"/>
          <p:cNvSpPr/>
          <p:nvPr/>
        </p:nvSpPr>
        <p:spPr>
          <a:xfrm>
            <a:off x="3383280" y="3063240"/>
            <a:ext cx="457200" cy="45720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28" name="Animasi langkah 13 (up) #2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3163824"/>
            <a:ext cx="256032" cy="256032"/>
          </a:xfrm>
          <a:prstGeom prst="rect">
            <a:avLst/>
          </a:prstGeom>
        </p:spPr>
      </p:pic>
      <p:sp>
        <p:nvSpPr>
          <p:cNvPr id="29" name="Animasi langkah 13 (up) #29"/>
          <p:cNvSpPr txBox="1"/>
          <p:nvPr/>
        </p:nvSpPr>
        <p:spPr>
          <a:xfrm>
            <a:off x="39319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harga</a:t>
            </a:r>
            <a:endParaRPr lang="en-US" sz="1300" dirty="0"/>
          </a:p>
        </p:txBody>
      </p:sp>
      <p:sp>
        <p:nvSpPr>
          <p:cNvPr id="30" name="Animasi langkah 13 (up) #30"/>
          <p:cNvSpPr txBox="1"/>
          <p:nvPr/>
        </p:nvSpPr>
        <p:spPr>
          <a:xfrm>
            <a:off x="33832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naik, margin tergerus</a:t>
            </a:r>
            <a:endParaRPr lang="en-US" sz="1100" dirty="0"/>
          </a:p>
        </p:txBody>
      </p:sp>
      <p:sp>
        <p:nvSpPr>
          <p:cNvPr id="31" name="Animasi langkah 14 (up) #31"/>
          <p:cNvSpPr/>
          <p:nvPr/>
        </p:nvSpPr>
        <p:spPr>
          <a:xfrm>
            <a:off x="6035040" y="292608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F6F8FC"/>
          </a:solidFill>
          <a:ln w="9525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32" name="Animasi langkah 14 (up) #32"/>
          <p:cNvSpPr/>
          <p:nvPr/>
        </p:nvSpPr>
        <p:spPr>
          <a:xfrm>
            <a:off x="6172200" y="3063240"/>
            <a:ext cx="457200" cy="45720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33" name="Animasi langkah 14 (up) #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163824"/>
            <a:ext cx="256032" cy="256032"/>
          </a:xfrm>
          <a:prstGeom prst="rect">
            <a:avLst/>
          </a:prstGeom>
        </p:spPr>
      </p:pic>
      <p:sp>
        <p:nvSpPr>
          <p:cNvPr id="34" name="Animasi langkah 14 (up) #34"/>
          <p:cNvSpPr txBox="1"/>
          <p:nvPr/>
        </p:nvSpPr>
        <p:spPr>
          <a:xfrm>
            <a:off x="67208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penting</a:t>
            </a:r>
            <a:endParaRPr lang="en-US" sz="1300" dirty="0"/>
          </a:p>
        </p:txBody>
      </p:sp>
      <p:sp>
        <p:nvSpPr>
          <p:cNvPr id="35" name="Animasi langkah 14 (up) #35"/>
          <p:cNvSpPr txBox="1"/>
          <p:nvPr/>
        </p:nvSpPr>
        <p:spPr>
          <a:xfrm>
            <a:off x="617220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&amp; profit tetap optimal</a:t>
            </a:r>
            <a:endParaRPr lang="en-US" sz="1100" dirty="0"/>
          </a:p>
        </p:txBody>
      </p:sp>
      <p:sp>
        <p:nvSpPr>
          <p:cNvPr id="36" name="Animasi langkah 15 (wipeL) #36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7" name="Animasi langkah 15 (wipeL) #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8" name="Animasi langkah 15 (wipeL) #38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target cabang dengan tiga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lensa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sekaligus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volume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belum tentu buruk bila profit naik.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4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2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8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66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4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42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180"/>
                            </p:stCondLst>
                            <p:childTnLst>
                              <p:par>
                                <p:cTn id="9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560"/>
                            </p:stCondLst>
                            <p:childTnLst>
                              <p:par>
                                <p:cTn id="1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940"/>
                            </p:stCondLst>
                            <p:childTnLst>
                              <p:par>
                                <p:cTn id="1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32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Game Marketing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game yang sedang dimainkan sebelum merancang taktik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258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138" y="1558138"/>
            <a:ext cx="358445" cy="358445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</a:t>
            </a:r>
            <a:endParaRPr lang="en-US" sz="16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54864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pernah mencoba?</a:t>
            </a:r>
            <a:endParaRPr lang="en-US" sz="1050" dirty="0"/>
          </a:p>
        </p:txBody>
      </p:sp>
      <p:sp>
        <p:nvSpPr>
          <p:cNvPr id="12" name="Animasi langkah 3 (up) #12"/>
          <p:cNvSpPr txBox="1"/>
          <p:nvPr/>
        </p:nvSpPr>
        <p:spPr>
          <a:xfrm>
            <a:off x="594360" y="27249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Edukasi, sampling, promo coba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Pepsodent: ajari gosok gigi pakai odol</a:t>
            </a:r>
            <a:endParaRPr lang="en-US" sz="1000" dirty="0"/>
          </a:p>
        </p:txBody>
      </p:sp>
      <p:sp>
        <p:nvSpPr>
          <p:cNvPr id="13" name="Animasi langkah 3 (up) #13"/>
          <p:cNvSpPr/>
          <p:nvPr/>
        </p:nvSpPr>
        <p:spPr>
          <a:xfrm>
            <a:off x="566928" y="3584448"/>
            <a:ext cx="238658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Animasi langkah 3 (up) #14"/>
          <p:cNvSpPr txBox="1"/>
          <p:nvPr/>
        </p:nvSpPr>
        <p:spPr>
          <a:xfrm>
            <a:off x="640080" y="35844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baru: dorong trial pertama</a:t>
            </a:r>
            <a:endParaRPr lang="en-US" sz="1000" dirty="0"/>
          </a:p>
        </p:txBody>
      </p:sp>
      <p:sp>
        <p:nvSpPr>
          <p:cNvPr id="15" name="Animasi langkah 4 (up) #15"/>
          <p:cNvSpPr/>
          <p:nvPr/>
        </p:nvSpPr>
        <p:spPr>
          <a:xfrm>
            <a:off x="3246120" y="13258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6" name="Animasi langkah 4 (up) #16"/>
          <p:cNvSpPr/>
          <p:nvPr/>
        </p:nvSpPr>
        <p:spPr>
          <a:xfrm>
            <a:off x="420624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Animasi langkah 4 (up) #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058" y="1558138"/>
            <a:ext cx="358445" cy="358445"/>
          </a:xfrm>
          <a:prstGeom prst="rect">
            <a:avLst/>
          </a:prstGeom>
        </p:spPr>
      </p:pic>
      <p:sp>
        <p:nvSpPr>
          <p:cNvPr id="18" name="Animasi langkah 4 (up) #18"/>
          <p:cNvSpPr txBox="1"/>
          <p:nvPr/>
        </p:nvSpPr>
        <p:spPr>
          <a:xfrm>
            <a:off x="324612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600" dirty="0"/>
          </a:p>
        </p:txBody>
      </p:sp>
      <p:sp>
        <p:nvSpPr>
          <p:cNvPr id="19" name="Animasi langkah 4 (up) #19"/>
          <p:cNvSpPr txBox="1"/>
          <p:nvPr/>
        </p:nvSpPr>
        <p:spPr>
          <a:xfrm>
            <a:off x="333756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sering &amp; banyak?</a:t>
            </a:r>
            <a:endParaRPr lang="en-US" sz="1050" dirty="0"/>
          </a:p>
        </p:txBody>
      </p:sp>
      <p:sp>
        <p:nvSpPr>
          <p:cNvPr id="20" name="Animasi langkah 4 (up) #20"/>
          <p:cNvSpPr txBox="1"/>
          <p:nvPr/>
        </p:nvSpPr>
        <p:spPr>
          <a:xfrm>
            <a:off x="3383280" y="27249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 frekuensi &amp; unit pakai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→ 3× sehari → tiap habis makan</a:t>
            </a:r>
            <a:endParaRPr lang="en-US" sz="1000" dirty="0"/>
          </a:p>
        </p:txBody>
      </p:sp>
      <p:sp>
        <p:nvSpPr>
          <p:cNvPr id="21" name="Animasi langkah 4 (up) #21"/>
          <p:cNvSpPr/>
          <p:nvPr/>
        </p:nvSpPr>
        <p:spPr>
          <a:xfrm>
            <a:off x="3355848" y="3584448"/>
            <a:ext cx="238658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Animasi langkah 4 (up) #22"/>
          <p:cNvSpPr txBox="1"/>
          <p:nvPr/>
        </p:nvSpPr>
        <p:spPr>
          <a:xfrm>
            <a:off x="3429000" y="35844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kenal tapi jarang beli: 1 sak → selusin</a:t>
            </a:r>
            <a:endParaRPr lang="en-US" sz="1000" dirty="0"/>
          </a:p>
        </p:txBody>
      </p:sp>
      <p:sp>
        <p:nvSpPr>
          <p:cNvPr id="23" name="Animasi langkah 5 (up) #23"/>
          <p:cNvSpPr/>
          <p:nvPr/>
        </p:nvSpPr>
        <p:spPr>
          <a:xfrm>
            <a:off x="6035040" y="13258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4" name="Animasi langkah 5 (up) #24"/>
          <p:cNvSpPr/>
          <p:nvPr/>
        </p:nvSpPr>
        <p:spPr>
          <a:xfrm>
            <a:off x="6995160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Animasi langkah 5 (up) #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978" y="1558138"/>
            <a:ext cx="358445" cy="358445"/>
          </a:xfrm>
          <a:prstGeom prst="rect">
            <a:avLst/>
          </a:prstGeom>
        </p:spPr>
      </p:pic>
      <p:sp>
        <p:nvSpPr>
          <p:cNvPr id="26" name="Animasi langkah 5 (up) #26"/>
          <p:cNvSpPr txBox="1"/>
          <p:nvPr/>
        </p:nvSpPr>
        <p:spPr>
          <a:xfrm>
            <a:off x="603504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Premiumization</a:t>
            </a:r>
            <a:endParaRPr lang="en-US" sz="1600" dirty="0"/>
          </a:p>
        </p:txBody>
      </p:sp>
      <p:sp>
        <p:nvSpPr>
          <p:cNvPr id="27" name="Animasi langkah 5 (up) #27"/>
          <p:cNvSpPr txBox="1"/>
          <p:nvPr/>
        </p:nvSpPr>
        <p:spPr>
          <a:xfrm>
            <a:off x="6126480" y="2404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naik ke varian bernilai?</a:t>
            </a:r>
            <a:endParaRPr lang="en-US" sz="1050" dirty="0"/>
          </a:p>
        </p:txBody>
      </p:sp>
      <p:sp>
        <p:nvSpPr>
          <p:cNvPr id="28" name="Animasi langkah 5 (up) #28"/>
          <p:cNvSpPr txBox="1"/>
          <p:nvPr/>
        </p:nvSpPr>
        <p:spPr>
          <a:xfrm>
            <a:off x="6172200" y="27249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 premium, eksklusivitas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Odol biasa → sensitif, whitening, herbal</a:t>
            </a:r>
            <a:endParaRPr lang="en-US" sz="1000" dirty="0"/>
          </a:p>
        </p:txBody>
      </p:sp>
      <p:sp>
        <p:nvSpPr>
          <p:cNvPr id="29" name="Animasi langkah 5 (up) #29"/>
          <p:cNvSpPr/>
          <p:nvPr/>
        </p:nvSpPr>
        <p:spPr>
          <a:xfrm>
            <a:off x="6144768" y="3584448"/>
            <a:ext cx="238658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Animasi langkah 5 (up) #30"/>
          <p:cNvSpPr txBox="1"/>
          <p:nvPr/>
        </p:nvSpPr>
        <p:spPr>
          <a:xfrm>
            <a:off x="6217920" y="35844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loyal: semen tahan gempa/sulfat</a:t>
            </a:r>
            <a:endParaRPr lang="en-US" sz="1000" dirty="0"/>
          </a:p>
        </p:txBody>
      </p:sp>
      <p:sp>
        <p:nvSpPr>
          <p:cNvPr id="31" name="Animasi langkah 6 (wipeL) #31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2" name="Animasi langkah 6 (wipeL) #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3" name="Animasi langkah 6 (wipeL) #33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klasifikasikan setiap kabupaten/area Anda ke salah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sesuaikan program &amp; KPI-nya.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14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2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9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Promise: Persepsi &gt; Kenyataan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membeli apa yang mereka bayangkan akan didapat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2588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zoom) #8"/>
          <p:cNvSpPr txBox="1"/>
          <p:nvPr/>
        </p:nvSpPr>
        <p:spPr>
          <a:xfrm>
            <a:off x="548640" y="1380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 Klein × Jung Kook</a:t>
            </a:r>
            <a:endParaRPr lang="en-US" sz="1200" dirty="0"/>
          </a:p>
        </p:txBody>
      </p:sp>
      <p:sp>
        <p:nvSpPr>
          <p:cNvPr id="9" name="Animasi langkah 3 (zoom) #9"/>
          <p:cNvSpPr txBox="1"/>
          <p:nvPr/>
        </p:nvSpPr>
        <p:spPr>
          <a:xfrm>
            <a:off x="548640" y="169164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naik 2–3×: menjual aspirasi &amp; identitas</a:t>
            </a:r>
            <a:endParaRPr lang="en-US" sz="1000" dirty="0"/>
          </a:p>
        </p:txBody>
      </p:sp>
      <p:sp>
        <p:nvSpPr>
          <p:cNvPr id="10" name="Animasi langkah 4 (zoom) #10"/>
          <p:cNvSpPr/>
          <p:nvPr/>
        </p:nvSpPr>
        <p:spPr>
          <a:xfrm>
            <a:off x="2542032" y="132588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1" name="Animasi langkah 4 (zoom) #11"/>
          <p:cNvSpPr txBox="1"/>
          <p:nvPr/>
        </p:nvSpPr>
        <p:spPr>
          <a:xfrm>
            <a:off x="2633472" y="1380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</a:t>
            </a:r>
            <a:endParaRPr lang="en-US" sz="1200" dirty="0"/>
          </a:p>
        </p:txBody>
      </p:sp>
      <p:sp>
        <p:nvSpPr>
          <p:cNvPr id="12" name="Animasi langkah 4 (zoom) #12"/>
          <p:cNvSpPr txBox="1"/>
          <p:nvPr/>
        </p:nvSpPr>
        <p:spPr>
          <a:xfrm>
            <a:off x="2633472" y="169164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Rp10 jt → reseller Rp30 jt: kelangkaan + komunitas</a:t>
            </a:r>
            <a:endParaRPr lang="en-US" sz="1000" dirty="0"/>
          </a:p>
        </p:txBody>
      </p:sp>
      <p:sp>
        <p:nvSpPr>
          <p:cNvPr id="13" name="Animasi langkah 5 (zoom) #13"/>
          <p:cNvSpPr/>
          <p:nvPr/>
        </p:nvSpPr>
        <p:spPr>
          <a:xfrm>
            <a:off x="4626864" y="132588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4" name="Animasi langkah 5 (zoom) #14"/>
          <p:cNvSpPr txBox="1"/>
          <p:nvPr/>
        </p:nvSpPr>
        <p:spPr>
          <a:xfrm>
            <a:off x="4718304" y="1380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Hermès Birkin</a:t>
            </a:r>
            <a:endParaRPr lang="en-US" sz="1200" dirty="0"/>
          </a:p>
        </p:txBody>
      </p:sp>
      <p:sp>
        <p:nvSpPr>
          <p:cNvPr id="15" name="Animasi langkah 5 (zoom) #15"/>
          <p:cNvSpPr txBox="1"/>
          <p:nvPr/>
        </p:nvSpPr>
        <p:spPr>
          <a:xfrm>
            <a:off x="4718304" y="169164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Rp200 jt – Rp2 M: status sosial, bukan tas</a:t>
            </a:r>
            <a:endParaRPr lang="en-US" sz="1000" dirty="0"/>
          </a:p>
        </p:txBody>
      </p:sp>
      <p:sp>
        <p:nvSpPr>
          <p:cNvPr id="16" name="Animasi langkah 6 (zoom) #16"/>
          <p:cNvSpPr/>
          <p:nvPr/>
        </p:nvSpPr>
        <p:spPr>
          <a:xfrm>
            <a:off x="6711696" y="132588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7" name="Animasi langkah 6 (zoom) #17"/>
          <p:cNvSpPr txBox="1"/>
          <p:nvPr/>
        </p:nvSpPr>
        <p:spPr>
          <a:xfrm>
            <a:off x="6803136" y="138074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Vuitton</a:t>
            </a:r>
            <a:endParaRPr lang="en-US" sz="1200" dirty="0"/>
          </a:p>
        </p:txBody>
      </p:sp>
      <p:sp>
        <p:nvSpPr>
          <p:cNvPr id="18" name="Animasi langkah 6 (zoom) #18"/>
          <p:cNvSpPr txBox="1"/>
          <p:nvPr/>
        </p:nvSpPr>
        <p:spPr>
          <a:xfrm>
            <a:off x="6803136" y="169164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Monogram di kulit sintetis &gt; kulit asli tanpa merek</a:t>
            </a:r>
            <a:endParaRPr lang="en-US" sz="1000" dirty="0"/>
          </a:p>
        </p:txBody>
      </p:sp>
      <p:sp>
        <p:nvSpPr>
          <p:cNvPr id="19" name="Animasi langkah 7 (zoom) #19"/>
          <p:cNvSpPr/>
          <p:nvPr/>
        </p:nvSpPr>
        <p:spPr>
          <a:xfrm>
            <a:off x="1499616" y="251460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7 (zoom) #20"/>
          <p:cNvSpPr txBox="1"/>
          <p:nvPr/>
        </p:nvSpPr>
        <p:spPr>
          <a:xfrm>
            <a:off x="1591056" y="25694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</a:t>
            </a:r>
            <a:endParaRPr lang="en-US" sz="1200" dirty="0"/>
          </a:p>
        </p:txBody>
      </p:sp>
      <p:sp>
        <p:nvSpPr>
          <p:cNvPr id="21" name="Animasi langkah 7 (zoom) #21"/>
          <p:cNvSpPr txBox="1"/>
          <p:nvPr/>
        </p:nvSpPr>
        <p:spPr>
          <a:xfrm>
            <a:off x="1591056" y="288036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kalah, tetap lebih mahal: ekosistem &amp; janji</a:t>
            </a:r>
            <a:endParaRPr lang="en-US" sz="1000" dirty="0"/>
          </a:p>
        </p:txBody>
      </p:sp>
      <p:sp>
        <p:nvSpPr>
          <p:cNvPr id="22" name="Animasi langkah 8 (zoom) #22"/>
          <p:cNvSpPr/>
          <p:nvPr/>
        </p:nvSpPr>
        <p:spPr>
          <a:xfrm>
            <a:off x="3584448" y="251460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8 (zoom) #23"/>
          <p:cNvSpPr txBox="1"/>
          <p:nvPr/>
        </p:nvSpPr>
        <p:spPr>
          <a:xfrm>
            <a:off x="3675888" y="25694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1200" dirty="0"/>
          </a:p>
        </p:txBody>
      </p:sp>
      <p:sp>
        <p:nvSpPr>
          <p:cNvPr id="24" name="Animasi langkah 8 (zoom) #24"/>
          <p:cNvSpPr txBox="1"/>
          <p:nvPr/>
        </p:nvSpPr>
        <p:spPr>
          <a:xfrm>
            <a:off x="3675888" y="288036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Third Place</a:t>
            </a:r>
            <a:r>
              <a:rPr lang="en-US" sz="10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00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menjual</a:t>
            </a:r>
            <a:r>
              <a:rPr lang="en-US" sz="10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pengalaman, bukan kopi</a:t>
            </a:r>
            <a:endParaRPr lang="en-US" sz="1000" dirty="0"/>
          </a:p>
        </p:txBody>
      </p:sp>
      <p:sp>
        <p:nvSpPr>
          <p:cNvPr id="25" name="Animasi langkah 9 (zoom) #25"/>
          <p:cNvSpPr/>
          <p:nvPr/>
        </p:nvSpPr>
        <p:spPr>
          <a:xfrm>
            <a:off x="5669280" y="251460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6" name="Animasi langkah 9 (zoom) #26"/>
          <p:cNvSpPr txBox="1"/>
          <p:nvPr/>
        </p:nvSpPr>
        <p:spPr>
          <a:xfrm>
            <a:off x="5760720" y="256946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/ Lynx</a:t>
            </a:r>
            <a:endParaRPr lang="en-US" sz="1200" dirty="0"/>
          </a:p>
        </p:txBody>
      </p:sp>
      <p:sp>
        <p:nvSpPr>
          <p:cNvPr id="27" name="Animasi langkah 9 (zoom) #27"/>
          <p:cNvSpPr txBox="1"/>
          <p:nvPr/>
        </p:nvSpPr>
        <p:spPr>
          <a:xfrm>
            <a:off x="5760720" y="288036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Menjual impian pria muda: "perempuan tertarik padamu"</a:t>
            </a:r>
            <a:endParaRPr lang="en-US" sz="1000" dirty="0"/>
          </a:p>
        </p:txBody>
      </p:sp>
      <p:sp>
        <p:nvSpPr>
          <p:cNvPr id="28" name="Animasi langkah 10 (fade) #28"/>
          <p:cNvSpPr txBox="1"/>
          <p:nvPr/>
        </p:nvSpPr>
        <p:spPr>
          <a:xfrm>
            <a:off x="457200" y="37307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Supreme: </a:t>
            </a:r>
            <a:r>
              <a:rPr lang="en-US" sz="11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eksklusivitas hilang, harga reseller </a:t>
            </a:r>
            <a:r>
              <a:rPr lang="en-US" sz="1100" i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anjlok</a:t>
            </a:r>
            <a:r>
              <a:rPr lang="en-US" sz="1100" i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brand </a:t>
            </a:r>
            <a:r>
              <a:rPr lang="en-US" sz="11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butuh konsistensi.</a:t>
            </a:r>
            <a:endParaRPr lang="en-US" sz="1100" dirty="0"/>
          </a:p>
        </p:txBody>
      </p:sp>
      <p:sp>
        <p:nvSpPr>
          <p:cNvPr id="29" name="Animasi langkah 11 (wipeL) #29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0" name="Animasi langkah 11 (wipeL) #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1" name="Animasi langkah 11 (wipeL) #31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ajak tim berhenti menjual "sak semen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yang dirasakan pelanggan.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4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2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8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66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4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42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8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Dijual SIG? Bukan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Keyakinan</a:t>
            </a:r>
            <a:endParaRPr lang="en-US" sz="2600" dirty="0"/>
          </a:p>
        </p:txBody>
      </p:sp>
      <p:sp>
        <p:nvSpPr>
          <p:cNvPr id="6" name="Animasi langkah 2 (zoom) #6"/>
          <p:cNvSpPr/>
          <p:nvPr/>
        </p:nvSpPr>
        <p:spPr>
          <a:xfrm>
            <a:off x="3474720" y="1188720"/>
            <a:ext cx="2194560" cy="219456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7" name="Animasi langkah 2 (zoom) #7"/>
          <p:cNvSpPr txBox="1"/>
          <p:nvPr/>
        </p:nvSpPr>
        <p:spPr>
          <a:xfrm>
            <a:off x="3474720" y="1188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SIG</a:t>
            </a:r>
            <a:endParaRPr lang="en-US" sz="1700" dirty="0"/>
          </a:p>
        </p:txBody>
      </p:sp>
      <p:sp>
        <p:nvSpPr>
          <p:cNvPr id="8" name="Animasi langkah 3 (up) #8"/>
          <p:cNvSpPr/>
          <p:nvPr/>
        </p:nvSpPr>
        <p:spPr>
          <a:xfrm>
            <a:off x="457200" y="173736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 w="19050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01952"/>
            <a:ext cx="365760" cy="365760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105156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Ketenangan pikiran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bangunannya pasti kuat</a:t>
            </a:r>
            <a:endParaRPr lang="en-US" sz="1250" dirty="0"/>
          </a:p>
        </p:txBody>
      </p:sp>
      <p:sp>
        <p:nvSpPr>
          <p:cNvPr id="11" name="Animasi langkah 4 (up) #11"/>
          <p:cNvSpPr/>
          <p:nvPr/>
        </p:nvSpPr>
        <p:spPr>
          <a:xfrm>
            <a:off x="6035040" y="173736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 w="19050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pic>
        <p:nvPicPr>
          <p:cNvPr id="12" name="Animasi langkah 4 (up) #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01952"/>
            <a:ext cx="365760" cy="365760"/>
          </a:xfrm>
          <a:prstGeom prst="rect">
            <a:avLst/>
          </a:prstGeom>
        </p:spPr>
      </p:pic>
      <p:sp>
        <p:nvSpPr>
          <p:cNvPr id="13" name="Animasi langkah 4 (up) #13"/>
          <p:cNvSpPr txBox="1"/>
          <p:nvPr/>
        </p:nvSpPr>
        <p:spPr>
          <a:xfrm>
            <a:off x="6629400" y="1737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Kebanggaan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produk lokal terpercaya</a:t>
            </a:r>
            <a:endParaRPr lang="en-US" sz="1250" dirty="0"/>
          </a:p>
        </p:txBody>
      </p:sp>
      <p:sp>
        <p:nvSpPr>
          <p:cNvPr id="14" name="Animasi langkah 5 (up) #14"/>
          <p:cNvSpPr/>
          <p:nvPr/>
        </p:nvSpPr>
        <p:spPr>
          <a:xfrm>
            <a:off x="3246120" y="361188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 w="19050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pic>
        <p:nvPicPr>
          <p:cNvPr id="15" name="Animasi langkah 5 (up) #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776472"/>
            <a:ext cx="365760" cy="365760"/>
          </a:xfrm>
          <a:prstGeom prst="rect">
            <a:avLst/>
          </a:prstGeom>
        </p:spPr>
      </p:pic>
      <p:sp>
        <p:nvSpPr>
          <p:cNvPr id="16" name="Animasi langkah 5 (up) #16"/>
          <p:cNvSpPr txBox="1"/>
          <p:nvPr/>
        </p:nvSpPr>
        <p:spPr>
          <a:xfrm>
            <a:off x="3840480" y="3611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Percaya diri</a:t>
            </a:r>
            <a:endParaRPr lang="en-US" sz="12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seorang tukang profesional</a:t>
            </a:r>
            <a:endParaRPr lang="en-US" sz="1250" dirty="0"/>
          </a:p>
        </p:txBody>
      </p:sp>
      <p:sp>
        <p:nvSpPr>
          <p:cNvPr id="17" name="Animasi langkah 6 (fade) #17"/>
          <p:cNvSpPr txBox="1"/>
          <p:nvPr/>
        </p:nvSpPr>
        <p:spPr>
          <a:xfrm>
            <a:off x="4572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Starbucks menjual "third place" dan LV </a:t>
            </a:r>
            <a:r>
              <a:rPr lang="en-US" sz="1100" i="1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menjual</a:t>
            </a: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 </a:t>
            </a:r>
            <a:r>
              <a:rPr lang="en-US" sz="110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r>
              <a:rPr lang="en-US" sz="110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atau kombinasi janji inilah Proposition sesungguhnya.</a:t>
            </a:r>
            <a:endParaRPr lang="en-US" sz="1100" dirty="0"/>
          </a:p>
        </p:txBody>
      </p:sp>
      <p:sp>
        <p:nvSpPr>
          <p:cNvPr id="18" name="Animasi langkah 6 (fade) #18"/>
          <p:cNvSpPr txBox="1"/>
          <p:nvPr/>
        </p:nvSpPr>
        <p:spPr>
          <a:xfrm>
            <a:off x="594360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i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beyond just product and services. Apa brand promise Anda?</a:t>
            </a:r>
            <a:endParaRPr lang="en-US" sz="1150" dirty="0"/>
          </a:p>
        </p:txBody>
      </p:sp>
      <p:sp>
        <p:nvSpPr>
          <p:cNvPr id="19" name="Animasi langkah 7 (wipeL) #19"/>
          <p:cNvSpPr/>
          <p:nvPr/>
        </p:nvSpPr>
        <p:spPr>
          <a:xfrm>
            <a:off x="457200" y="4434840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0" name="Animasi langkah 7 (wipeL) #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21" name="Animasi langkah 7 (wipeL) #21"/>
          <p:cNvSpPr txBox="1"/>
          <p:nvPr/>
        </p:nvSpPr>
        <p:spPr>
          <a:xfrm>
            <a:off x="987552" y="443484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satu kalimat janji merek yang konsisten diucapkan seluruh tim saat kunjungan toko.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6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4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2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9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28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Proposition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merek yang otentik, relevan, dan bisa dipertahankan</a:t>
            </a:r>
            <a:endParaRPr lang="en-US" sz="1250" dirty="0"/>
          </a:p>
        </p:txBody>
      </p:sp>
      <p:sp>
        <p:nvSpPr>
          <p:cNvPr id="7" name="Animasi langkah 3 (fade) #7"/>
          <p:cNvSpPr/>
          <p:nvPr/>
        </p:nvSpPr>
        <p:spPr>
          <a:xfrm>
            <a:off x="457200" y="132588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</p:spPr>
      </p:sp>
      <p:sp>
        <p:nvSpPr>
          <p:cNvPr id="8" name="Animasi langkah 3 (fade) #8"/>
          <p:cNvSpPr txBox="1"/>
          <p:nvPr/>
        </p:nvSpPr>
        <p:spPr>
          <a:xfrm>
            <a:off x="54864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/ Heritage</a:t>
            </a:r>
            <a:endParaRPr lang="en-US" sz="1150" dirty="0"/>
          </a:p>
        </p:txBody>
      </p:sp>
      <p:sp>
        <p:nvSpPr>
          <p:cNvPr id="9" name="Animasi langkah 3 (fade) #9"/>
          <p:cNvSpPr txBox="1"/>
          <p:nvPr/>
        </p:nvSpPr>
        <p:spPr>
          <a:xfrm>
            <a:off x="548640" y="16550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Lokal, BUMN, puluhan tahun</a:t>
            </a:r>
            <a:endParaRPr lang="en-US" sz="1000" dirty="0"/>
          </a:p>
        </p:txBody>
      </p:sp>
      <p:sp>
        <p:nvSpPr>
          <p:cNvPr id="10" name="Animasi langkah 4 (fade) #10"/>
          <p:cNvSpPr/>
          <p:nvPr/>
        </p:nvSpPr>
        <p:spPr>
          <a:xfrm>
            <a:off x="2542032" y="132588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</p:spPr>
      </p:sp>
      <p:sp>
        <p:nvSpPr>
          <p:cNvPr id="11" name="Animasi langkah 4 (fade) #11"/>
          <p:cNvSpPr txBox="1"/>
          <p:nvPr/>
        </p:nvSpPr>
        <p:spPr>
          <a:xfrm>
            <a:off x="2633472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50" dirty="0"/>
          </a:p>
        </p:txBody>
      </p:sp>
      <p:sp>
        <p:nvSpPr>
          <p:cNvPr id="12" name="Animasi langkah 4 (fade) #12"/>
          <p:cNvSpPr txBox="1"/>
          <p:nvPr/>
        </p:nvSpPr>
        <p:spPr>
          <a:xfrm>
            <a:off x="2633472" y="16550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Roda, Holcim, Conch, regional</a:t>
            </a:r>
            <a:endParaRPr lang="en-US" sz="1000" dirty="0"/>
          </a:p>
        </p:txBody>
      </p:sp>
      <p:sp>
        <p:nvSpPr>
          <p:cNvPr id="13" name="Animasi langkah 5 (fade) #13"/>
          <p:cNvSpPr/>
          <p:nvPr/>
        </p:nvSpPr>
        <p:spPr>
          <a:xfrm>
            <a:off x="4626864" y="132588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14" name="Animasi langkah 5 (fade) #14"/>
          <p:cNvSpPr txBox="1"/>
          <p:nvPr/>
        </p:nvSpPr>
        <p:spPr>
          <a:xfrm>
            <a:off x="4718304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Consumer</a:t>
            </a:r>
            <a:endParaRPr lang="en-US" sz="1150" dirty="0"/>
          </a:p>
        </p:txBody>
      </p:sp>
      <p:sp>
        <p:nvSpPr>
          <p:cNvPr id="15" name="Animasi langkah 5 (fade) #15"/>
          <p:cNvSpPr txBox="1"/>
          <p:nvPr/>
        </p:nvSpPr>
        <p:spPr>
          <a:xfrm>
            <a:off x="4718304" y="16550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Tukang pro, kontraktor menengah</a:t>
            </a:r>
            <a:endParaRPr lang="en-US" sz="1000" dirty="0"/>
          </a:p>
        </p:txBody>
      </p:sp>
      <p:sp>
        <p:nvSpPr>
          <p:cNvPr id="16" name="Animasi langkah 6 (fade) #16"/>
          <p:cNvSpPr/>
          <p:nvPr/>
        </p:nvSpPr>
        <p:spPr>
          <a:xfrm>
            <a:off x="6711696" y="132588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17" name="Animasi langkah 6 (fade) #17"/>
          <p:cNvSpPr txBox="1"/>
          <p:nvPr/>
        </p:nvSpPr>
        <p:spPr>
          <a:xfrm>
            <a:off x="6803136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</a:t>
            </a:r>
            <a:endParaRPr lang="en-US" sz="1150" dirty="0"/>
          </a:p>
        </p:txBody>
      </p:sp>
      <p:sp>
        <p:nvSpPr>
          <p:cNvPr id="18" name="Animasi langkah 6 (fade) #18"/>
          <p:cNvSpPr txBox="1"/>
          <p:nvPr/>
        </p:nvSpPr>
        <p:spPr>
          <a:xfrm>
            <a:off x="6803136" y="165506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Bangga lokal, takut gagal konstruksi</a:t>
            </a:r>
            <a:endParaRPr lang="en-US" sz="1000" dirty="0"/>
          </a:p>
        </p:txBody>
      </p:sp>
      <p:sp>
        <p:nvSpPr>
          <p:cNvPr id="19" name="Animasi langkah 7 (fade) #19"/>
          <p:cNvSpPr/>
          <p:nvPr/>
        </p:nvSpPr>
        <p:spPr>
          <a:xfrm>
            <a:off x="457200" y="228600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20" name="Animasi langkah 7 (fade) #20"/>
          <p:cNvSpPr txBox="1"/>
          <p:nvPr/>
        </p:nvSpPr>
        <p:spPr>
          <a:xfrm>
            <a:off x="54864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Benefit</a:t>
            </a:r>
            <a:endParaRPr lang="en-US" sz="1150" dirty="0"/>
          </a:p>
        </p:txBody>
      </p:sp>
      <p:sp>
        <p:nvSpPr>
          <p:cNvPr id="21" name="Animasi langkah 7 (fade) #21"/>
          <p:cNvSpPr txBox="1"/>
          <p:nvPr/>
        </p:nvSpPr>
        <p:spPr>
          <a:xfrm>
            <a:off x="548640" y="26151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Kuat, konsisten, tersedia luas</a:t>
            </a:r>
            <a:endParaRPr lang="en-US" sz="1000" dirty="0"/>
          </a:p>
        </p:txBody>
      </p:sp>
      <p:sp>
        <p:nvSpPr>
          <p:cNvPr id="22" name="Animasi langkah 8 (fade) #22"/>
          <p:cNvSpPr/>
          <p:nvPr/>
        </p:nvSpPr>
        <p:spPr>
          <a:xfrm>
            <a:off x="2542032" y="228600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23" name="Animasi langkah 8 (fade) #23"/>
          <p:cNvSpPr txBox="1"/>
          <p:nvPr/>
        </p:nvSpPr>
        <p:spPr>
          <a:xfrm>
            <a:off x="2633472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Benefit</a:t>
            </a:r>
            <a:endParaRPr lang="en-US" sz="1150" dirty="0"/>
          </a:p>
        </p:txBody>
      </p:sp>
      <p:sp>
        <p:nvSpPr>
          <p:cNvPr id="24" name="Animasi langkah 8 (fade) #24"/>
          <p:cNvSpPr txBox="1"/>
          <p:nvPr/>
        </p:nvSpPr>
        <p:spPr>
          <a:xfrm>
            <a:off x="2633472" y="26151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Percaya diri, bangga, merasa aman</a:t>
            </a:r>
            <a:endParaRPr lang="en-US" sz="1000" dirty="0"/>
          </a:p>
        </p:txBody>
      </p:sp>
      <p:sp>
        <p:nvSpPr>
          <p:cNvPr id="25" name="Animasi langkah 9 (fade) #25"/>
          <p:cNvSpPr/>
          <p:nvPr/>
        </p:nvSpPr>
        <p:spPr>
          <a:xfrm>
            <a:off x="4626864" y="228600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sp>
        <p:nvSpPr>
          <p:cNvPr id="26" name="Animasi langkah 9 (fade) #26"/>
          <p:cNvSpPr txBox="1"/>
          <p:nvPr/>
        </p:nvSpPr>
        <p:spPr>
          <a:xfrm>
            <a:off x="4718304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Values</a:t>
            </a:r>
            <a:endParaRPr lang="en-US" sz="1150" dirty="0"/>
          </a:p>
        </p:txBody>
      </p:sp>
      <p:sp>
        <p:nvSpPr>
          <p:cNvPr id="27" name="Animasi langkah 9 (fade) #27"/>
          <p:cNvSpPr txBox="1"/>
          <p:nvPr/>
        </p:nvSpPr>
        <p:spPr>
          <a:xfrm>
            <a:off x="4718304" y="26151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Andal, inovatif, nasional, berkelanjutan</a:t>
            </a:r>
            <a:endParaRPr lang="en-US" sz="1000" dirty="0"/>
          </a:p>
        </p:txBody>
      </p:sp>
      <p:sp>
        <p:nvSpPr>
          <p:cNvPr id="28" name="Animasi langkah 10 (fade) #28"/>
          <p:cNvSpPr/>
          <p:nvPr/>
        </p:nvSpPr>
        <p:spPr>
          <a:xfrm>
            <a:off x="6711696" y="2286000"/>
            <a:ext cx="1938528" cy="841248"/>
          </a:xfrm>
          <a:prstGeom prst="roundRect">
            <a:avLst>
              <a:gd name="adj" fmla="val 13043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sp>
        <p:nvSpPr>
          <p:cNvPr id="29" name="Animasi langkah 10 (fade) #29"/>
          <p:cNvSpPr txBox="1"/>
          <p:nvPr/>
        </p:nvSpPr>
        <p:spPr>
          <a:xfrm>
            <a:off x="6803136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150" dirty="0"/>
          </a:p>
        </p:txBody>
      </p:sp>
      <p:sp>
        <p:nvSpPr>
          <p:cNvPr id="30" name="Animasi langkah 10 (fade) #30"/>
          <p:cNvSpPr txBox="1"/>
          <p:nvPr/>
        </p:nvSpPr>
        <p:spPr>
          <a:xfrm>
            <a:off x="6803136" y="26151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nasional + distribusi terluas</a:t>
            </a:r>
            <a:endParaRPr lang="en-US" sz="1000" dirty="0"/>
          </a:p>
        </p:txBody>
      </p:sp>
      <p:sp>
        <p:nvSpPr>
          <p:cNvPr id="31" name="Animasi langkah 11 (zoom) #31"/>
          <p:cNvSpPr/>
          <p:nvPr/>
        </p:nvSpPr>
        <p:spPr>
          <a:xfrm>
            <a:off x="1828800" y="3337560"/>
            <a:ext cx="5486400" cy="658368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 w="9525">
            <a:solidFill>
              <a:srgbClr val="1F7A5C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32" name="Animasi langkah 11 (zoom) #32"/>
          <p:cNvSpPr txBox="1"/>
          <p:nvPr/>
        </p:nvSpPr>
        <p:spPr>
          <a:xfrm>
            <a:off x="1828800" y="33375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ESSENCE 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"Fondasi Kepercayaan Indonesia"</a:t>
            </a:r>
            <a:endParaRPr lang="en-US" sz="1200" dirty="0"/>
          </a:p>
        </p:txBody>
      </p:sp>
      <p:sp>
        <p:nvSpPr>
          <p:cNvPr id="33" name="Animasi langkah 12 (fade) #33"/>
          <p:cNvSpPr txBox="1"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Starbucks: essence "Third Place</a:t>
            </a:r>
            <a:r>
              <a:rPr lang="en-US" sz="100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00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00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barista tak mengusir pelanggan yang duduk berjam-jam.</a:t>
            </a:r>
            <a:endParaRPr lang="en-US" sz="1000" dirty="0"/>
          </a:p>
        </p:txBody>
      </p:sp>
      <p:sp>
        <p:nvSpPr>
          <p:cNvPr id="34" name="Animasi langkah 13 (wipeL) #34"/>
          <p:cNvSpPr/>
          <p:nvPr/>
        </p:nvSpPr>
        <p:spPr>
          <a:xfrm>
            <a:off x="457200" y="4434840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5" name="Animasi langkah 13 (wipeL) #3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6" name="Animasi langkah 13 (wipeL) #36"/>
          <p:cNvSpPr txBox="1"/>
          <p:nvPr/>
        </p:nvSpPr>
        <p:spPr>
          <a:xfrm>
            <a:off x="987552" y="443484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pesan lokal cabang tetap selaras dengan Brand DNA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jangan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janji sendiri.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2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8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66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4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42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8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18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56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 Tangga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dari konsistensi, bukan semalam</a:t>
            </a:r>
            <a:endParaRPr lang="en-US" sz="1250" dirty="0"/>
          </a:p>
        </p:txBody>
      </p:sp>
      <p:sp>
        <p:nvSpPr>
          <p:cNvPr id="7" name="Animasi langkah 3 (wipeU) #7"/>
          <p:cNvSpPr/>
          <p:nvPr/>
        </p:nvSpPr>
        <p:spPr>
          <a:xfrm>
            <a:off x="457200" y="32461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wipeU) #8"/>
          <p:cNvSpPr txBox="1"/>
          <p:nvPr/>
        </p:nvSpPr>
        <p:spPr>
          <a:xfrm>
            <a:off x="502920" y="33192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1250" dirty="0"/>
          </a:p>
        </p:txBody>
      </p:sp>
      <p:sp>
        <p:nvSpPr>
          <p:cNvPr id="9" name="Animasi langkah 3 (wipeU) #9"/>
          <p:cNvSpPr txBox="1"/>
          <p:nvPr/>
        </p:nvSpPr>
        <p:spPr>
          <a:xfrm>
            <a:off x="530352" y="36118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 merek ada</a:t>
            </a:r>
            <a:endParaRPr lang="en-US" sz="950" dirty="0"/>
          </a:p>
        </p:txBody>
      </p:sp>
      <p:sp>
        <p:nvSpPr>
          <p:cNvPr id="10" name="Animasi langkah 4 (wipeU) #10"/>
          <p:cNvSpPr/>
          <p:nvPr/>
        </p:nvSpPr>
        <p:spPr>
          <a:xfrm>
            <a:off x="2029968" y="27432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1" name="Animasi langkah 4 (wipeU) #11"/>
          <p:cNvSpPr txBox="1"/>
          <p:nvPr/>
        </p:nvSpPr>
        <p:spPr>
          <a:xfrm>
            <a:off x="2075688" y="28163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250" dirty="0"/>
          </a:p>
        </p:txBody>
      </p:sp>
      <p:sp>
        <p:nvSpPr>
          <p:cNvPr id="12" name="Animasi langkah 4 (wipeU) #12"/>
          <p:cNvSpPr txBox="1"/>
          <p:nvPr/>
        </p:nvSpPr>
        <p:spPr>
          <a:xfrm>
            <a:off x="2103120" y="31089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Percaya lebih baik</a:t>
            </a:r>
            <a:endParaRPr lang="en-US" sz="950" dirty="0"/>
          </a:p>
        </p:txBody>
      </p:sp>
      <p:sp>
        <p:nvSpPr>
          <p:cNvPr id="13" name="Animasi langkah 4 (wipeU) #13"/>
          <p:cNvSpPr txBox="1"/>
          <p:nvPr/>
        </p:nvSpPr>
        <p:spPr>
          <a:xfrm>
            <a:off x="2103120" y="35661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Benefit, testimoni</a:t>
            </a:r>
            <a:endParaRPr lang="en-US" sz="900" dirty="0"/>
          </a:p>
        </p:txBody>
      </p:sp>
      <p:sp>
        <p:nvSpPr>
          <p:cNvPr id="14" name="Animasi langkah 5 (wipeU) #14"/>
          <p:cNvSpPr/>
          <p:nvPr/>
        </p:nvSpPr>
        <p:spPr>
          <a:xfrm>
            <a:off x="3602736" y="224028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5" name="Animasi langkah 5 (wipeU) #15"/>
          <p:cNvSpPr txBox="1"/>
          <p:nvPr/>
        </p:nvSpPr>
        <p:spPr>
          <a:xfrm>
            <a:off x="3648456" y="23134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</a:t>
            </a:r>
            <a:endParaRPr lang="en-US" sz="1250" dirty="0"/>
          </a:p>
        </p:txBody>
      </p:sp>
      <p:sp>
        <p:nvSpPr>
          <p:cNvPr id="16" name="Animasi langkah 5 (wipeU) #16"/>
          <p:cNvSpPr txBox="1"/>
          <p:nvPr/>
        </p:nvSpPr>
        <p:spPr>
          <a:xfrm>
            <a:off x="3675888" y="260604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Terikat emosional</a:t>
            </a:r>
            <a:endParaRPr lang="en-US" sz="950" dirty="0"/>
          </a:p>
        </p:txBody>
      </p:sp>
      <p:sp>
        <p:nvSpPr>
          <p:cNvPr id="17" name="Animasi langkah 5 (wipeU) #17"/>
          <p:cNvSpPr txBox="1"/>
          <p:nvPr/>
        </p:nvSpPr>
        <p:spPr>
          <a:xfrm>
            <a:off x="3675888" y="30632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Komunitas, loyalitas</a:t>
            </a:r>
            <a:endParaRPr lang="en-US" sz="900" dirty="0"/>
          </a:p>
        </p:txBody>
      </p:sp>
      <p:sp>
        <p:nvSpPr>
          <p:cNvPr id="18" name="Animasi langkah 6 (wipeU) #18"/>
          <p:cNvSpPr/>
          <p:nvPr/>
        </p:nvSpPr>
        <p:spPr>
          <a:xfrm>
            <a:off x="5175504" y="1737360"/>
            <a:ext cx="1481328" cy="2423160"/>
          </a:xfrm>
          <a:prstGeom prst="roundRect">
            <a:avLst>
              <a:gd name="adj" fmla="val 4938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9" name="Animasi langkah 6 (wipeU) #19"/>
          <p:cNvSpPr txBox="1"/>
          <p:nvPr/>
        </p:nvSpPr>
        <p:spPr>
          <a:xfrm>
            <a:off x="5221224" y="181051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</a:t>
            </a:r>
            <a:endParaRPr lang="en-US" sz="1250" dirty="0"/>
          </a:p>
        </p:txBody>
      </p:sp>
      <p:sp>
        <p:nvSpPr>
          <p:cNvPr id="20" name="Animasi langkah 6 (wipeU) #20"/>
          <p:cNvSpPr txBox="1"/>
          <p:nvPr/>
        </p:nvSpPr>
        <p:spPr>
          <a:xfrm>
            <a:off x="5248656" y="21031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mau ganti meski ada yang murah</a:t>
            </a:r>
            <a:endParaRPr lang="en-US" sz="950" dirty="0"/>
          </a:p>
        </p:txBody>
      </p:sp>
      <p:sp>
        <p:nvSpPr>
          <p:cNvPr id="21" name="Animasi langkah 6 (wipeU) #21"/>
          <p:cNvSpPr txBox="1"/>
          <p:nvPr/>
        </p:nvSpPr>
        <p:spPr>
          <a:xfrm>
            <a:off x="5248656" y="256032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di semua titik</a:t>
            </a:r>
            <a:endParaRPr lang="en-US" sz="900" dirty="0"/>
          </a:p>
        </p:txBody>
      </p:sp>
      <p:sp>
        <p:nvSpPr>
          <p:cNvPr id="22" name="Animasi langkah 7 (zoom) #22"/>
          <p:cNvSpPr/>
          <p:nvPr/>
        </p:nvSpPr>
        <p:spPr>
          <a:xfrm>
            <a:off x="6858000" y="132588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7 (zoom) #23"/>
          <p:cNvSpPr txBox="1"/>
          <p:nvPr/>
        </p:nvSpPr>
        <p:spPr>
          <a:xfrm>
            <a:off x="685800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24" name="Animasi langkah 7 (zoom) #24"/>
          <p:cNvSpPr txBox="1"/>
          <p:nvPr/>
        </p:nvSpPr>
        <p:spPr>
          <a:xfrm>
            <a:off x="6949440" y="20574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Semen Padang di </a:t>
            </a:r>
            <a:r>
              <a:rPr lang="en-US" sz="9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Sumbar</a:t>
            </a:r>
            <a:r>
              <a:rPr lang="en-US" sz="9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berkat</a:t>
            </a:r>
            <a:r>
              <a:rPr lang="en-US" sz="9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 emosional</a:t>
            </a:r>
            <a:endParaRPr lang="en-US" sz="950" dirty="0"/>
          </a:p>
        </p:txBody>
      </p:sp>
      <p:sp>
        <p:nvSpPr>
          <p:cNvPr id="25" name="Animasi langkah 8 (fade) #25"/>
          <p:cNvSpPr txBox="1"/>
          <p:nvPr/>
        </p:nvSpPr>
        <p:spPr>
          <a:xfrm>
            <a:off x="6858000" y="28346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umum: terus belanja awareness padahal sudah di </a:t>
            </a:r>
            <a:r>
              <a:rPr lang="en-US" sz="1000" i="1" dirty="0" err="1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</a:t>
            </a:r>
            <a:r>
              <a:rPr lang="en-US" sz="1000" i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smtClean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Advantage. atau </a:t>
            </a:r>
            <a:r>
              <a:rPr lang="en-US" sz="1000" i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premiumization sebelum Bonding.</a:t>
            </a:r>
            <a:endParaRPr lang="en-US" sz="1000" dirty="0"/>
          </a:p>
        </p:txBody>
      </p:sp>
      <p:sp>
        <p:nvSpPr>
          <p:cNvPr id="26" name="Animasi langkah 9 (wipeL) #26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7" name="Animasi langkah 9 (wipeL) #2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8" name="Animasi langkah 9 (wipeL) #28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 anak tangga mana merek Anda berdiri per wilayah, baru tentukan aktivitas &amp; anggaran.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4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2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28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66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4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New Packaging: Proposition Nyata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"Semen tanpa kemasan bagus itu tidak keren"</a:t>
            </a:r>
            <a:endParaRPr lang="en-US" sz="1250" dirty="0"/>
          </a:p>
        </p:txBody>
      </p:sp>
      <p:sp>
        <p:nvSpPr>
          <p:cNvPr id="7" name="Animasi langkah 3 (fade) #7"/>
          <p:cNvSpPr txBox="1"/>
          <p:nvPr/>
        </p:nvSpPr>
        <p:spPr>
          <a:xfrm>
            <a:off x="23774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</a:t>
            </a:r>
            <a:endParaRPr lang="en-US" sz="1200" dirty="0"/>
          </a:p>
        </p:txBody>
      </p:sp>
      <p:sp>
        <p:nvSpPr>
          <p:cNvPr id="8" name="Animasi langkah 3 (fade) #8"/>
          <p:cNvSpPr txBox="1"/>
          <p:nvPr/>
        </p:nvSpPr>
        <p:spPr>
          <a:xfrm>
            <a:off x="57607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1200" dirty="0"/>
          </a:p>
        </p:txBody>
      </p:sp>
      <p:sp>
        <p:nvSpPr>
          <p:cNvPr id="9" name="Animasi langkah 4 (fade) #9"/>
          <p:cNvSpPr txBox="1"/>
          <p:nvPr/>
        </p:nvSpPr>
        <p:spPr>
          <a:xfrm>
            <a:off x="45720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00" dirty="0"/>
          </a:p>
        </p:txBody>
      </p:sp>
      <p:sp>
        <p:nvSpPr>
          <p:cNvPr id="10" name="Animasi langkah 4 (fade) #10"/>
          <p:cNvSpPr/>
          <p:nvPr/>
        </p:nvSpPr>
        <p:spPr>
          <a:xfrm>
            <a:off x="2377440" y="1645920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</p:spPr>
      </p:sp>
      <p:sp>
        <p:nvSpPr>
          <p:cNvPr id="11" name="Animasi langkah 4 (fade) #11"/>
          <p:cNvSpPr txBox="1"/>
          <p:nvPr/>
        </p:nvSpPr>
        <p:spPr>
          <a:xfrm>
            <a:off x="2468880" y="16459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Fungsional, teknis dominan</a:t>
            </a:r>
            <a:endParaRPr lang="en-US" sz="1050" dirty="0"/>
          </a:p>
        </p:txBody>
      </p:sp>
      <p:sp>
        <p:nvSpPr>
          <p:cNvPr id="12" name="Animasi langkah 4 (wipeL) #12"/>
          <p:cNvSpPr/>
          <p:nvPr/>
        </p:nvSpPr>
        <p:spPr>
          <a:xfrm>
            <a:off x="5230368" y="1783080"/>
            <a:ext cx="41148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3" name="Animasi langkah 4 (wipeL) #13"/>
          <p:cNvSpPr/>
          <p:nvPr/>
        </p:nvSpPr>
        <p:spPr>
          <a:xfrm>
            <a:off x="5760720" y="1645920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14" name="Animasi langkah 4 (wipeL) #14"/>
          <p:cNvSpPr txBox="1"/>
          <p:nvPr/>
        </p:nvSpPr>
        <p:spPr>
          <a:xfrm>
            <a:off x="5852160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eksklusif, artistik</a:t>
            </a:r>
            <a:endParaRPr lang="en-US" sz="1050" dirty="0"/>
          </a:p>
        </p:txBody>
      </p:sp>
      <p:sp>
        <p:nvSpPr>
          <p:cNvPr id="15" name="Animasi langkah 5 (fade) #15"/>
          <p:cNvSpPr txBox="1"/>
          <p:nvPr/>
        </p:nvSpPr>
        <p:spPr>
          <a:xfrm>
            <a:off x="457200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nasional</a:t>
            </a:r>
            <a:endParaRPr lang="en-US" sz="1200" dirty="0"/>
          </a:p>
        </p:txBody>
      </p:sp>
      <p:sp>
        <p:nvSpPr>
          <p:cNvPr id="16" name="Animasi langkah 5 (fade) #16"/>
          <p:cNvSpPr/>
          <p:nvPr/>
        </p:nvSpPr>
        <p:spPr>
          <a:xfrm>
            <a:off x="2377440" y="2286000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</p:spPr>
      </p:sp>
      <p:sp>
        <p:nvSpPr>
          <p:cNvPr id="17" name="Animasi langkah 5 (fade) #17"/>
          <p:cNvSpPr txBox="1"/>
          <p:nvPr/>
        </p:nvSpPr>
        <p:spPr>
          <a:xfrm>
            <a:off x="2468880" y="2286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ditonjolkan</a:t>
            </a:r>
            <a:endParaRPr lang="en-US" sz="1050" dirty="0"/>
          </a:p>
        </p:txBody>
      </p:sp>
      <p:sp>
        <p:nvSpPr>
          <p:cNvPr id="18" name="Animasi langkah 5 (wipeL) #18"/>
          <p:cNvSpPr/>
          <p:nvPr/>
        </p:nvSpPr>
        <p:spPr>
          <a:xfrm>
            <a:off x="5230368" y="2423160"/>
            <a:ext cx="41148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9" name="Animasi langkah 5 (wipeL) #19"/>
          <p:cNvSpPr/>
          <p:nvPr/>
        </p:nvSpPr>
        <p:spPr>
          <a:xfrm>
            <a:off x="5760720" y="2286000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20" name="Animasi langkah 5 (wipeL) #20"/>
          <p:cNvSpPr txBox="1"/>
          <p:nvPr/>
        </p:nvSpPr>
        <p:spPr>
          <a:xfrm>
            <a:off x="5852160" y="2286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Indonesia sebagai DNA visual</a:t>
            </a:r>
            <a:endParaRPr lang="en-US" sz="1050" dirty="0"/>
          </a:p>
        </p:txBody>
      </p:sp>
      <p:sp>
        <p:nvSpPr>
          <p:cNvPr id="21" name="Animasi langkah 6 (fade) #21"/>
          <p:cNvSpPr txBox="1"/>
          <p:nvPr/>
        </p:nvSpPr>
        <p:spPr>
          <a:xfrm>
            <a:off x="457200" y="2926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 merek</a:t>
            </a:r>
            <a:endParaRPr lang="en-US" sz="1200" dirty="0"/>
          </a:p>
        </p:txBody>
      </p:sp>
      <p:sp>
        <p:nvSpPr>
          <p:cNvPr id="22" name="Animasi langkah 6 (fade) #22"/>
          <p:cNvSpPr/>
          <p:nvPr/>
        </p:nvSpPr>
        <p:spPr>
          <a:xfrm>
            <a:off x="2377440" y="2926080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</p:spPr>
      </p:sp>
      <p:sp>
        <p:nvSpPr>
          <p:cNvPr id="23" name="Animasi langkah 6 (fade) #23"/>
          <p:cNvSpPr txBox="1"/>
          <p:nvPr/>
        </p:nvSpPr>
        <p:spPr>
          <a:xfrm>
            <a:off x="2468880" y="29260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merek SIG mirip</a:t>
            </a:r>
            <a:endParaRPr lang="en-US" sz="1050" dirty="0"/>
          </a:p>
        </p:txBody>
      </p:sp>
      <p:sp>
        <p:nvSpPr>
          <p:cNvPr id="24" name="Animasi langkah 6 (wipeL) #24"/>
          <p:cNvSpPr/>
          <p:nvPr/>
        </p:nvSpPr>
        <p:spPr>
          <a:xfrm>
            <a:off x="5230368" y="3063240"/>
            <a:ext cx="41148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25" name="Animasi langkah 6 (wipeL) #25"/>
          <p:cNvSpPr/>
          <p:nvPr/>
        </p:nvSpPr>
        <p:spPr>
          <a:xfrm>
            <a:off x="5760720" y="2926080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26" name="Animasi langkah 6 (wipeL) #26"/>
          <p:cNvSpPr txBox="1"/>
          <p:nvPr/>
        </p:nvSpPr>
        <p:spPr>
          <a:xfrm>
            <a:off x="5852160" y="2926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jelas: SG, Padang, Tonasa, dll.</a:t>
            </a:r>
            <a:endParaRPr lang="en-US" sz="1050" dirty="0"/>
          </a:p>
        </p:txBody>
      </p:sp>
      <p:sp>
        <p:nvSpPr>
          <p:cNvPr id="27" name="Animasi langkah 7 (fade) #27"/>
          <p:cNvSpPr txBox="1"/>
          <p:nvPr/>
        </p:nvSpPr>
        <p:spPr>
          <a:xfrm>
            <a:off x="457200" y="35661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dipegang</a:t>
            </a:r>
            <a:endParaRPr lang="en-US" sz="1200" dirty="0"/>
          </a:p>
        </p:txBody>
      </p:sp>
      <p:sp>
        <p:nvSpPr>
          <p:cNvPr id="28" name="Animasi langkah 7 (fade) #28"/>
          <p:cNvSpPr/>
          <p:nvPr/>
        </p:nvSpPr>
        <p:spPr>
          <a:xfrm>
            <a:off x="2377440" y="3566160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</p:spPr>
      </p:sp>
      <p:sp>
        <p:nvSpPr>
          <p:cNvPr id="29" name="Animasi langkah 7 (fade) #29"/>
          <p:cNvSpPr txBox="1"/>
          <p:nvPr/>
        </p:nvSpPr>
        <p:spPr>
          <a:xfrm>
            <a:off x="2468880" y="35661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komoditas</a:t>
            </a:r>
            <a:endParaRPr lang="en-US" sz="1050" dirty="0"/>
          </a:p>
        </p:txBody>
      </p:sp>
      <p:sp>
        <p:nvSpPr>
          <p:cNvPr id="30" name="Animasi langkah 7 (wipeL) #30"/>
          <p:cNvSpPr/>
          <p:nvPr/>
        </p:nvSpPr>
        <p:spPr>
          <a:xfrm>
            <a:off x="5230368" y="3703320"/>
            <a:ext cx="41148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31" name="Animasi langkah 7 (wipeL) #31"/>
          <p:cNvSpPr/>
          <p:nvPr/>
        </p:nvSpPr>
        <p:spPr>
          <a:xfrm>
            <a:off x="5760720" y="3566160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32" name="Animasi langkah 7 (wipeL) #32"/>
          <p:cNvSpPr txBox="1"/>
          <p:nvPr/>
        </p:nvSpPr>
        <p:spPr>
          <a:xfrm>
            <a:off x="5852160" y="35661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Tukang bangga menggunakannya</a:t>
            </a:r>
            <a:endParaRPr lang="en-US" sz="1050" dirty="0"/>
          </a:p>
        </p:txBody>
      </p:sp>
      <p:sp>
        <p:nvSpPr>
          <p:cNvPr id="33" name="Animasi langkah 8 (wipeL) #33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4" name="Animasi langkah 8 (wipeL) #3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5" name="Animasi langkah 8 (wipeL) #35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kemasan baru terpajang di posisi depan toko &amp; ceritakan maknanya ke pemilik toko dan tukang.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4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2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9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8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66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Dari Product-Driven ke Customer-Centric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= seluruh pengalaman: fungsi, kemasan, layanan, garansi, persepsi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716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EEF0F4"/>
          </a:solidFill>
          <a:ln w="9525">
            <a:solidFill>
              <a:srgbClr val="EEF0F4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619402"/>
            <a:ext cx="281635" cy="281635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128016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Product-Driven (lama)</a:t>
            </a:r>
            <a:endParaRPr lang="en-US" sz="14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640080" y="2103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dulu sesuai kemampuan pabrik → baru cari pembeli. Risiko: produk bagus tapi tak ada yang beli.</a:t>
            </a:r>
            <a:endParaRPr lang="en-US" sz="1100" dirty="0"/>
          </a:p>
        </p:txBody>
      </p:sp>
      <p:sp>
        <p:nvSpPr>
          <p:cNvPr id="12" name="Animasi langkah 4 (wipeL) #12"/>
          <p:cNvSpPr/>
          <p:nvPr/>
        </p:nvSpPr>
        <p:spPr>
          <a:xfrm>
            <a:off x="4462272" y="2103120"/>
            <a:ext cx="274320" cy="256032"/>
          </a:xfrm>
          <a:prstGeom prst="rightArrow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3" name="Animasi langkah 5 (up) #13"/>
          <p:cNvSpPr/>
          <p:nvPr/>
        </p:nvSpPr>
        <p:spPr>
          <a:xfrm>
            <a:off x="4754880" y="13716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4" name="Animasi langkah 5 (up) #14"/>
          <p:cNvSpPr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Animasi langkah 5 (up) #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402" y="1619402"/>
            <a:ext cx="281635" cy="281635"/>
          </a:xfrm>
          <a:prstGeom prst="rect">
            <a:avLst/>
          </a:prstGeom>
        </p:spPr>
      </p:pic>
      <p:sp>
        <p:nvSpPr>
          <p:cNvPr id="16" name="Animasi langkah 5 (up) #16"/>
          <p:cNvSpPr txBox="1"/>
          <p:nvPr/>
        </p:nvSpPr>
        <p:spPr>
          <a:xfrm>
            <a:off x="557784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Customer-Centric (baru)</a:t>
            </a:r>
            <a:endParaRPr lang="en-US" sz="1400" dirty="0"/>
          </a:p>
        </p:txBody>
      </p:sp>
      <p:sp>
        <p:nvSpPr>
          <p:cNvPr id="17" name="Animasi langkah 5 (up) #17"/>
          <p:cNvSpPr txBox="1"/>
          <p:nvPr/>
        </p:nvSpPr>
        <p:spPr>
          <a:xfrm>
            <a:off x="4937760" y="2103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insight → pahami kebutuhan → rancang → produksi. Lebih relevan, mudah dijual, konsumen loyal.</a:t>
            </a:r>
            <a:endParaRPr lang="en-US" sz="1100" dirty="0"/>
          </a:p>
        </p:txBody>
      </p:sp>
      <p:sp>
        <p:nvSpPr>
          <p:cNvPr id="18" name="Animasi langkah 6 (zoom) #18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</p:spPr>
      </p:sp>
      <p:pic>
        <p:nvPicPr>
          <p:cNvPr id="19" name="Animasi langkah 6 (zoom) #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02152"/>
            <a:ext cx="457200" cy="457200"/>
          </a:xfrm>
          <a:prstGeom prst="rect">
            <a:avLst/>
          </a:prstGeom>
        </p:spPr>
      </p:pic>
      <p:sp>
        <p:nvSpPr>
          <p:cNvPr id="20" name="Animasi langkah 6 (zoom) #20"/>
          <p:cNvSpPr txBox="1"/>
          <p:nvPr/>
        </p:nvSpPr>
        <p:spPr>
          <a:xfrm>
            <a:off x="1280160" y="3291840"/>
            <a:ext cx="7269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 mahal yang tidak laku: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premium,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eksklusif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tapi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ada yang bertanya apakah konsumen menginginkannya. "Terbaik menurut produsen" belum tentu "diinginkan konsumen".</a:t>
            </a:r>
            <a:endParaRPr lang="en-US" sz="1150" dirty="0"/>
          </a:p>
        </p:txBody>
      </p:sp>
      <p:sp>
        <p:nvSpPr>
          <p:cNvPr id="21" name="Animasi langkah 7 (wipeL) #21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2" name="Animasi langkah 7 (wipeL) #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3" name="Animasi langkah 7 (wipeL) #23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teruskan masukan kebutuhan pelanggan dari lapangan ke tim produk secara rutin dan terdokumentasi.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4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2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9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28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Pengembangan Produk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</a:t>
            </a:r>
            <a:r>
              <a:rPr lang="en-US" sz="1250" i="1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terukur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agar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tidak sia-sia</a:t>
            </a:r>
            <a:endParaRPr lang="en-US" sz="1250" dirty="0"/>
          </a:p>
        </p:txBody>
      </p:sp>
      <p:sp>
        <p:nvSpPr>
          <p:cNvPr id="7" name="Animasi langkah 3 (wipeL) #7"/>
          <p:cNvSpPr/>
          <p:nvPr/>
        </p:nvSpPr>
        <p:spPr>
          <a:xfrm>
            <a:off x="457200" y="1371600"/>
            <a:ext cx="1682496" cy="822960"/>
          </a:xfrm>
          <a:prstGeom prst="chevron">
            <a:avLst/>
          </a:prstGeom>
          <a:solidFill>
            <a:srgbClr val="CFE8FF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" name="Animasi langkah 3 (wipeL) #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572768"/>
            <a:ext cx="411480" cy="411480"/>
          </a:xfrm>
          <a:prstGeom prst="rect">
            <a:avLst/>
          </a:prstGeom>
        </p:spPr>
      </p:pic>
      <p:sp>
        <p:nvSpPr>
          <p:cNvPr id="9" name="Animasi langkah 3 (up) #9"/>
          <p:cNvSpPr txBox="1"/>
          <p:nvPr/>
        </p:nvSpPr>
        <p:spPr>
          <a:xfrm>
            <a:off x="4572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Generation</a:t>
            </a:r>
            <a:endParaRPr lang="en-US" sz="1250" dirty="0"/>
          </a:p>
        </p:txBody>
      </p:sp>
      <p:sp>
        <p:nvSpPr>
          <p:cNvPr id="10" name="Animasi langkah 3 (up) #10"/>
          <p:cNvSpPr txBox="1"/>
          <p:nvPr/>
        </p:nvSpPr>
        <p:spPr>
          <a:xfrm>
            <a:off x="502920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gap pasar</a:t>
            </a:r>
            <a:endParaRPr lang="en-US" sz="10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5029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Daftar ide</a:t>
            </a:r>
            <a:endParaRPr lang="en-US" sz="1000" dirty="0"/>
          </a:p>
        </p:txBody>
      </p:sp>
      <p:sp>
        <p:nvSpPr>
          <p:cNvPr id="12" name="Animasi langkah 4 (wipeL) #12"/>
          <p:cNvSpPr/>
          <p:nvPr/>
        </p:nvSpPr>
        <p:spPr>
          <a:xfrm>
            <a:off x="2139696" y="1371600"/>
            <a:ext cx="1682496" cy="822960"/>
          </a:xfrm>
          <a:prstGeom prst="chevron">
            <a:avLst/>
          </a:prstGeom>
          <a:solidFill>
            <a:srgbClr val="C9F2E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3" name="Animasi langkah 4 (wipeL) #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1572768"/>
            <a:ext cx="411480" cy="411480"/>
          </a:xfrm>
          <a:prstGeom prst="rect">
            <a:avLst/>
          </a:prstGeom>
        </p:spPr>
      </p:pic>
      <p:sp>
        <p:nvSpPr>
          <p:cNvPr id="14" name="Animasi langkah 4 (up) #14"/>
          <p:cNvSpPr txBox="1"/>
          <p:nvPr/>
        </p:nvSpPr>
        <p:spPr>
          <a:xfrm>
            <a:off x="2139696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50" dirty="0"/>
          </a:p>
        </p:txBody>
      </p:sp>
      <p:sp>
        <p:nvSpPr>
          <p:cNvPr id="15" name="Animasi langkah 4 (up) #15"/>
          <p:cNvSpPr txBox="1"/>
          <p:nvPr/>
        </p:nvSpPr>
        <p:spPr>
          <a:xfrm>
            <a:off x="2185416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Teknis, finansial, hukum</a:t>
            </a:r>
            <a:endParaRPr lang="en-US" sz="1000" dirty="0"/>
          </a:p>
        </p:txBody>
      </p:sp>
      <p:sp>
        <p:nvSpPr>
          <p:cNvPr id="16" name="Animasi langkah 4 (up) #16"/>
          <p:cNvSpPr txBox="1"/>
          <p:nvPr/>
        </p:nvSpPr>
        <p:spPr>
          <a:xfrm>
            <a:off x="2185416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 / No-Go</a:t>
            </a:r>
            <a:endParaRPr lang="en-US" sz="1000" dirty="0"/>
          </a:p>
        </p:txBody>
      </p:sp>
      <p:sp>
        <p:nvSpPr>
          <p:cNvPr id="17" name="Animasi langkah 5 (wipeL) #17"/>
          <p:cNvSpPr/>
          <p:nvPr/>
        </p:nvSpPr>
        <p:spPr>
          <a:xfrm>
            <a:off x="3822192" y="1371600"/>
            <a:ext cx="1682496" cy="822960"/>
          </a:xfrm>
          <a:prstGeom prst="chevron">
            <a:avLst/>
          </a:prstGeom>
          <a:solidFill>
            <a:srgbClr val="FFF3B8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Animasi langkah 5 (wipeL) #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572768"/>
            <a:ext cx="411480" cy="411480"/>
          </a:xfrm>
          <a:prstGeom prst="rect">
            <a:avLst/>
          </a:prstGeom>
        </p:spPr>
      </p:pic>
      <p:sp>
        <p:nvSpPr>
          <p:cNvPr id="19" name="Animasi langkah 5 (up) #19"/>
          <p:cNvSpPr txBox="1"/>
          <p:nvPr/>
        </p:nvSpPr>
        <p:spPr>
          <a:xfrm>
            <a:off x="3822192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20" name="Animasi langkah 5 (up) #20"/>
          <p:cNvSpPr txBox="1"/>
          <p:nvPr/>
        </p:nvSpPr>
        <p:spPr>
          <a:xfrm>
            <a:off x="3867912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&amp; bahan baku</a:t>
            </a:r>
            <a:endParaRPr lang="en-US" sz="1000" dirty="0"/>
          </a:p>
        </p:txBody>
      </p:sp>
      <p:sp>
        <p:nvSpPr>
          <p:cNvPr id="21" name="Animasi langkah 5 (up) #21"/>
          <p:cNvSpPr txBox="1"/>
          <p:nvPr/>
        </p:nvSpPr>
        <p:spPr>
          <a:xfrm>
            <a:off x="3867912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Production plan</a:t>
            </a:r>
            <a:endParaRPr lang="en-US" sz="1000" dirty="0"/>
          </a:p>
        </p:txBody>
      </p:sp>
      <p:sp>
        <p:nvSpPr>
          <p:cNvPr id="22" name="Animasi langkah 6 (wipeL) #22"/>
          <p:cNvSpPr/>
          <p:nvPr/>
        </p:nvSpPr>
        <p:spPr>
          <a:xfrm>
            <a:off x="5504688" y="1371600"/>
            <a:ext cx="1682496" cy="822960"/>
          </a:xfrm>
          <a:prstGeom prst="chevron">
            <a:avLst/>
          </a:prstGeom>
          <a:solidFill>
            <a:srgbClr val="FFE0C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3" name="Animasi langkah 6 (wipeL) #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1572768"/>
            <a:ext cx="411480" cy="411480"/>
          </a:xfrm>
          <a:prstGeom prst="rect">
            <a:avLst/>
          </a:prstGeom>
        </p:spPr>
      </p:pic>
      <p:sp>
        <p:nvSpPr>
          <p:cNvPr id="24" name="Animasi langkah 6 (up) #24"/>
          <p:cNvSpPr txBox="1"/>
          <p:nvPr/>
        </p:nvSpPr>
        <p:spPr>
          <a:xfrm>
            <a:off x="5504688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50" dirty="0"/>
          </a:p>
        </p:txBody>
      </p:sp>
      <p:sp>
        <p:nvSpPr>
          <p:cNvPr id="25" name="Animasi langkah 6 (up) #25"/>
          <p:cNvSpPr txBox="1"/>
          <p:nvPr/>
        </p:nvSpPr>
        <p:spPr>
          <a:xfrm>
            <a:off x="5550408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&amp; distribusi</a:t>
            </a:r>
            <a:endParaRPr lang="en-US" sz="1000" dirty="0"/>
          </a:p>
        </p:txBody>
      </p:sp>
      <p:sp>
        <p:nvSpPr>
          <p:cNvPr id="26" name="Animasi langkah 6 (up) #26"/>
          <p:cNvSpPr txBox="1"/>
          <p:nvPr/>
        </p:nvSpPr>
        <p:spPr>
          <a:xfrm>
            <a:off x="5550408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Market entry</a:t>
            </a:r>
            <a:endParaRPr lang="en-US" sz="1000" dirty="0"/>
          </a:p>
        </p:txBody>
      </p:sp>
      <p:sp>
        <p:nvSpPr>
          <p:cNvPr id="27" name="Animasi langkah 7 (wipeL) #27"/>
          <p:cNvSpPr/>
          <p:nvPr/>
        </p:nvSpPr>
        <p:spPr>
          <a:xfrm>
            <a:off x="7187184" y="1371600"/>
            <a:ext cx="1682496" cy="822960"/>
          </a:xfrm>
          <a:prstGeom prst="chevron">
            <a:avLst/>
          </a:prstGeom>
          <a:solidFill>
            <a:srgbClr val="FFD6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8" name="Animasi langkah 7 (wipeL) #2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1572768"/>
            <a:ext cx="411480" cy="411480"/>
          </a:xfrm>
          <a:prstGeom prst="rect">
            <a:avLst/>
          </a:prstGeom>
        </p:spPr>
      </p:pic>
      <p:sp>
        <p:nvSpPr>
          <p:cNvPr id="29" name="Animasi langkah 7 (up) #29"/>
          <p:cNvSpPr txBox="1"/>
          <p:nvPr/>
        </p:nvSpPr>
        <p:spPr>
          <a:xfrm>
            <a:off x="7187184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0" name="Animasi langkah 7 (up) #30"/>
          <p:cNvSpPr txBox="1"/>
          <p:nvPr/>
        </p:nvSpPr>
        <p:spPr>
          <a:xfrm>
            <a:off x="7232904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&amp; perbaiki</a:t>
            </a:r>
            <a:endParaRPr lang="en-US" sz="1000" dirty="0"/>
          </a:p>
        </p:txBody>
      </p:sp>
      <p:sp>
        <p:nvSpPr>
          <p:cNvPr id="31" name="Animasi langkah 7 (up) #31"/>
          <p:cNvSpPr txBox="1"/>
          <p:nvPr/>
        </p:nvSpPr>
        <p:spPr>
          <a:xfrm>
            <a:off x="7232904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Optimasi</a:t>
            </a:r>
            <a:endParaRPr lang="en-US" sz="1000" dirty="0"/>
          </a:p>
        </p:txBody>
      </p:sp>
      <p:sp>
        <p:nvSpPr>
          <p:cNvPr id="32" name="Animasi langkah 8 (zoom) #32"/>
          <p:cNvSpPr/>
          <p:nvPr/>
        </p:nvSpPr>
        <p:spPr>
          <a:xfrm>
            <a:off x="457200" y="33832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sp>
        <p:nvSpPr>
          <p:cNvPr id="33" name="Animasi langkah 8 (zoom) #33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Animasi langkah 8 (zoom) #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1" y="3641141"/>
            <a:ext cx="307238" cy="307238"/>
          </a:xfrm>
          <a:prstGeom prst="rect">
            <a:avLst/>
          </a:prstGeom>
        </p:spPr>
      </p:pic>
      <p:sp>
        <p:nvSpPr>
          <p:cNvPr id="35" name="Animasi langkah 8 (zoom) #35"/>
          <p:cNvSpPr txBox="1"/>
          <p:nvPr/>
        </p:nvSpPr>
        <p:spPr>
          <a:xfrm>
            <a:off x="1371600" y="3383280"/>
            <a:ext cx="7178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Agile: iterasi lebih baik dari kesempurnaan.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Luncurkan versi awal, kumpulkan feedback,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berangkat dari insight konsumen.</a:t>
            </a:r>
            <a:endParaRPr lang="en-US" sz="1150" dirty="0"/>
          </a:p>
        </p:txBody>
      </p:sp>
      <p:sp>
        <p:nvSpPr>
          <p:cNvPr id="36" name="Animasi langkah 9 (wipeL) #36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7" name="Animasi langkah 9 (wipeL) #3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8" name="Animasi langkah 9 (wipeL) #38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agile pada program lokal: uji di beberapa toko dulu, ukur, lalu perluas.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4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2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9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28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66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04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Proposition &amp; Product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Lapangan dari Peserta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nyata hasil tugas Sesi 1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2588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583741"/>
            <a:ext cx="307238" cy="307238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1280160" y="1435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Daerah terpencil tidak brand-oriented</a:t>
            </a:r>
            <a:endParaRPr lang="en-US" sz="13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1280160" y="1764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&amp; availability lebih menentukan</a:t>
            </a:r>
            <a:endParaRPr lang="en-US" sz="1050" dirty="0"/>
          </a:p>
        </p:txBody>
      </p:sp>
      <p:sp>
        <p:nvSpPr>
          <p:cNvPr id="12" name="Animasi langkah 3 (up) #12"/>
          <p:cNvSpPr txBox="1"/>
          <p:nvPr/>
        </p:nvSpPr>
        <p:spPr>
          <a:xfrm>
            <a:off x="128016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Prioritaskan Availability sebelum branding besar</a:t>
            </a:r>
            <a:endParaRPr lang="en-US" sz="1050" dirty="0"/>
          </a:p>
        </p:txBody>
      </p:sp>
      <p:sp>
        <p:nvSpPr>
          <p:cNvPr id="13" name="Animasi langkah 4 (up) #13"/>
          <p:cNvSpPr/>
          <p:nvPr/>
        </p:nvSpPr>
        <p:spPr>
          <a:xfrm>
            <a:off x="4663440" y="132588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4" name="Animasi langkah 4 (up) #14"/>
          <p:cNvSpPr/>
          <p:nvPr/>
        </p:nvSpPr>
        <p:spPr>
          <a:xfrm>
            <a:off x="4800600" y="14630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Animasi langkah 4 (up) #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1" y="1583741"/>
            <a:ext cx="307238" cy="307238"/>
          </a:xfrm>
          <a:prstGeom prst="rect">
            <a:avLst/>
          </a:prstGeom>
        </p:spPr>
      </p:pic>
      <p:sp>
        <p:nvSpPr>
          <p:cNvPr id="16" name="Animasi langkah 4 (up) #16"/>
          <p:cNvSpPr txBox="1"/>
          <p:nvPr/>
        </p:nvSpPr>
        <p:spPr>
          <a:xfrm>
            <a:off x="5486400" y="1435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ke toko, bukan ke merek</a:t>
            </a:r>
            <a:endParaRPr lang="en-US" sz="1300" dirty="0"/>
          </a:p>
        </p:txBody>
      </p:sp>
      <p:sp>
        <p:nvSpPr>
          <p:cNvPr id="17" name="Animasi langkah 4 (up) #17"/>
          <p:cNvSpPr txBox="1"/>
          <p:nvPr/>
        </p:nvSpPr>
        <p:spPr>
          <a:xfrm>
            <a:off x="5486400" y="1764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 merek apa pun yang ada di toko langganan</a:t>
            </a:r>
            <a:endParaRPr lang="en-US" sz="1050" dirty="0"/>
          </a:p>
        </p:txBody>
      </p:sp>
      <p:sp>
        <p:nvSpPr>
          <p:cNvPr id="18" name="Animasi langkah 4 (up) #18"/>
          <p:cNvSpPr txBox="1"/>
          <p:nvPr/>
        </p:nvSpPr>
        <p:spPr>
          <a:xfrm>
            <a:off x="548640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Bangun loyalitas toko &amp; distributor</a:t>
            </a:r>
            <a:endParaRPr lang="en-US" sz="1050" dirty="0"/>
          </a:p>
        </p:txBody>
      </p:sp>
      <p:sp>
        <p:nvSpPr>
          <p:cNvPr id="19" name="Animasi langkah 5 (up) #19"/>
          <p:cNvSpPr/>
          <p:nvPr/>
        </p:nvSpPr>
        <p:spPr>
          <a:xfrm>
            <a:off x="457200" y="27889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5 (up) #20"/>
          <p:cNvSpPr/>
          <p:nvPr/>
        </p:nvSpPr>
        <p:spPr>
          <a:xfrm>
            <a:off x="594360" y="2926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Animasi langkah 5 (up) #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3046781"/>
            <a:ext cx="307238" cy="307238"/>
          </a:xfrm>
          <a:prstGeom prst="rect">
            <a:avLst/>
          </a:prstGeom>
        </p:spPr>
      </p:pic>
      <p:sp>
        <p:nvSpPr>
          <p:cNvPr id="22" name="Animasi langkah 5 (up) #22"/>
          <p:cNvSpPr txBox="1"/>
          <p:nvPr/>
        </p:nvSpPr>
        <p:spPr>
          <a:xfrm>
            <a:off x="1280160" y="2898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beda antar kelurahan</a:t>
            </a:r>
            <a:endParaRPr lang="en-US" sz="1300" dirty="0"/>
          </a:p>
        </p:txBody>
      </p:sp>
      <p:sp>
        <p:nvSpPr>
          <p:cNvPr id="23" name="Animasi langkah 5 (up) #23"/>
          <p:cNvSpPr txBox="1"/>
          <p:nvPr/>
        </p:nvSpPr>
        <p:spPr>
          <a:xfrm>
            <a:off x="128016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Preferensi bervariasi dalam satu kota</a:t>
            </a:r>
            <a:endParaRPr lang="en-US" sz="1050" dirty="0"/>
          </a:p>
        </p:txBody>
      </p:sp>
      <p:sp>
        <p:nvSpPr>
          <p:cNvPr id="24" name="Animasi langkah 5 (up) #24"/>
          <p:cNvSpPr txBox="1"/>
          <p:nvPr/>
        </p:nvSpPr>
        <p:spPr>
          <a:xfrm>
            <a:off x="128016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Hyper-local marketing &amp; segmentasi sub-kota</a:t>
            </a:r>
            <a:endParaRPr lang="en-US" sz="1050" dirty="0"/>
          </a:p>
        </p:txBody>
      </p:sp>
      <p:sp>
        <p:nvSpPr>
          <p:cNvPr id="25" name="Animasi langkah 6 (up) #25"/>
          <p:cNvSpPr/>
          <p:nvPr/>
        </p:nvSpPr>
        <p:spPr>
          <a:xfrm>
            <a:off x="4663440" y="27889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6" name="Animasi langkah 6 (up) #26"/>
          <p:cNvSpPr/>
          <p:nvPr/>
        </p:nvSpPr>
        <p:spPr>
          <a:xfrm>
            <a:off x="4800600" y="2926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Animasi langkah 6 (up) #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301" y="3046781"/>
            <a:ext cx="307238" cy="307238"/>
          </a:xfrm>
          <a:prstGeom prst="rect">
            <a:avLst/>
          </a:prstGeom>
        </p:spPr>
      </p:pic>
      <p:sp>
        <p:nvSpPr>
          <p:cNvPr id="28" name="Animasi langkah 6 (up) #28"/>
          <p:cNvSpPr txBox="1"/>
          <p:nvPr/>
        </p:nvSpPr>
        <p:spPr>
          <a:xfrm>
            <a:off x="5486400" y="2898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bukan satu-satunya faktor</a:t>
            </a:r>
            <a:endParaRPr lang="en-US" sz="1300" dirty="0"/>
          </a:p>
        </p:txBody>
      </p:sp>
      <p:sp>
        <p:nvSpPr>
          <p:cNvPr id="29" name="Animasi langkah 6 (up) #29"/>
          <p:cNvSpPr txBox="1"/>
          <p:nvPr/>
        </p:nvSpPr>
        <p:spPr>
          <a:xfrm>
            <a:off x="548640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Bosowa lebih mahal tapi lebih laku di Kupang</a:t>
            </a:r>
            <a:endParaRPr lang="en-US" sz="1050" dirty="0"/>
          </a:p>
        </p:txBody>
      </p:sp>
      <p:sp>
        <p:nvSpPr>
          <p:cNvPr id="30" name="Animasi langkah 6 (up) #30"/>
          <p:cNvSpPr txBox="1"/>
          <p:nvPr/>
        </p:nvSpPr>
        <p:spPr>
          <a:xfrm>
            <a:off x="548640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Distribusi &amp; branding → premium pricing</a:t>
            </a:r>
            <a:endParaRPr lang="en-US" sz="1050" dirty="0"/>
          </a:p>
        </p:txBody>
      </p:sp>
      <p:sp>
        <p:nvSpPr>
          <p:cNvPr id="31" name="Animasi langkah 7 (wipeL) #31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2" name="Animasi langkah 7 (wipeL) #3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3" name="Animasi langkah 7 (wipeL) #33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pakai satu strategi untuk seluruh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sesuaikan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karakter area.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4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2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90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8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asi langkah 1 (zoom) #2"/>
          <p:cNvSpPr/>
          <p:nvPr/>
        </p:nvSpPr>
        <p:spPr>
          <a:xfrm>
            <a:off x="5669280" y="548640"/>
            <a:ext cx="4206240" cy="4206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Animasi langkah 2 (zoom) #3"/>
          <p:cNvSpPr txBox="1"/>
          <p:nvPr/>
        </p:nvSpPr>
        <p:spPr>
          <a:xfrm>
            <a:off x="5669280" y="548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0" dirty="0"/>
          </a:p>
        </p:txBody>
      </p:sp>
      <p:sp>
        <p:nvSpPr>
          <p:cNvPr id="4" name="Animasi langkah 1 (fade) #4"/>
          <p:cNvSpPr txBox="1"/>
          <p:nvPr/>
        </p:nvSpPr>
        <p:spPr>
          <a:xfrm>
            <a:off x="5486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400" dirty="0"/>
          </a:p>
        </p:txBody>
      </p:sp>
      <p:sp>
        <p:nvSpPr>
          <p:cNvPr id="5" name="Animasi langkah 3 (up) #5"/>
          <p:cNvSpPr txBox="1"/>
          <p:nvPr/>
        </p:nvSpPr>
        <p:spPr>
          <a:xfrm>
            <a:off x="548640" y="1188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Distribusi, POSM, Promosi, Branding &amp; Portofolio</a:t>
            </a:r>
            <a:endParaRPr lang="en-US" sz="3400" dirty="0"/>
          </a:p>
        </p:txBody>
      </p:sp>
      <p:sp>
        <p:nvSpPr>
          <p:cNvPr id="6" name="Animasi langkah 4 (up) #6"/>
          <p:cNvSpPr/>
          <p:nvPr/>
        </p:nvSpPr>
        <p:spPr>
          <a:xfrm>
            <a:off x="548640" y="2606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Animasi langkah 4 (up) #7"/>
          <p:cNvSpPr txBox="1"/>
          <p:nvPr/>
        </p:nvSpPr>
        <p:spPr>
          <a:xfrm>
            <a:off x="6583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Numerik &amp; Tertimbang</a:t>
            </a:r>
            <a:endParaRPr lang="en-US" sz="1150" dirty="0"/>
          </a:p>
        </p:txBody>
      </p:sp>
      <p:sp>
        <p:nvSpPr>
          <p:cNvPr id="8" name="Animasi langkah 5 (up) #8"/>
          <p:cNvSpPr/>
          <p:nvPr/>
        </p:nvSpPr>
        <p:spPr>
          <a:xfrm>
            <a:off x="3063240" y="26060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Animasi langkah 5 (up) #9"/>
          <p:cNvSpPr txBox="1"/>
          <p:nvPr/>
        </p:nvSpPr>
        <p:spPr>
          <a:xfrm>
            <a:off x="31729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POSM &amp; Titik Penjualan</a:t>
            </a:r>
            <a:endParaRPr lang="en-US" sz="1150" dirty="0"/>
          </a:p>
        </p:txBody>
      </p:sp>
      <p:sp>
        <p:nvSpPr>
          <p:cNvPr id="10" name="Animasi langkah 6 (up) #10"/>
          <p:cNvSpPr/>
          <p:nvPr/>
        </p:nvSpPr>
        <p:spPr>
          <a:xfrm>
            <a:off x="54864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Animasi langkah 6 (up) #11"/>
          <p:cNvSpPr txBox="1"/>
          <p:nvPr/>
        </p:nvSpPr>
        <p:spPr>
          <a:xfrm>
            <a:off x="6583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&amp; ABCDE</a:t>
            </a:r>
            <a:endParaRPr lang="en-US" sz="1150" dirty="0"/>
          </a:p>
        </p:txBody>
      </p:sp>
      <p:sp>
        <p:nvSpPr>
          <p:cNvPr id="12" name="Animasi langkah 7 (up) #12"/>
          <p:cNvSpPr/>
          <p:nvPr/>
        </p:nvSpPr>
        <p:spPr>
          <a:xfrm>
            <a:off x="3063240" y="30632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Animasi langkah 7 (up) #13"/>
          <p:cNvSpPr txBox="1"/>
          <p:nvPr/>
        </p:nvSpPr>
        <p:spPr>
          <a:xfrm>
            <a:off x="3172968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Harga: Cost vs Value</a:t>
            </a:r>
            <a:endParaRPr lang="en-US" sz="1150" dirty="0"/>
          </a:p>
        </p:txBody>
      </p:sp>
      <p:sp>
        <p:nvSpPr>
          <p:cNvPr id="14" name="Animasi langkah 8 (up) #14"/>
          <p:cNvSpPr/>
          <p:nvPr/>
        </p:nvSpPr>
        <p:spPr>
          <a:xfrm>
            <a:off x="548640" y="3520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Animasi langkah 8 (up) #15"/>
          <p:cNvSpPr txBox="1"/>
          <p:nvPr/>
        </p:nvSpPr>
        <p:spPr>
          <a:xfrm>
            <a:off x="6583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&amp; Regional</a:t>
            </a:r>
            <a:endParaRPr lang="en-US" sz="1150" dirty="0"/>
          </a:p>
        </p:txBody>
      </p:sp>
      <p:sp>
        <p:nvSpPr>
          <p:cNvPr id="16" name="Animasi langkah 9 (up) #16"/>
          <p:cNvSpPr/>
          <p:nvPr/>
        </p:nvSpPr>
        <p:spPr>
          <a:xfrm>
            <a:off x="3063240" y="3520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Animasi langkah 9 (up) #17"/>
          <p:cNvSpPr txBox="1"/>
          <p:nvPr/>
        </p:nvSpPr>
        <p:spPr>
          <a:xfrm>
            <a:off x="3172968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AI &amp; Aliansi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8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6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4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2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8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6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4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Distribusi: Numerik vs Tertimbang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produk hadir di 250 dari 1.000 toko</a:t>
            </a:r>
            <a:endParaRPr lang="en-US" sz="1250" dirty="0"/>
          </a:p>
        </p:txBody>
      </p:sp>
      <p:graphicFrame>
        <p:nvGraphicFramePr>
          <p:cNvPr id="7" name="Animasi langkah 3 (zoom) #7"/>
          <p:cNvGraphicFramePr/>
          <p:nvPr/>
        </p:nvGraphicFramePr>
        <p:xfrm>
          <a:off x="457200" y="1280160"/>
          <a:ext cx="2011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Animasi langkah 3 (zoom) #8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9" name="Animasi langkah 4 (fade) #9"/>
          <p:cNvSpPr txBox="1"/>
          <p:nvPr/>
        </p:nvSpPr>
        <p:spPr>
          <a:xfrm>
            <a:off x="256032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Numerik</a:t>
            </a:r>
            <a:endParaRPr lang="en-US" sz="1400" dirty="0"/>
          </a:p>
        </p:txBody>
      </p:sp>
      <p:sp>
        <p:nvSpPr>
          <p:cNvPr id="10" name="Animasi langkah 4 (fade) #10"/>
          <p:cNvSpPr txBox="1"/>
          <p:nvPr/>
        </p:nvSpPr>
        <p:spPr>
          <a:xfrm>
            <a:off x="2560320" y="1737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Keluasan: berapa banyak toko yang menjual produk kita. 250 ÷ 1.000 × 100% = 25%</a:t>
            </a:r>
            <a:endParaRPr lang="en-US" sz="1050" dirty="0"/>
          </a:p>
        </p:txBody>
      </p:sp>
      <p:graphicFrame>
        <p:nvGraphicFramePr>
          <p:cNvPr id="11" name="Animasi langkah 5 (zoom) #11"/>
          <p:cNvGraphicFramePr/>
          <p:nvPr/>
        </p:nvGraphicFramePr>
        <p:xfrm>
          <a:off x="4663440" y="1280160"/>
          <a:ext cx="2011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Animasi langkah 5 (zoom) #12"/>
          <p:cNvSpPr txBox="1"/>
          <p:nvPr/>
        </p:nvSpPr>
        <p:spPr>
          <a:xfrm>
            <a:off x="466344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</p:txBody>
      </p:sp>
      <p:sp>
        <p:nvSpPr>
          <p:cNvPr id="13" name="Animasi langkah 6 (fade) #13"/>
          <p:cNvSpPr txBox="1"/>
          <p:nvPr/>
        </p:nvSpPr>
        <p:spPr>
          <a:xfrm>
            <a:off x="676656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Tertimbang</a:t>
            </a:r>
            <a:endParaRPr lang="en-US" sz="1400" dirty="0"/>
          </a:p>
        </p:txBody>
      </p:sp>
      <p:sp>
        <p:nvSpPr>
          <p:cNvPr id="14" name="Animasi langkah 6 (fade) #14"/>
          <p:cNvSpPr txBox="1"/>
          <p:nvPr/>
        </p:nvSpPr>
        <p:spPr>
          <a:xfrm>
            <a:off x="6766560" y="1737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Kedalaman: 250 toko itu menyumbang 70% penjualan kategori → kita sudah di pemain besar.</a:t>
            </a:r>
            <a:endParaRPr lang="en-US" sz="1050" dirty="0"/>
          </a:p>
        </p:txBody>
      </p:sp>
      <p:sp>
        <p:nvSpPr>
          <p:cNvPr id="15" name="Animasi langkah 7 (up) #15"/>
          <p:cNvSpPr/>
          <p:nvPr/>
        </p:nvSpPr>
        <p:spPr>
          <a:xfrm>
            <a:off x="457200" y="3429000"/>
            <a:ext cx="2606040" cy="804672"/>
          </a:xfrm>
          <a:prstGeom prst="roundRect">
            <a:avLst>
              <a:gd name="adj" fmla="val 13636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16" name="Animasi langkah 7 (up) #16"/>
          <p:cNvSpPr txBox="1"/>
          <p:nvPr/>
        </p:nvSpPr>
        <p:spPr>
          <a:xfrm>
            <a:off x="566928" y="342900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82–92%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tergolong sangat baik; 100% hampir mustahil</a:t>
            </a:r>
            <a:endParaRPr lang="en-US" sz="1200" dirty="0"/>
          </a:p>
        </p:txBody>
      </p:sp>
      <p:sp>
        <p:nvSpPr>
          <p:cNvPr id="17" name="Animasi langkah 8 (up) #17"/>
          <p:cNvSpPr/>
          <p:nvPr/>
        </p:nvSpPr>
        <p:spPr>
          <a:xfrm>
            <a:off x="3246120" y="3429000"/>
            <a:ext cx="2606040" cy="804672"/>
          </a:xfrm>
          <a:prstGeom prst="roundRect">
            <a:avLst>
              <a:gd name="adj" fmla="val 13636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18" name="Animasi langkah 8 (up) #18"/>
          <p:cNvSpPr txBox="1"/>
          <p:nvPr/>
        </p:nvSpPr>
        <p:spPr>
          <a:xfrm>
            <a:off x="3355848" y="342900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&gt; ukuran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besar belum </a:t>
            </a:r>
            <a:r>
              <a:rPr lang="en-US" sz="10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r>
              <a:rPr lang="en-US" sz="10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</a:t>
            </a:r>
            <a:r>
              <a:rPr lang="en-US" sz="100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kategori</a:t>
            </a:r>
            <a:endParaRPr lang="en-US" sz="1200" dirty="0"/>
          </a:p>
        </p:txBody>
      </p:sp>
      <p:sp>
        <p:nvSpPr>
          <p:cNvPr id="19" name="Animasi langkah 9 (up) #19"/>
          <p:cNvSpPr/>
          <p:nvPr/>
        </p:nvSpPr>
        <p:spPr>
          <a:xfrm>
            <a:off x="6035040" y="3429000"/>
            <a:ext cx="2606040" cy="804672"/>
          </a:xfrm>
          <a:prstGeom prst="roundRect">
            <a:avLst>
              <a:gd name="adj" fmla="val 13636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20" name="Animasi langkah 9 (up) #20"/>
          <p:cNvSpPr txBox="1"/>
          <p:nvPr/>
        </p:nvSpPr>
        <p:spPr>
          <a:xfrm>
            <a:off x="6144768" y="342900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Kehilangan toko besar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berdampak besar ke penjualan &amp; citra meski jumlahnya sedikit</a:t>
            </a:r>
            <a:endParaRPr lang="en-US" sz="1200" dirty="0"/>
          </a:p>
        </p:txBody>
      </p:sp>
      <p:sp>
        <p:nvSpPr>
          <p:cNvPr id="21" name="Animasi langkah 10 (wipeL) #21"/>
          <p:cNvSpPr/>
          <p:nvPr/>
        </p:nvSpPr>
        <p:spPr>
          <a:xfrm>
            <a:off x="457200" y="4389120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2" name="Animasi langkah 10 (wipeL) #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507992"/>
            <a:ext cx="274320" cy="274320"/>
          </a:xfrm>
          <a:prstGeom prst="rect">
            <a:avLst/>
          </a:prstGeom>
        </p:spPr>
      </p:pic>
      <p:sp>
        <p:nvSpPr>
          <p:cNvPr id="23" name="Animasi langkah 10 (wipeL) #23"/>
          <p:cNvSpPr txBox="1"/>
          <p:nvPr/>
        </p:nvSpPr>
        <p:spPr>
          <a:xfrm>
            <a:off x="987552" y="43891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dua angka ini tiap bulan; lindungi key outlets lebih dulu sebelum menambah jumlah toko.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4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2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8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66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4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42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Graphic spid="11" grpId="0">
        <p:bldAsOne/>
      </p:bldGraphic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POSM. </a:t>
            </a:r>
            <a:r>
              <a:rPr lang="en-US" sz="2600" b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Konversi, Bukan Hiasan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Sales Material: papan nama, rak pajangan, signage di toko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25880"/>
            <a:ext cx="594360" cy="59436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8" name="Animasi langkah 3 (zoom) #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1456639"/>
            <a:ext cx="332842" cy="332842"/>
          </a:xfrm>
          <a:prstGeom prst="rect">
            <a:avLst/>
          </a:prstGeom>
        </p:spPr>
      </p:pic>
      <p:sp>
        <p:nvSpPr>
          <p:cNvPr id="9" name="Animasi langkah 3 (fade) #9"/>
          <p:cNvSpPr txBox="1"/>
          <p:nvPr/>
        </p:nvSpPr>
        <p:spPr>
          <a:xfrm>
            <a:off x="118872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efektif untuk konversi</a:t>
            </a:r>
            <a:endParaRPr lang="en-US" sz="1300" dirty="0"/>
          </a:p>
        </p:txBody>
      </p:sp>
      <p:sp>
        <p:nvSpPr>
          <p:cNvPr id="10" name="Animasi langkah 3 (fade) #10"/>
          <p:cNvSpPr txBox="1"/>
          <p:nvPr/>
        </p:nvSpPr>
        <p:spPr>
          <a:xfrm>
            <a:off x="118872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 internal: POSM mengungguli aktivitas awareness media besar dalam mendorong penjualan.</a:t>
            </a:r>
            <a:endParaRPr lang="en-US" sz="1050" dirty="0"/>
          </a:p>
        </p:txBody>
      </p:sp>
      <p:sp>
        <p:nvSpPr>
          <p:cNvPr id="11" name="Animasi langkah 4 (zoom) #11"/>
          <p:cNvSpPr/>
          <p:nvPr/>
        </p:nvSpPr>
        <p:spPr>
          <a:xfrm>
            <a:off x="457200" y="2103120"/>
            <a:ext cx="594360" cy="59436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12" name="Animasi langkah 4 (zoom) #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2233879"/>
            <a:ext cx="332842" cy="332842"/>
          </a:xfrm>
          <a:prstGeom prst="rect">
            <a:avLst/>
          </a:prstGeom>
        </p:spPr>
      </p:pic>
      <p:sp>
        <p:nvSpPr>
          <p:cNvPr id="13" name="Animasi langkah 4 (fade) #13"/>
          <p:cNvSpPr txBox="1"/>
          <p:nvPr/>
        </p:nvSpPr>
        <p:spPr>
          <a:xfrm>
            <a:off x="1188720" y="2075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Eksposur harian berulang</a:t>
            </a:r>
            <a:endParaRPr lang="en-US" sz="1300" dirty="0"/>
          </a:p>
        </p:txBody>
      </p:sp>
      <p:sp>
        <p:nvSpPr>
          <p:cNvPr id="14" name="Animasi langkah 4 (fade) #14"/>
          <p:cNvSpPr txBox="1"/>
          <p:nvPr/>
        </p:nvSpPr>
        <p:spPr>
          <a:xfrm>
            <a:off x="1188720" y="23500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melihat merek setiap berbelanja → top of mind dengan biaya relatif rendah.</a:t>
            </a:r>
            <a:endParaRPr lang="en-US" sz="1050" dirty="0"/>
          </a:p>
        </p:txBody>
      </p:sp>
      <p:sp>
        <p:nvSpPr>
          <p:cNvPr id="15" name="Animasi langkah 5 (zoom) #15"/>
          <p:cNvSpPr/>
          <p:nvPr/>
        </p:nvSpPr>
        <p:spPr>
          <a:xfrm>
            <a:off x="457200" y="2880360"/>
            <a:ext cx="594360" cy="59436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pic>
        <p:nvPicPr>
          <p:cNvPr id="16" name="Animasi langkah 5 (zoom) #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3011119"/>
            <a:ext cx="332842" cy="332842"/>
          </a:xfrm>
          <a:prstGeom prst="rect">
            <a:avLst/>
          </a:prstGeom>
        </p:spPr>
      </p:pic>
      <p:sp>
        <p:nvSpPr>
          <p:cNvPr id="17" name="Animasi langkah 5 (fade) #17"/>
          <p:cNvSpPr txBox="1"/>
          <p:nvPr/>
        </p:nvSpPr>
        <p:spPr>
          <a:xfrm>
            <a:off x="118872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dipantau rutin</a:t>
            </a:r>
            <a:endParaRPr lang="en-US" sz="1300" dirty="0"/>
          </a:p>
        </p:txBody>
      </p:sp>
      <p:sp>
        <p:nvSpPr>
          <p:cNvPr id="18" name="Animasi langkah 5 (fade) #18"/>
          <p:cNvSpPr txBox="1"/>
          <p:nvPr/>
        </p:nvSpPr>
        <p:spPr>
          <a:xfrm>
            <a:off x="1188720" y="3127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ditemukan POSM hilang, rusak, atau tidak terpasang sama sekali.</a:t>
            </a:r>
            <a:endParaRPr lang="en-US" sz="1050" dirty="0"/>
          </a:p>
        </p:txBody>
      </p:sp>
      <p:sp>
        <p:nvSpPr>
          <p:cNvPr id="19" name="Animasi langkah 6 (up) #19"/>
          <p:cNvSpPr/>
          <p:nvPr/>
        </p:nvSpPr>
        <p:spPr>
          <a:xfrm>
            <a:off x="4937760" y="132588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F6F8FC"/>
          </a:solidFill>
          <a:ln w="19050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6 (up) #20"/>
          <p:cNvSpPr txBox="1"/>
          <p:nvPr/>
        </p:nvSpPr>
        <p:spPr>
          <a:xfrm>
            <a:off x="507492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pajangan portabel</a:t>
            </a:r>
            <a:endParaRPr lang="en-US" sz="1300" dirty="0"/>
          </a:p>
        </p:txBody>
      </p:sp>
      <p:sp>
        <p:nvSpPr>
          <p:cNvPr id="21" name="Animasi langkah 6 (up) #21"/>
          <p:cNvSpPr txBox="1"/>
          <p:nvPr/>
        </p:nvSpPr>
        <p:spPr>
          <a:xfrm>
            <a:off x="5074920" y="1691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Pemilik toko enggan instalasi permanen (debu, bobot). Rak ringan bisa diganti kapan saja &amp; tetap di depan.</a:t>
            </a:r>
            <a:endParaRPr lang="en-US" sz="1050" dirty="0"/>
          </a:p>
        </p:txBody>
      </p:sp>
      <p:sp>
        <p:nvSpPr>
          <p:cNvPr id="22" name="Animasi langkah 7 (up) #22"/>
          <p:cNvSpPr/>
          <p:nvPr/>
        </p:nvSpPr>
        <p:spPr>
          <a:xfrm>
            <a:off x="4937760" y="278892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F6F8FC"/>
          </a:solidFill>
          <a:ln w="19050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3" name="Animasi langkah 7 (up) #23"/>
          <p:cNvSpPr txBox="1"/>
          <p:nvPr/>
        </p:nvSpPr>
        <p:spPr>
          <a:xfrm>
            <a:off x="507492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Loyalitas &amp; branding harian</a:t>
            </a:r>
            <a:endParaRPr lang="en-US" sz="1300" dirty="0"/>
          </a:p>
        </p:txBody>
      </p:sp>
      <p:sp>
        <p:nvSpPr>
          <p:cNvPr id="24" name="Animasi langkah 7 (up) #24"/>
          <p:cNvSpPr txBox="1"/>
          <p:nvPr/>
        </p:nvSpPr>
        <p:spPr>
          <a:xfrm>
            <a:off x="5074920" y="3154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Nota/kupon/token tiap pembelian. Contoh Bandung: atribut merek dipakai konsisten dengan warna berbeda tiap hari.</a:t>
            </a:r>
            <a:endParaRPr lang="en-US" sz="1050" dirty="0"/>
          </a:p>
        </p:txBody>
      </p:sp>
      <p:sp>
        <p:nvSpPr>
          <p:cNvPr id="25" name="Animasi langkah 8 (wipeL) #25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6" name="Animasi langkah 8 (wipeL) #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7" name="Animasi langkah 8 (wipeL) #27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audit kondisi POSM ke checklist kunjungan sales dan laporkan foto sebelum–sesudah.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4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2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8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66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Promosi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</a:t>
            </a:r>
            <a:r>
              <a:rPr lang="en-US" sz="1250" i="1" dirty="0" err="1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dulu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i="1" dirty="0" err="1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r>
              <a:rPr lang="en-US" sz="1250" i="1" dirty="0" smtClean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media &amp; aktivasi</a:t>
            </a:r>
            <a:endParaRPr lang="en-US" sz="1250" dirty="0"/>
          </a:p>
        </p:txBody>
      </p:sp>
      <p:sp>
        <p:nvSpPr>
          <p:cNvPr id="7" name="Animasi langkah 3 (wipeL) #7"/>
          <p:cNvSpPr/>
          <p:nvPr/>
        </p:nvSpPr>
        <p:spPr>
          <a:xfrm>
            <a:off x="457200" y="1325880"/>
            <a:ext cx="3108960" cy="603504"/>
          </a:xfrm>
          <a:prstGeom prst="roundRect">
            <a:avLst>
              <a:gd name="adj" fmla="val 18182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8" name="Animasi langkah 3 (wipeL) #8"/>
          <p:cNvSpPr txBox="1"/>
          <p:nvPr/>
        </p:nvSpPr>
        <p:spPr>
          <a:xfrm>
            <a:off x="548640" y="132588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Animasi langkah 3 (wipeL) #9"/>
          <p:cNvSpPr txBox="1"/>
          <p:nvPr/>
        </p:nvSpPr>
        <p:spPr>
          <a:xfrm>
            <a:off x="914400" y="13258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ditetapkan sebelum promosi dijalankan</a:t>
            </a:r>
            <a:endParaRPr lang="en-US" sz="1050" dirty="0"/>
          </a:p>
        </p:txBody>
      </p:sp>
      <p:sp>
        <p:nvSpPr>
          <p:cNvPr id="10" name="Animasi langkah 4 (wipeL) #10"/>
          <p:cNvSpPr/>
          <p:nvPr/>
        </p:nvSpPr>
        <p:spPr>
          <a:xfrm>
            <a:off x="457200" y="2039112"/>
            <a:ext cx="3108960" cy="603504"/>
          </a:xfrm>
          <a:prstGeom prst="roundRect">
            <a:avLst>
              <a:gd name="adj" fmla="val 18182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11" name="Animasi langkah 4 (wipeL) #11"/>
          <p:cNvSpPr txBox="1"/>
          <p:nvPr/>
        </p:nvSpPr>
        <p:spPr>
          <a:xfrm>
            <a:off x="548640" y="203911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Animasi langkah 4 (wipeL) #12"/>
          <p:cNvSpPr txBox="1"/>
          <p:nvPr/>
        </p:nvSpPr>
        <p:spPr>
          <a:xfrm>
            <a:off x="914400" y="20391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Sesuaikan dengan kematangan pasar (produk baru ≠ "beli banyak gratis 1")</a:t>
            </a:r>
            <a:endParaRPr lang="en-US" sz="1050" dirty="0"/>
          </a:p>
        </p:txBody>
      </p:sp>
      <p:sp>
        <p:nvSpPr>
          <p:cNvPr id="13" name="Animasi langkah 5 (wipeL) #13"/>
          <p:cNvSpPr/>
          <p:nvPr/>
        </p:nvSpPr>
        <p:spPr>
          <a:xfrm>
            <a:off x="457200" y="2752344"/>
            <a:ext cx="3108960" cy="603504"/>
          </a:xfrm>
          <a:prstGeom prst="roundRect">
            <a:avLst>
              <a:gd name="adj" fmla="val 18182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sp>
        <p:nvSpPr>
          <p:cNvPr id="14" name="Animasi langkah 5 (wipeL) #14"/>
          <p:cNvSpPr txBox="1"/>
          <p:nvPr/>
        </p:nvSpPr>
        <p:spPr>
          <a:xfrm>
            <a:off x="548640" y="275234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Animasi langkah 5 (wipeL) #15"/>
          <p:cNvSpPr txBox="1"/>
          <p:nvPr/>
        </p:nvSpPr>
        <p:spPr>
          <a:xfrm>
            <a:off x="914400" y="275234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tergoda perang harga</a:t>
            </a:r>
            <a:endParaRPr lang="en-US" sz="1050" dirty="0"/>
          </a:p>
        </p:txBody>
      </p:sp>
      <p:sp>
        <p:nvSpPr>
          <p:cNvPr id="16" name="Animasi langkah 6 (zoom) #16"/>
          <p:cNvSpPr/>
          <p:nvPr/>
        </p:nvSpPr>
        <p:spPr>
          <a:xfrm>
            <a:off x="3840480" y="132588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</p:spPr>
      </p:sp>
      <p:pic>
        <p:nvPicPr>
          <p:cNvPr id="17" name="Animasi langkah 6 (zoom) #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1481328"/>
            <a:ext cx="329184" cy="329184"/>
          </a:xfrm>
          <a:prstGeom prst="rect">
            <a:avLst/>
          </a:prstGeom>
        </p:spPr>
      </p:pic>
      <p:sp>
        <p:nvSpPr>
          <p:cNvPr id="18" name="Animasi langkah 6 (zoom) #18"/>
          <p:cNvSpPr txBox="1"/>
          <p:nvPr/>
        </p:nvSpPr>
        <p:spPr>
          <a:xfrm>
            <a:off x="4370832" y="1325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Awareness; pesan harus simpel</a:t>
            </a:r>
            <a:endParaRPr lang="en-US" sz="1200" dirty="0"/>
          </a:p>
        </p:txBody>
      </p:sp>
      <p:sp>
        <p:nvSpPr>
          <p:cNvPr id="19" name="Animasi langkah 7 (zoom) #19"/>
          <p:cNvSpPr/>
          <p:nvPr/>
        </p:nvSpPr>
        <p:spPr>
          <a:xfrm>
            <a:off x="6291072" y="132588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</p:spPr>
      </p:sp>
      <p:pic>
        <p:nvPicPr>
          <p:cNvPr id="20" name="Animasi langkah 7 (zoom) #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81328"/>
            <a:ext cx="329184" cy="329184"/>
          </a:xfrm>
          <a:prstGeom prst="rect">
            <a:avLst/>
          </a:prstGeom>
        </p:spPr>
      </p:pic>
      <p:sp>
        <p:nvSpPr>
          <p:cNvPr id="21" name="Animasi langkah 7 (zoom) #21"/>
          <p:cNvSpPr txBox="1"/>
          <p:nvPr/>
        </p:nvSpPr>
        <p:spPr>
          <a:xfrm>
            <a:off x="6821424" y="1325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tertentu, kombinasikan</a:t>
            </a:r>
            <a:endParaRPr lang="en-US" sz="1200" dirty="0"/>
          </a:p>
        </p:txBody>
      </p:sp>
      <p:sp>
        <p:nvSpPr>
          <p:cNvPr id="22" name="Animasi langkah 8 (zoom) #22"/>
          <p:cNvSpPr/>
          <p:nvPr/>
        </p:nvSpPr>
        <p:spPr>
          <a:xfrm>
            <a:off x="3840480" y="20574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</p:spPr>
      </p:sp>
      <p:pic>
        <p:nvPicPr>
          <p:cNvPr id="23" name="Animasi langkah 8 (zoom) #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2212848"/>
            <a:ext cx="329184" cy="329184"/>
          </a:xfrm>
          <a:prstGeom prst="rect">
            <a:avLst/>
          </a:prstGeom>
        </p:spPr>
      </p:pic>
      <p:sp>
        <p:nvSpPr>
          <p:cNvPr id="24" name="Animasi langkah 8 (zoom) #24"/>
          <p:cNvSpPr txBox="1"/>
          <p:nvPr/>
        </p:nvSpPr>
        <p:spPr>
          <a:xfrm>
            <a:off x="4370832" y="20574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efektif; berbayar kecil lebih serius</a:t>
            </a:r>
            <a:endParaRPr lang="en-US" sz="1200" dirty="0"/>
          </a:p>
        </p:txBody>
      </p:sp>
      <p:sp>
        <p:nvSpPr>
          <p:cNvPr id="25" name="Animasi langkah 9 (zoom) #25"/>
          <p:cNvSpPr/>
          <p:nvPr/>
        </p:nvSpPr>
        <p:spPr>
          <a:xfrm>
            <a:off x="6291072" y="205740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</p:spPr>
      </p:sp>
      <p:pic>
        <p:nvPicPr>
          <p:cNvPr id="26" name="Animasi langkah 9 (zoom) #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212848"/>
            <a:ext cx="329184" cy="329184"/>
          </a:xfrm>
          <a:prstGeom prst="rect">
            <a:avLst/>
          </a:prstGeom>
        </p:spPr>
      </p:pic>
      <p:sp>
        <p:nvSpPr>
          <p:cNvPr id="27" name="Animasi langkah 9 (zoom) #27"/>
          <p:cNvSpPr txBox="1"/>
          <p:nvPr/>
        </p:nvSpPr>
        <p:spPr>
          <a:xfrm>
            <a:off x="6821424" y="20574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ke audiens baru</a:t>
            </a:r>
            <a:endParaRPr lang="en-US" sz="1200" dirty="0"/>
          </a:p>
        </p:txBody>
      </p:sp>
      <p:sp>
        <p:nvSpPr>
          <p:cNvPr id="28" name="Animasi langkah 10 (zoom) #28"/>
          <p:cNvSpPr/>
          <p:nvPr/>
        </p:nvSpPr>
        <p:spPr>
          <a:xfrm>
            <a:off x="3840480" y="278892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9" name="Animasi langkah 10 (zoom) #2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2944368"/>
            <a:ext cx="329184" cy="329184"/>
          </a:xfrm>
          <a:prstGeom prst="rect">
            <a:avLst/>
          </a:prstGeom>
        </p:spPr>
      </p:pic>
      <p:sp>
        <p:nvSpPr>
          <p:cNvPr id="30" name="Animasi langkah 10 (zoom) #30"/>
          <p:cNvSpPr txBox="1"/>
          <p:nvPr/>
        </p:nvSpPr>
        <p:spPr>
          <a:xfrm>
            <a:off x="4370832" y="27889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Koin / Token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Loyalitas pembelian berulang</a:t>
            </a:r>
            <a:endParaRPr lang="en-US" sz="1200" dirty="0"/>
          </a:p>
        </p:txBody>
      </p:sp>
      <p:sp>
        <p:nvSpPr>
          <p:cNvPr id="31" name="Animasi langkah 11 (zoom) #31"/>
          <p:cNvSpPr/>
          <p:nvPr/>
        </p:nvSpPr>
        <p:spPr>
          <a:xfrm>
            <a:off x="6291072" y="2788920"/>
            <a:ext cx="2331720" cy="640080"/>
          </a:xfrm>
          <a:prstGeom prst="roundRect">
            <a:avLst>
              <a:gd name="adj" fmla="val 17143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</p:spPr>
      </p:sp>
      <p:pic>
        <p:nvPicPr>
          <p:cNvPr id="32" name="Animasi langkah 11 (zoom) #3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944368"/>
            <a:ext cx="329184" cy="329184"/>
          </a:xfrm>
          <a:prstGeom prst="rect">
            <a:avLst/>
          </a:prstGeom>
        </p:spPr>
      </p:pic>
      <p:sp>
        <p:nvSpPr>
          <p:cNvPr id="33" name="Animasi langkah 11 (zoom) #33"/>
          <p:cNvSpPr txBox="1"/>
          <p:nvPr/>
        </p:nvSpPr>
        <p:spPr>
          <a:xfrm>
            <a:off x="6821424" y="27889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TikTok</a:t>
            </a:r>
            <a:endParaRPr lang="en-US" sz="12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jadi "mesin pencari"; AI bantu konten</a:t>
            </a:r>
            <a:endParaRPr lang="en-US" sz="1200" dirty="0"/>
          </a:p>
        </p:txBody>
      </p:sp>
      <p:sp>
        <p:nvSpPr>
          <p:cNvPr id="34" name="Animasi langkah 12 (wipeL) #34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5" name="Animasi langkah 12 (wipeL) #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6" name="Animasi langkah 12 (wipeL) #36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ajukan promosi dengan format: tujuan → target angka → media → cara ukur.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4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2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8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66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4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42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8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18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Efektivitas Promosi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baseline &amp; target, promosi tak bisa dinilai</a:t>
            </a:r>
            <a:endParaRPr lang="en-US" sz="1250" dirty="0"/>
          </a:p>
        </p:txBody>
      </p:sp>
      <p:graphicFrame>
        <p:nvGraphicFramePr>
          <p:cNvPr id="7" name="Animasi langkah 3 (wipeU) #7"/>
          <p:cNvGraphicFramePr/>
          <p:nvPr/>
        </p:nvGraphicFramePr>
        <p:xfrm>
          <a:off x="457200" y="1280160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Animasi langkah 4 (zoom) #8"/>
          <p:cNvSpPr/>
          <p:nvPr/>
        </p:nvSpPr>
        <p:spPr>
          <a:xfrm>
            <a:off x="4480560" y="1280160"/>
            <a:ext cx="457200" cy="4572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9" name="Animasi langkah 4 (zoom) #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380744"/>
            <a:ext cx="256032" cy="256032"/>
          </a:xfrm>
          <a:prstGeom prst="rect">
            <a:avLst/>
          </a:prstGeom>
        </p:spPr>
      </p:pic>
      <p:sp>
        <p:nvSpPr>
          <p:cNvPr id="10" name="Animasi langkah 4 (fade) #10"/>
          <p:cNvSpPr txBox="1"/>
          <p:nvPr/>
        </p:nvSpPr>
        <p:spPr>
          <a:xfrm>
            <a:off x="5029200" y="1234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baseline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awal, mis. 100 unit</a:t>
            </a:r>
            <a:endParaRPr lang="en-US" sz="1200" dirty="0"/>
          </a:p>
        </p:txBody>
      </p:sp>
      <p:sp>
        <p:nvSpPr>
          <p:cNvPr id="11" name="Animasi langkah 5 (zoom) #11"/>
          <p:cNvSpPr/>
          <p:nvPr/>
        </p:nvSpPr>
        <p:spPr>
          <a:xfrm>
            <a:off x="4480560" y="1883664"/>
            <a:ext cx="457200" cy="4572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12" name="Animasi langkah 5 (zoom) #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1984248"/>
            <a:ext cx="256032" cy="256032"/>
          </a:xfrm>
          <a:prstGeom prst="rect">
            <a:avLst/>
          </a:prstGeom>
        </p:spPr>
      </p:pic>
      <p:sp>
        <p:nvSpPr>
          <p:cNvPr id="13" name="Animasi langkah 5 (fade) #13"/>
          <p:cNvSpPr txBox="1"/>
          <p:nvPr/>
        </p:nvSpPr>
        <p:spPr>
          <a:xfrm>
            <a:off x="5029200" y="1837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target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Mis. naik 20% → 120 unit</a:t>
            </a:r>
            <a:endParaRPr lang="en-US" sz="1200" dirty="0"/>
          </a:p>
        </p:txBody>
      </p:sp>
      <p:sp>
        <p:nvSpPr>
          <p:cNvPr id="14" name="Animasi langkah 6 (zoom) #14"/>
          <p:cNvSpPr/>
          <p:nvPr/>
        </p:nvSpPr>
        <p:spPr>
          <a:xfrm>
            <a:off x="4480560" y="2487168"/>
            <a:ext cx="457200" cy="4572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15" name="Animasi langkah 6 (zoom) #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2587752"/>
            <a:ext cx="256032" cy="256032"/>
          </a:xfrm>
          <a:prstGeom prst="rect">
            <a:avLst/>
          </a:prstGeom>
        </p:spPr>
      </p:pic>
      <p:sp>
        <p:nvSpPr>
          <p:cNvPr id="16" name="Animasi langkah 6 (fade) #16"/>
          <p:cNvSpPr txBox="1"/>
          <p:nvPr/>
        </p:nvSpPr>
        <p:spPr>
          <a:xfrm>
            <a:off x="5029200" y="24414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aktual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bergerak? Jangan diulang dalam bentuk sama</a:t>
            </a:r>
            <a:endParaRPr lang="en-US" sz="1200" dirty="0"/>
          </a:p>
        </p:txBody>
      </p:sp>
      <p:sp>
        <p:nvSpPr>
          <p:cNvPr id="17" name="Animasi langkah 7 (zoom) #17"/>
          <p:cNvSpPr/>
          <p:nvPr/>
        </p:nvSpPr>
        <p:spPr>
          <a:xfrm>
            <a:off x="4480560" y="3090672"/>
            <a:ext cx="457200" cy="4572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18" name="Animasi langkah 7 (zoom) #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3191256"/>
            <a:ext cx="256032" cy="256032"/>
          </a:xfrm>
          <a:prstGeom prst="rect">
            <a:avLst/>
          </a:prstGeom>
        </p:spPr>
      </p:pic>
      <p:sp>
        <p:nvSpPr>
          <p:cNvPr id="19" name="Animasi langkah 7 (fade) #19"/>
          <p:cNvSpPr txBox="1"/>
          <p:nvPr/>
        </p:nvSpPr>
        <p:spPr>
          <a:xfrm>
            <a:off x="5029200" y="3044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 kualitatif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"Apakah Anda melihat promosi ini?"</a:t>
            </a:r>
            <a:endParaRPr lang="en-US" sz="1200" dirty="0"/>
          </a:p>
        </p:txBody>
      </p:sp>
      <p:sp>
        <p:nvSpPr>
          <p:cNvPr id="20" name="Animasi langkah 8 (zoom) #20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pic>
        <p:nvPicPr>
          <p:cNvPr id="21" name="Animasi langkah 8 (zoom) #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3794760"/>
            <a:ext cx="256032" cy="256032"/>
          </a:xfrm>
          <a:prstGeom prst="rect">
            <a:avLst/>
          </a:prstGeom>
        </p:spPr>
      </p:pic>
      <p:sp>
        <p:nvSpPr>
          <p:cNvPr id="22" name="Animasi langkah 8 (fade) #22"/>
          <p:cNvSpPr txBox="1"/>
          <p:nvPr/>
        </p:nvSpPr>
        <p:spPr>
          <a:xfrm>
            <a:off x="5029200" y="36484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datanya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"Naik 20%, 8/10 suka" → basis proposal berikut</a:t>
            </a:r>
            <a:endParaRPr lang="en-US" sz="1200" dirty="0"/>
          </a:p>
        </p:txBody>
      </p:sp>
      <p:sp>
        <p:nvSpPr>
          <p:cNvPr id="23" name="Animasi langkah 9 (wipeL) #23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4" name="Animasi langkah 9 (wipeL) #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5" name="Animasi langkah 9 (wipeL) #25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"bank data promosi" 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cabang.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tercatat hasil vs target-nya.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2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8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66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4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Graphic spid="7" grpId="0">
        <p:bldAsOne/>
      </p:bldGraphic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ABCDE. Menilai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Iklan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Iklan menarik belum tentu efektif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2588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 txBox="1"/>
          <p:nvPr/>
        </p:nvSpPr>
        <p:spPr>
          <a:xfrm>
            <a:off x="457200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000" dirty="0"/>
          </a:p>
        </p:txBody>
      </p:sp>
      <p:sp>
        <p:nvSpPr>
          <p:cNvPr id="9" name="Animasi langkah 3 (up) #9"/>
          <p:cNvSpPr txBox="1"/>
          <p:nvPr/>
        </p:nvSpPr>
        <p:spPr>
          <a:xfrm>
            <a:off x="457200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10" name="Animasi langkah 3 (up) #10"/>
          <p:cNvSpPr txBox="1"/>
          <p:nvPr/>
        </p:nvSpPr>
        <p:spPr>
          <a:xfrm>
            <a:off x="548640" y="25603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Tarik perhatian 3–5 detik pertama sebelum di-skip</a:t>
            </a:r>
            <a:endParaRPr lang="en-US" sz="1050" dirty="0"/>
          </a:p>
        </p:txBody>
      </p:sp>
      <p:sp>
        <p:nvSpPr>
          <p:cNvPr id="11" name="Animasi langkah 4 (up) #11"/>
          <p:cNvSpPr/>
          <p:nvPr/>
        </p:nvSpPr>
        <p:spPr>
          <a:xfrm>
            <a:off x="2139696" y="132588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2" name="Animasi langkah 4 (up) #12"/>
          <p:cNvSpPr txBox="1"/>
          <p:nvPr/>
        </p:nvSpPr>
        <p:spPr>
          <a:xfrm>
            <a:off x="2139696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5000" dirty="0"/>
          </a:p>
        </p:txBody>
      </p:sp>
      <p:sp>
        <p:nvSpPr>
          <p:cNvPr id="13" name="Animasi langkah 4 (up) #13"/>
          <p:cNvSpPr txBox="1"/>
          <p:nvPr/>
        </p:nvSpPr>
        <p:spPr>
          <a:xfrm>
            <a:off x="2139696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250" dirty="0"/>
          </a:p>
        </p:txBody>
      </p:sp>
      <p:sp>
        <p:nvSpPr>
          <p:cNvPr id="14" name="Animasi langkah 4 (up) #14"/>
          <p:cNvSpPr txBox="1"/>
          <p:nvPr/>
        </p:nvSpPr>
        <p:spPr>
          <a:xfrm>
            <a:off x="2231136" y="25603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 jelas &amp; mudah dikenali</a:t>
            </a:r>
            <a:endParaRPr lang="en-US" sz="1050" dirty="0"/>
          </a:p>
        </p:txBody>
      </p:sp>
      <p:sp>
        <p:nvSpPr>
          <p:cNvPr id="15" name="Animasi langkah 5 (up) #15"/>
          <p:cNvSpPr/>
          <p:nvPr/>
        </p:nvSpPr>
        <p:spPr>
          <a:xfrm>
            <a:off x="3822192" y="132588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6" name="Animasi langkah 5 (up) #16"/>
          <p:cNvSpPr txBox="1"/>
          <p:nvPr/>
        </p:nvSpPr>
        <p:spPr>
          <a:xfrm>
            <a:off x="3822192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000" dirty="0"/>
          </a:p>
        </p:txBody>
      </p:sp>
      <p:sp>
        <p:nvSpPr>
          <p:cNvPr id="17" name="Animasi langkah 5 (up) #17"/>
          <p:cNvSpPr txBox="1"/>
          <p:nvPr/>
        </p:nvSpPr>
        <p:spPr>
          <a:xfrm>
            <a:off x="3822192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18" name="Animasi langkah 5 (up) #18"/>
          <p:cNvSpPr txBox="1"/>
          <p:nvPr/>
        </p:nvSpPr>
        <p:spPr>
          <a:xfrm>
            <a:off x="3913632" y="25603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janji yang lugas, tidak berbelit</a:t>
            </a:r>
            <a:endParaRPr lang="en-US" sz="1050" dirty="0"/>
          </a:p>
        </p:txBody>
      </p:sp>
      <p:sp>
        <p:nvSpPr>
          <p:cNvPr id="19" name="Animasi langkah 6 (up) #19"/>
          <p:cNvSpPr/>
          <p:nvPr/>
        </p:nvSpPr>
        <p:spPr>
          <a:xfrm>
            <a:off x="5504688" y="132588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0" name="Animasi langkah 6 (up) #20"/>
          <p:cNvSpPr txBox="1"/>
          <p:nvPr/>
        </p:nvSpPr>
        <p:spPr>
          <a:xfrm>
            <a:off x="5504688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000" dirty="0"/>
          </a:p>
        </p:txBody>
      </p:sp>
      <p:sp>
        <p:nvSpPr>
          <p:cNvPr id="21" name="Animasi langkah 6 (up) #21"/>
          <p:cNvSpPr txBox="1"/>
          <p:nvPr/>
        </p:nvSpPr>
        <p:spPr>
          <a:xfrm>
            <a:off x="5504688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22" name="Animasi langkah 6 (up) #22"/>
          <p:cNvSpPr txBox="1"/>
          <p:nvPr/>
        </p:nvSpPr>
        <p:spPr>
          <a:xfrm>
            <a:off x="5596128" y="25603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Saluran sesuai audiens &amp; touch point</a:t>
            </a:r>
            <a:endParaRPr lang="en-US" sz="1050" dirty="0"/>
          </a:p>
        </p:txBody>
      </p:sp>
      <p:sp>
        <p:nvSpPr>
          <p:cNvPr id="23" name="Animasi langkah 7 (up) #23"/>
          <p:cNvSpPr/>
          <p:nvPr/>
        </p:nvSpPr>
        <p:spPr>
          <a:xfrm>
            <a:off x="7187184" y="132588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4" name="Animasi langkah 7 (up) #24"/>
          <p:cNvSpPr txBox="1"/>
          <p:nvPr/>
        </p:nvSpPr>
        <p:spPr>
          <a:xfrm>
            <a:off x="7187184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5000" dirty="0"/>
          </a:p>
        </p:txBody>
      </p:sp>
      <p:sp>
        <p:nvSpPr>
          <p:cNvPr id="25" name="Animasi langkah 7 (up) #25"/>
          <p:cNvSpPr txBox="1"/>
          <p:nvPr/>
        </p:nvSpPr>
        <p:spPr>
          <a:xfrm>
            <a:off x="7187184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250" dirty="0"/>
          </a:p>
        </p:txBody>
      </p:sp>
      <p:sp>
        <p:nvSpPr>
          <p:cNvPr id="26" name="Animasi langkah 7 (up) #26"/>
          <p:cNvSpPr txBox="1"/>
          <p:nvPr/>
        </p:nvSpPr>
        <p:spPr>
          <a:xfrm>
            <a:off x="7278624" y="25603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Kreatif + hasil bisnis yang terukur</a:t>
            </a:r>
            <a:endParaRPr lang="en-US" sz="1050" dirty="0"/>
          </a:p>
        </p:txBody>
      </p:sp>
      <p:sp>
        <p:nvSpPr>
          <p:cNvPr id="27" name="Animasi langkah 8 (fade) #27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rumit pesannya, semakin besar risiko audiens kehilangan minat. Kreativitas harus selaras dengan tujuan bisnis.</a:t>
            </a:r>
            <a:endParaRPr lang="en-US" sz="1150" dirty="0"/>
          </a:p>
        </p:txBody>
      </p:sp>
      <p:sp>
        <p:nvSpPr>
          <p:cNvPr id="28" name="Animasi langkah 9 (wipeL) #28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9" name="Animasi langkah 9 (wipeL) #2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0" name="Animasi langkah 9 (wipeL) #30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ABCDE sebagai lembar penilaian sebelum menyetujui materi promosi lokal.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4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2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90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280"/>
                            </p:stCondLst>
                            <p:childTnLst>
                              <p:par>
                                <p:cTn id="9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66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4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Harga: Cost vs Value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= keseimbangan biaya &amp; nilai yang dipersepsikan</a:t>
            </a:r>
            <a:endParaRPr lang="en-US" sz="1250" dirty="0"/>
          </a:p>
        </p:txBody>
      </p:sp>
      <p:sp>
        <p:nvSpPr>
          <p:cNvPr id="7" name="Animasi langkah 3 (fade) #7"/>
          <p:cNvSpPr/>
          <p:nvPr/>
        </p:nvSpPr>
        <p:spPr>
          <a:xfrm>
            <a:off x="1737360" y="2514600"/>
            <a:ext cx="1097280" cy="1280160"/>
          </a:xfrm>
          <a:prstGeom prst="triangl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8" name="Animasi langkah 3 (fade) #8"/>
          <p:cNvSpPr/>
          <p:nvPr/>
        </p:nvSpPr>
        <p:spPr>
          <a:xfrm>
            <a:off x="548640" y="2450592"/>
            <a:ext cx="3474720" cy="91440"/>
          </a:xfrm>
          <a:prstGeom prst="rect">
            <a:avLst/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sp>
        <p:nvSpPr>
          <p:cNvPr id="9" name="Animasi langkah 4 (zoom) #9"/>
          <p:cNvSpPr/>
          <p:nvPr/>
        </p:nvSpPr>
        <p:spPr>
          <a:xfrm>
            <a:off x="457200" y="1417320"/>
            <a:ext cx="1097280" cy="100584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10" name="Animasi langkah 4 (zoom) #10"/>
          <p:cNvSpPr txBox="1"/>
          <p:nvPr/>
        </p:nvSpPr>
        <p:spPr>
          <a:xfrm>
            <a:off x="457200" y="14173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1" name="Animasi langkah 5 (zoom) #11"/>
          <p:cNvSpPr/>
          <p:nvPr/>
        </p:nvSpPr>
        <p:spPr>
          <a:xfrm>
            <a:off x="3017520" y="1417320"/>
            <a:ext cx="1097280" cy="100584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12" name="Animasi langkah 5 (zoom) #12"/>
          <p:cNvSpPr txBox="1"/>
          <p:nvPr/>
        </p:nvSpPr>
        <p:spPr>
          <a:xfrm>
            <a:off x="3017520" y="14173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13" name="Animasi langkah 6 (fade) #13"/>
          <p:cNvSpPr txBox="1"/>
          <p:nvPr/>
        </p:nvSpPr>
        <p:spPr>
          <a:xfrm>
            <a:off x="4572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serupa, harga beda jauh karena posisi merek.</a:t>
            </a:r>
            <a:endParaRPr lang="en-US" sz="1050" dirty="0"/>
          </a:p>
        </p:txBody>
      </p:sp>
      <p:sp>
        <p:nvSpPr>
          <p:cNvPr id="14" name="Animasi langkah 7 (zoom) #14"/>
          <p:cNvSpPr/>
          <p:nvPr/>
        </p:nvSpPr>
        <p:spPr>
          <a:xfrm>
            <a:off x="4526280" y="1325880"/>
            <a:ext cx="502920" cy="50292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pic>
        <p:nvPicPr>
          <p:cNvPr id="15" name="Animasi langkah 7 (zoom) #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22" y="1436522"/>
            <a:ext cx="281635" cy="281635"/>
          </a:xfrm>
          <a:prstGeom prst="rect">
            <a:avLst/>
          </a:prstGeom>
        </p:spPr>
      </p:pic>
      <p:sp>
        <p:nvSpPr>
          <p:cNvPr id="16" name="Animasi langkah 7 (fade) #16"/>
          <p:cNvSpPr txBox="1"/>
          <p:nvPr/>
        </p:nvSpPr>
        <p:spPr>
          <a:xfrm>
            <a:off x="5138928" y="12710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memengaruhi nilai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Tekstur &amp; bentuk ikut menentukan keputusan beli.</a:t>
            </a:r>
            <a:endParaRPr lang="en-US" sz="1200" dirty="0"/>
          </a:p>
        </p:txBody>
      </p:sp>
      <p:sp>
        <p:nvSpPr>
          <p:cNvPr id="17" name="Animasi langkah 8 (zoom) #17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pic>
        <p:nvPicPr>
          <p:cNvPr id="18" name="Animasi langkah 8 (zoom) #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922" y="2168042"/>
            <a:ext cx="281635" cy="281635"/>
          </a:xfrm>
          <a:prstGeom prst="rect">
            <a:avLst/>
          </a:prstGeom>
        </p:spPr>
      </p:pic>
      <p:sp>
        <p:nvSpPr>
          <p:cNvPr id="19" name="Animasi langkah 8 (fade) #19"/>
          <p:cNvSpPr txBox="1"/>
          <p:nvPr/>
        </p:nvSpPr>
        <p:spPr>
          <a:xfrm>
            <a:off x="5138928" y="20025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Kemasan kecil buka segmen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 5 kg / 9–10 kg vs 40–50 kg: eceran &amp; daring.</a:t>
            </a:r>
            <a:endParaRPr lang="en-US" sz="1200" dirty="0"/>
          </a:p>
        </p:txBody>
      </p:sp>
      <p:sp>
        <p:nvSpPr>
          <p:cNvPr id="20" name="Animasi langkah 9 (zoom) #20"/>
          <p:cNvSpPr/>
          <p:nvPr/>
        </p:nvSpPr>
        <p:spPr>
          <a:xfrm>
            <a:off x="4526280" y="2788920"/>
            <a:ext cx="502920" cy="5029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pic>
        <p:nvPicPr>
          <p:cNvPr id="21" name="Animasi langkah 9 (zoom) #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922" y="2899562"/>
            <a:ext cx="281635" cy="281635"/>
          </a:xfrm>
          <a:prstGeom prst="rect">
            <a:avLst/>
          </a:prstGeom>
        </p:spPr>
      </p:pic>
      <p:sp>
        <p:nvSpPr>
          <p:cNvPr id="22" name="Animasi langkah 9 (fade) #22"/>
          <p:cNvSpPr txBox="1"/>
          <p:nvPr/>
        </p:nvSpPr>
        <p:spPr>
          <a:xfrm>
            <a:off x="5138928" y="27340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penjualan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perubahan desain kemasan.</a:t>
            </a:r>
            <a:endParaRPr lang="en-US" sz="1200" dirty="0"/>
          </a:p>
        </p:txBody>
      </p:sp>
      <p:sp>
        <p:nvSpPr>
          <p:cNvPr id="23" name="Animasi langkah 10 (zoom) #23"/>
          <p:cNvSpPr/>
          <p:nvPr/>
        </p:nvSpPr>
        <p:spPr>
          <a:xfrm>
            <a:off x="4526280" y="3520440"/>
            <a:ext cx="502920" cy="50292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pic>
        <p:nvPicPr>
          <p:cNvPr id="24" name="Animasi langkah 10 (zoom) #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22" y="3631082"/>
            <a:ext cx="281635" cy="281635"/>
          </a:xfrm>
          <a:prstGeom prst="rect">
            <a:avLst/>
          </a:prstGeom>
        </p:spPr>
      </p:pic>
      <p:sp>
        <p:nvSpPr>
          <p:cNvPr id="25" name="Animasi langkah 10 (fade) #25"/>
          <p:cNvSpPr txBox="1"/>
          <p:nvPr/>
        </p:nvSpPr>
        <p:spPr>
          <a:xfrm>
            <a:off x="5138928" y="346557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disparitas wilayah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Cegah "beli murah di sini, jual di sana".</a:t>
            </a:r>
            <a:endParaRPr lang="en-US" sz="1200" dirty="0"/>
          </a:p>
        </p:txBody>
      </p:sp>
      <p:sp>
        <p:nvSpPr>
          <p:cNvPr id="26" name="Animasi langkah 11 (wipeL) #26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7" name="Animasi langkah 11 (wipeL) #2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8" name="Animasi langkah 11 (wipeL) #28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awasi perbedaan harga antar area dan laporkan indikasi arbitrase lintas wilayah sejak dini.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4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2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8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66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4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42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8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Portofolio Merek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berjenjang, bersaing level demi level</a:t>
            </a:r>
            <a:endParaRPr lang="en-US" sz="1250" dirty="0"/>
          </a:p>
        </p:txBody>
      </p:sp>
      <p:sp>
        <p:nvSpPr>
          <p:cNvPr id="7" name="Animasi langkah 3 (wipeD) #7"/>
          <p:cNvSpPr/>
          <p:nvPr/>
        </p:nvSpPr>
        <p:spPr>
          <a:xfrm>
            <a:off x="1508760" y="1325880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wipeD) #8"/>
          <p:cNvSpPr txBox="1"/>
          <p:nvPr/>
        </p:nvSpPr>
        <p:spPr>
          <a:xfrm>
            <a:off x="1508760" y="13258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Signature Brand</a:t>
            </a:r>
            <a:endParaRPr lang="en-US" sz="1250" dirty="0"/>
          </a:p>
        </p:txBody>
      </p:sp>
      <p:sp>
        <p:nvSpPr>
          <p:cNvPr id="9" name="Animasi langkah 4 (wipeD) #9"/>
          <p:cNvSpPr/>
          <p:nvPr/>
        </p:nvSpPr>
        <p:spPr>
          <a:xfrm>
            <a:off x="1051560" y="219456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FFE0C2"/>
          </a:solidFill>
          <a:ln w="9525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0" name="Animasi langkah 4 (wipeD) #10"/>
          <p:cNvSpPr txBox="1"/>
          <p:nvPr/>
        </p:nvSpPr>
        <p:spPr>
          <a:xfrm>
            <a:off x="1051560" y="2194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Brand</a:t>
            </a:r>
            <a:endParaRPr lang="en-US" sz="1250" dirty="0"/>
          </a:p>
        </p:txBody>
      </p:sp>
      <p:sp>
        <p:nvSpPr>
          <p:cNvPr id="11" name="Animasi langkah 5 (wipeD) #11"/>
          <p:cNvSpPr/>
          <p:nvPr/>
        </p:nvSpPr>
        <p:spPr>
          <a:xfrm>
            <a:off x="594360" y="3063240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C9F2E1"/>
          </a:solidFill>
          <a:ln w="9525">
            <a:solidFill>
              <a:srgbClr val="C9F2E1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2" name="Animasi langkah 5 (wipeD) #12"/>
          <p:cNvSpPr txBox="1"/>
          <p:nvPr/>
        </p:nvSpPr>
        <p:spPr>
          <a:xfrm>
            <a:off x="594360" y="3063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Brand</a:t>
            </a:r>
            <a:endParaRPr lang="en-US" sz="1250" dirty="0"/>
          </a:p>
        </p:txBody>
      </p:sp>
      <p:sp>
        <p:nvSpPr>
          <p:cNvPr id="13" name="Animasi langkah 6 (zoom) #13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pic>
        <p:nvPicPr>
          <p:cNvPr id="14" name="Animasi langkah 6 (zoom) #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682" y="1527962"/>
            <a:ext cx="281635" cy="281635"/>
          </a:xfrm>
          <a:prstGeom prst="rect">
            <a:avLst/>
          </a:prstGeom>
        </p:spPr>
      </p:pic>
      <p:sp>
        <p:nvSpPr>
          <p:cNvPr id="15" name="Animasi langkah 6 (fade) #15"/>
          <p:cNvSpPr txBox="1"/>
          <p:nvPr/>
        </p:nvSpPr>
        <p:spPr>
          <a:xfrm>
            <a:off x="5486400" y="1325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vs fighting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brand lawan main brand kompetitor; fighting brand lawan fighting brand. Jangan campur level.</a:t>
            </a:r>
            <a:endParaRPr lang="en-US" sz="1200" dirty="0"/>
          </a:p>
        </p:txBody>
      </p:sp>
      <p:sp>
        <p:nvSpPr>
          <p:cNvPr id="16" name="Animasi langkah 7 (zoom) #16"/>
          <p:cNvSpPr/>
          <p:nvPr/>
        </p:nvSpPr>
        <p:spPr>
          <a:xfrm>
            <a:off x="4892040" y="2286000"/>
            <a:ext cx="502920" cy="502920"/>
          </a:xfrm>
          <a:prstGeom prst="ellipse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pic>
        <p:nvPicPr>
          <p:cNvPr id="17" name="Animasi langkah 7 (zoom) #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2396642"/>
            <a:ext cx="281635" cy="281635"/>
          </a:xfrm>
          <a:prstGeom prst="rect">
            <a:avLst/>
          </a:prstGeom>
        </p:spPr>
      </p:pic>
      <p:sp>
        <p:nvSpPr>
          <p:cNvPr id="18" name="Animasi langkah 7 (fade) #18"/>
          <p:cNvSpPr txBox="1"/>
          <p:nvPr/>
        </p:nvSpPr>
        <p:spPr>
          <a:xfrm>
            <a:off x="5486400" y="2194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ke main brand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besarkan fighting brand sampai menggerus posisi main brand sendiri.</a:t>
            </a:r>
            <a:endParaRPr lang="en-US" sz="1200" dirty="0"/>
          </a:p>
        </p:txBody>
      </p:sp>
      <p:sp>
        <p:nvSpPr>
          <p:cNvPr id="19" name="Animasi langkah 8 (zoom) #19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pic>
        <p:nvPicPr>
          <p:cNvPr id="20" name="Animasi langkah 8 (zoom) #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2682" y="3265322"/>
            <a:ext cx="281635" cy="281635"/>
          </a:xfrm>
          <a:prstGeom prst="rect">
            <a:avLst/>
          </a:prstGeom>
        </p:spPr>
      </p:pic>
      <p:sp>
        <p:nvSpPr>
          <p:cNvPr id="21" name="Animasi langkah 8 (fade) #21"/>
          <p:cNvSpPr txBox="1"/>
          <p:nvPr/>
        </p:nvSpPr>
        <p:spPr>
          <a:xfrm>
            <a:off x="5486400" y="3063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wilayah, satu merek utama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1 main + 1 fighting brand per area, pilih berdasar brand equity lokal.</a:t>
            </a:r>
            <a:endParaRPr lang="en-US" sz="1200" dirty="0"/>
          </a:p>
        </p:txBody>
      </p:sp>
      <p:sp>
        <p:nvSpPr>
          <p:cNvPr id="22" name="Animasi langkah 9 (wipeL) #22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3" name="Animasi langkah 9 (wipeL) #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4" name="Animasi langkah 9 (wipeL) #24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tim tidak "membanting" main 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brand. gunakan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brand untuk menghadang kompetitor murah.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4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2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8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66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4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Regional: Wilayah "Merah" vs "Putih"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berbeda sesuai dominasi merek di wilayah</a:t>
            </a:r>
            <a:endParaRPr lang="en-US" sz="1250" dirty="0"/>
          </a:p>
        </p:txBody>
      </p:sp>
      <p:sp>
        <p:nvSpPr>
          <p:cNvPr id="7" name="Animasi langkah 3 (up) #7"/>
          <p:cNvSpPr/>
          <p:nvPr/>
        </p:nvSpPr>
        <p:spPr>
          <a:xfrm>
            <a:off x="457200" y="132588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FFD6E5"/>
          </a:solidFill>
          <a:ln w="9525">
            <a:solidFill>
              <a:srgbClr val="FFD6E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8" name="Animasi langkah 3 (up) #8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Animasi langkah 3 (up) #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583741"/>
            <a:ext cx="307238" cy="307238"/>
          </a:xfrm>
          <a:prstGeom prst="rect">
            <a:avLst/>
          </a:prstGeom>
        </p:spPr>
      </p:pic>
      <p:sp>
        <p:nvSpPr>
          <p:cNvPr id="10" name="Animasi langkah 3 (up) #10"/>
          <p:cNvSpPr txBox="1"/>
          <p:nvPr/>
        </p:nvSpPr>
        <p:spPr>
          <a:xfrm>
            <a:off x="132588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"Merah"</a:t>
            </a:r>
            <a:endParaRPr lang="en-US" sz="1500" dirty="0"/>
          </a:p>
        </p:txBody>
      </p:sp>
      <p:sp>
        <p:nvSpPr>
          <p:cNvPr id="11" name="Animasi langkah 3 (up) #11"/>
          <p:cNvSpPr txBox="1"/>
          <p:nvPr/>
        </p:nvSpPr>
        <p:spPr>
          <a:xfrm>
            <a:off x="1325880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B8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Didominasi kompetitor</a:t>
            </a:r>
            <a:endParaRPr lang="en-US" sz="1050" dirty="0"/>
          </a:p>
        </p:txBody>
      </p:sp>
      <p:sp>
        <p:nvSpPr>
          <p:cNvPr id="12" name="Animasi langkah 4 (fade) #12"/>
          <p:cNvSpPr txBox="1"/>
          <p:nvPr/>
        </p:nvSpPr>
        <p:spPr>
          <a:xfrm>
            <a:off x="640080" y="21945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Merebut pangsa jauh lebih sulit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usaha lebih: harga, waktu, intensitas promosi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Konsumen bisa sudah puas dengan kualitas kompetitor yang "memadai"</a:t>
            </a:r>
            <a:endParaRPr lang="en-US" sz="1250" dirty="0"/>
          </a:p>
        </p:txBody>
      </p:sp>
      <p:sp>
        <p:nvSpPr>
          <p:cNvPr id="13" name="Animasi langkah 5 (up) #13"/>
          <p:cNvSpPr/>
          <p:nvPr/>
        </p:nvSpPr>
        <p:spPr>
          <a:xfrm>
            <a:off x="4663440" y="132588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CFE8FF"/>
          </a:solidFill>
          <a:ln w="9525">
            <a:solidFill>
              <a:srgbClr val="CFE8FF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4" name="Animasi langkah 5 (up) #14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Animasi langkah 5 (up) #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021" y="1583741"/>
            <a:ext cx="307238" cy="307238"/>
          </a:xfrm>
          <a:prstGeom prst="rect">
            <a:avLst/>
          </a:prstGeom>
        </p:spPr>
      </p:pic>
      <p:sp>
        <p:nvSpPr>
          <p:cNvPr id="16" name="Animasi langkah 5 (up) #16"/>
          <p:cNvSpPr txBox="1"/>
          <p:nvPr/>
        </p:nvSpPr>
        <p:spPr>
          <a:xfrm>
            <a:off x="55321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"Putih" / Basis</a:t>
            </a:r>
            <a:endParaRPr lang="en-US" sz="1500" dirty="0"/>
          </a:p>
        </p:txBody>
      </p:sp>
      <p:sp>
        <p:nvSpPr>
          <p:cNvPr id="17" name="Animasi langkah 5 (up) #17"/>
          <p:cNvSpPr txBox="1"/>
          <p:nvPr/>
        </p:nvSpPr>
        <p:spPr>
          <a:xfrm>
            <a:off x="5532120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 atau basis merek sendiri</a:t>
            </a:r>
            <a:endParaRPr lang="en-US" sz="1050" dirty="0"/>
          </a:p>
        </p:txBody>
      </p:sp>
      <p:sp>
        <p:nvSpPr>
          <p:cNvPr id="18" name="Animasi langkah 6 (fade) #18"/>
          <p:cNvSpPr txBox="1"/>
          <p:nvPr/>
        </p:nvSpPr>
        <p:spPr>
          <a:xfrm>
            <a:off x="4846320" y="21945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"Tuan rumah di rumah sendiri</a:t>
            </a:r>
            <a:r>
              <a:rPr lang="en-US" sz="12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</a:t>
            </a:r>
            <a:r>
              <a:rPr lang="en-US" sz="12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</a:t>
            </a:r>
            <a:r>
              <a:rPr lang="en-US" sz="12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dominasi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lokal konsisten &amp; billboard besar sebagai penegasan identitas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Optimalkan media gratis/murah yang dibiayai bersama mitra</a:t>
            </a:r>
            <a:endParaRPr lang="en-US" sz="1250" dirty="0"/>
          </a:p>
        </p:txBody>
      </p:sp>
      <p:sp>
        <p:nvSpPr>
          <p:cNvPr id="19" name="Animasi langkah 7 (wipeL) #19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0" name="Animasi langkah 7 (wipeL) #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1" name="Animasi langkah 7 (wipeL) #21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area Anda merah/putih; alokasikan anggaran &amp; target realistis sesuai warnanya.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4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2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9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28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Riset &amp; Peran AI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keputusan = kualitas data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640080" y="1371600"/>
            <a:ext cx="777240" cy="77724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pic>
        <p:nvPicPr>
          <p:cNvPr id="8" name="Animasi langkah 3 (zoom) #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3" y="1542593"/>
            <a:ext cx="435254" cy="435254"/>
          </a:xfrm>
          <a:prstGeom prst="rect">
            <a:avLst/>
          </a:prstGeom>
        </p:spPr>
      </p:pic>
      <p:sp>
        <p:nvSpPr>
          <p:cNvPr id="9" name="Animasi langkah 3 (fade) #9"/>
          <p:cNvSpPr txBox="1"/>
          <p:nvPr/>
        </p:nvSpPr>
        <p:spPr>
          <a:xfrm>
            <a:off x="36576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</a:t>
            </a:r>
            <a:endParaRPr lang="en-US" sz="1150" dirty="0"/>
          </a:p>
        </p:txBody>
      </p:sp>
      <p:sp>
        <p:nvSpPr>
          <p:cNvPr id="10" name="Animasi langkah 3 (wipeL) #10"/>
          <p:cNvSpPr/>
          <p:nvPr/>
        </p:nvSpPr>
        <p:spPr>
          <a:xfrm>
            <a:off x="1508760" y="1645920"/>
            <a:ext cx="411480" cy="256032"/>
          </a:xfrm>
          <a:prstGeom prst="rightArrow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1" name="Animasi langkah 4 (zoom) #11"/>
          <p:cNvSpPr/>
          <p:nvPr/>
        </p:nvSpPr>
        <p:spPr>
          <a:xfrm>
            <a:off x="2011680" y="1371600"/>
            <a:ext cx="777240" cy="77724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pic>
        <p:nvPicPr>
          <p:cNvPr id="12" name="Animasi langkah 4 (zoom) #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673" y="1542593"/>
            <a:ext cx="435254" cy="435254"/>
          </a:xfrm>
          <a:prstGeom prst="rect">
            <a:avLst/>
          </a:prstGeom>
        </p:spPr>
      </p:pic>
      <p:sp>
        <p:nvSpPr>
          <p:cNvPr id="13" name="Animasi langkah 4 (fade) #13"/>
          <p:cNvSpPr txBox="1"/>
          <p:nvPr/>
        </p:nvSpPr>
        <p:spPr>
          <a:xfrm>
            <a:off x="173736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150" dirty="0"/>
          </a:p>
        </p:txBody>
      </p:sp>
      <p:sp>
        <p:nvSpPr>
          <p:cNvPr id="14" name="Animasi langkah 4 (wipeL) #14"/>
          <p:cNvSpPr/>
          <p:nvPr/>
        </p:nvSpPr>
        <p:spPr>
          <a:xfrm>
            <a:off x="2880360" y="1645920"/>
            <a:ext cx="411480" cy="256032"/>
          </a:xfrm>
          <a:prstGeom prst="rightArrow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5" name="Animasi langkah 5 (zoom) #15"/>
          <p:cNvSpPr/>
          <p:nvPr/>
        </p:nvSpPr>
        <p:spPr>
          <a:xfrm>
            <a:off x="3383280" y="1371600"/>
            <a:ext cx="777240" cy="77724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pic>
        <p:nvPicPr>
          <p:cNvPr id="16" name="Animasi langkah 5 (zoom) #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273" y="1542593"/>
            <a:ext cx="435254" cy="435254"/>
          </a:xfrm>
          <a:prstGeom prst="rect">
            <a:avLst/>
          </a:prstGeom>
        </p:spPr>
      </p:pic>
      <p:sp>
        <p:nvSpPr>
          <p:cNvPr id="17" name="Animasi langkah 5 (fade) #17"/>
          <p:cNvSpPr txBox="1"/>
          <p:nvPr/>
        </p:nvSpPr>
        <p:spPr>
          <a:xfrm>
            <a:off x="310896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out</a:t>
            </a:r>
            <a:endParaRPr lang="en-US" sz="1150" dirty="0"/>
          </a:p>
        </p:txBody>
      </p:sp>
      <p:sp>
        <p:nvSpPr>
          <p:cNvPr id="18" name="Animasi langkah 6 (up) #18"/>
          <p:cNvSpPr/>
          <p:nvPr/>
        </p:nvSpPr>
        <p:spPr>
          <a:xfrm>
            <a:off x="457200" y="26517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19050">
            <a:solidFill>
              <a:srgbClr val="FFE0C2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19" name="Animasi langkah 6 (up) #19"/>
          <p:cNvSpPr txBox="1"/>
          <p:nvPr/>
        </p:nvSpPr>
        <p:spPr>
          <a:xfrm>
            <a:off x="594360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truthing di lapangan</a:t>
            </a:r>
            <a:endParaRPr lang="en-US" sz="1300" dirty="0"/>
          </a:p>
        </p:txBody>
      </p:sp>
      <p:sp>
        <p:nvSpPr>
          <p:cNvPr id="20" name="Animasi langkah 6 (up) #20"/>
          <p:cNvSpPr txBox="1"/>
          <p:nvPr/>
        </p:nvSpPr>
        <p:spPr>
          <a:xfrm>
            <a:off x="594360" y="30175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pihak ketiga tak selalu mencakup semua toko. Kunjungi rutin untuk verifikasi keberadaan, kondisi &amp; </a:t>
            </a:r>
            <a:r>
              <a:rPr lang="en-US" sz="10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</a:t>
            </a:r>
            <a:r>
              <a:rPr lang="en-US" sz="10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termasuk </a:t>
            </a: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tercatat yang ternyata sudah tutup.</a:t>
            </a:r>
            <a:endParaRPr lang="en-US" sz="1050" dirty="0"/>
          </a:p>
        </p:txBody>
      </p:sp>
      <p:sp>
        <p:nvSpPr>
          <p:cNvPr id="21" name="Animasi langkah 7 (up) #21"/>
          <p:cNvSpPr/>
          <p:nvPr/>
        </p:nvSpPr>
        <p:spPr>
          <a:xfrm>
            <a:off x="4663440" y="132588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2" name="Animasi langkah 7 (up) #22"/>
          <p:cNvSpPr/>
          <p:nvPr/>
        </p:nvSpPr>
        <p:spPr>
          <a:xfrm>
            <a:off x="4846320" y="14630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Animasi langkah 7 (up) #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079" y="1593799"/>
            <a:ext cx="332842" cy="332842"/>
          </a:xfrm>
          <a:prstGeom prst="rect">
            <a:avLst/>
          </a:prstGeom>
        </p:spPr>
      </p:pic>
      <p:sp>
        <p:nvSpPr>
          <p:cNvPr id="24" name="Animasi langkah 7 (up) #24"/>
          <p:cNvSpPr txBox="1"/>
          <p:nvPr/>
        </p:nvSpPr>
        <p:spPr>
          <a:xfrm>
            <a:off x="5577840" y="1463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sebagai asisten</a:t>
            </a:r>
            <a:endParaRPr lang="en-US" sz="1500" dirty="0"/>
          </a:p>
        </p:txBody>
      </p:sp>
      <p:sp>
        <p:nvSpPr>
          <p:cNvPr id="25" name="Animasi langkah 8 (fade) #25"/>
          <p:cNvSpPr txBox="1"/>
          <p:nvPr/>
        </p:nvSpPr>
        <p:spPr>
          <a:xfrm>
            <a:off x="4846320" y="219456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pertanyaan analitis cepat, mis. jumlah toko optimal untuk dikembangkan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jenis promosi berdasar data historis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butuh data input baik &amp; interpretasi manusia untuk keputusan akhir</a:t>
            </a:r>
            <a:endParaRPr lang="en-US" sz="1100" dirty="0"/>
          </a:p>
        </p:txBody>
      </p:sp>
      <p:sp>
        <p:nvSpPr>
          <p:cNvPr id="26" name="Animasi langkah 9 (wipeL) #26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27" name="Animasi langkah 9 (wipeL) #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28" name="Animasi langkah 9 (wipeL) #28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tegakkan disiplin data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tim.</a:t>
            </a:r>
            <a:r>
              <a:rPr lang="en-US" sz="1150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lapangan yang akurat adalah bahan bakar AI &amp; keputusan.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4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2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8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66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4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Go-to-Market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Aliansi &amp; Branding Tim Lapangan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"perusahaan semen" menjadi building solutions provider</a:t>
            </a:r>
            <a:endParaRPr lang="en-US" sz="1250" dirty="0"/>
          </a:p>
        </p:txBody>
      </p:sp>
      <p:sp>
        <p:nvSpPr>
          <p:cNvPr id="7" name="Animasi langkah 3 (fade) #7"/>
          <p:cNvSpPr/>
          <p:nvPr/>
        </p:nvSpPr>
        <p:spPr>
          <a:xfrm flipH="1">
            <a:off x="2468880" y="1524762"/>
            <a:ext cx="9144" cy="1172718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8" name="Animasi langkah 3 (zoom) #8"/>
          <p:cNvSpPr/>
          <p:nvPr/>
        </p:nvSpPr>
        <p:spPr>
          <a:xfrm>
            <a:off x="2057400" y="1113282"/>
            <a:ext cx="822960" cy="822960"/>
          </a:xfrm>
          <a:prstGeom prst="ellipse">
            <a:avLst/>
          </a:prstGeom>
          <a:solidFill>
            <a:srgbClr val="CFE8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nimasi langkah 3 (zoom) #9"/>
          <p:cNvSpPr txBox="1"/>
          <p:nvPr/>
        </p:nvSpPr>
        <p:spPr>
          <a:xfrm>
            <a:off x="1965960" y="111328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Mortar</a:t>
            </a:r>
            <a:endParaRPr lang="en-US" sz="1000" dirty="0"/>
          </a:p>
        </p:txBody>
      </p:sp>
      <p:sp>
        <p:nvSpPr>
          <p:cNvPr id="10" name="Animasi langkah 4 (fade) #10"/>
          <p:cNvSpPr/>
          <p:nvPr/>
        </p:nvSpPr>
        <p:spPr>
          <a:xfrm flipH="1">
            <a:off x="2468880" y="2111121"/>
            <a:ext cx="1069056" cy="586359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11" name="Animasi langkah 4 (zoom) #11"/>
          <p:cNvSpPr/>
          <p:nvPr/>
        </p:nvSpPr>
        <p:spPr>
          <a:xfrm>
            <a:off x="3126456" y="1699641"/>
            <a:ext cx="822960" cy="822960"/>
          </a:xfrm>
          <a:prstGeom prst="ellipse">
            <a:avLst/>
          </a:prstGeom>
          <a:solidFill>
            <a:srgbClr val="C9F2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nimasi langkah 4 (zoom) #12"/>
          <p:cNvSpPr txBox="1"/>
          <p:nvPr/>
        </p:nvSpPr>
        <p:spPr>
          <a:xfrm>
            <a:off x="3035016" y="1699641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Perekat</a:t>
            </a:r>
            <a:endParaRPr lang="en-US" sz="1000" dirty="0"/>
          </a:p>
        </p:txBody>
      </p:sp>
      <p:sp>
        <p:nvSpPr>
          <p:cNvPr id="13" name="Animasi langkah 5 (fade) #13"/>
          <p:cNvSpPr/>
          <p:nvPr/>
        </p:nvSpPr>
        <p:spPr>
          <a:xfrm>
            <a:off x="2468880" y="2697480"/>
            <a:ext cx="1069056" cy="586359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14" name="Animasi langkah 5 (zoom) #14"/>
          <p:cNvSpPr/>
          <p:nvPr/>
        </p:nvSpPr>
        <p:spPr>
          <a:xfrm>
            <a:off x="3126456" y="2872359"/>
            <a:ext cx="822960" cy="822960"/>
          </a:xfrm>
          <a:prstGeom prst="ellipse">
            <a:avLst/>
          </a:prstGeom>
          <a:solidFill>
            <a:srgbClr val="FFF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Animasi langkah 5 (zoom) #15"/>
          <p:cNvSpPr txBox="1"/>
          <p:nvPr/>
        </p:nvSpPr>
        <p:spPr>
          <a:xfrm>
            <a:off x="3035016" y="2872359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Keramik</a:t>
            </a:r>
            <a:endParaRPr lang="en-US" sz="1000" dirty="0"/>
          </a:p>
        </p:txBody>
      </p:sp>
      <p:sp>
        <p:nvSpPr>
          <p:cNvPr id="16" name="Animasi langkah 6 (fade) #16"/>
          <p:cNvSpPr/>
          <p:nvPr/>
        </p:nvSpPr>
        <p:spPr>
          <a:xfrm>
            <a:off x="2468880" y="2697480"/>
            <a:ext cx="9144" cy="1172718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17" name="Animasi langkah 6 (zoom) #17"/>
          <p:cNvSpPr/>
          <p:nvPr/>
        </p:nvSpPr>
        <p:spPr>
          <a:xfrm>
            <a:off x="2057400" y="3458718"/>
            <a:ext cx="822960" cy="822960"/>
          </a:xfrm>
          <a:prstGeom prst="ellipse">
            <a:avLst/>
          </a:prstGeom>
          <a:solidFill>
            <a:srgbClr val="FFE0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Animasi langkah 6 (zoom) #18"/>
          <p:cNvSpPr txBox="1"/>
          <p:nvPr/>
        </p:nvSpPr>
        <p:spPr>
          <a:xfrm>
            <a:off x="1965960" y="345871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</a:t>
            </a:r>
            <a:endParaRPr lang="en-US" sz="1000" dirty="0"/>
          </a:p>
        </p:txBody>
      </p:sp>
      <p:sp>
        <p:nvSpPr>
          <p:cNvPr id="19" name="Animasi langkah 7 (fade) #19"/>
          <p:cNvSpPr/>
          <p:nvPr/>
        </p:nvSpPr>
        <p:spPr>
          <a:xfrm flipH="1">
            <a:off x="1399824" y="2697480"/>
            <a:ext cx="1069056" cy="586359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20" name="Animasi langkah 7 (zoom) #20"/>
          <p:cNvSpPr/>
          <p:nvPr/>
        </p:nvSpPr>
        <p:spPr>
          <a:xfrm>
            <a:off x="988344" y="2872359"/>
            <a:ext cx="822960" cy="822960"/>
          </a:xfrm>
          <a:prstGeom prst="ellipse">
            <a:avLst/>
          </a:prstGeom>
          <a:solidFill>
            <a:srgbClr val="FFD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Animasi langkah 7 (zoom) #21"/>
          <p:cNvSpPr txBox="1"/>
          <p:nvPr/>
        </p:nvSpPr>
        <p:spPr>
          <a:xfrm>
            <a:off x="896904" y="2872359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Kelistrikan</a:t>
            </a:r>
            <a:endParaRPr lang="en-US" sz="1000" dirty="0"/>
          </a:p>
        </p:txBody>
      </p:sp>
      <p:sp>
        <p:nvSpPr>
          <p:cNvPr id="22" name="Animasi langkah 8 (fade) #22"/>
          <p:cNvSpPr/>
          <p:nvPr/>
        </p:nvSpPr>
        <p:spPr>
          <a:xfrm>
            <a:off x="1399824" y="2111121"/>
            <a:ext cx="1069056" cy="586359"/>
          </a:xfrm>
          <a:prstGeom prst="line">
            <a:avLst/>
          </a:prstGeom>
          <a:noFill/>
          <a:ln w="19050">
            <a:solidFill>
              <a:srgbClr val="C9CFDA"/>
            </a:solidFill>
            <a:prstDash val="solid"/>
          </a:ln>
        </p:spPr>
      </p:sp>
      <p:sp>
        <p:nvSpPr>
          <p:cNvPr id="23" name="Animasi langkah 8 (zoom) #23"/>
          <p:cNvSpPr/>
          <p:nvPr/>
        </p:nvSpPr>
        <p:spPr>
          <a:xfrm>
            <a:off x="988344" y="1699641"/>
            <a:ext cx="822960" cy="822960"/>
          </a:xfrm>
          <a:prstGeom prst="ellipse">
            <a:avLst/>
          </a:prstGeom>
          <a:solidFill>
            <a:srgbClr val="E4D9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Animasi langkah 8 (zoom) #24"/>
          <p:cNvSpPr txBox="1"/>
          <p:nvPr/>
        </p:nvSpPr>
        <p:spPr>
          <a:xfrm>
            <a:off x="896904" y="1699641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dll.</a:t>
            </a:r>
            <a:endParaRPr lang="en-US" sz="1000" dirty="0"/>
          </a:p>
        </p:txBody>
      </p:sp>
      <p:sp>
        <p:nvSpPr>
          <p:cNvPr id="25" name="Animasi langkah 2 (zoom) #25"/>
          <p:cNvSpPr/>
          <p:nvPr/>
        </p:nvSpPr>
        <p:spPr>
          <a:xfrm>
            <a:off x="1874520" y="2103120"/>
            <a:ext cx="1188720" cy="1188720"/>
          </a:xfrm>
          <a:prstGeom prst="ellipse">
            <a:avLst/>
          </a:prstGeom>
          <a:solidFill>
            <a:srgbClr val="B861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Animasi langkah 2 (zoom) #26"/>
          <p:cNvSpPr txBox="1"/>
          <p:nvPr/>
        </p:nvSpPr>
        <p:spPr>
          <a:xfrm>
            <a:off x="1874520" y="2103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Building Solutions</a:t>
            </a:r>
            <a:endParaRPr lang="en-US" sz="1100" dirty="0"/>
          </a:p>
        </p:txBody>
      </p:sp>
      <p:sp>
        <p:nvSpPr>
          <p:cNvPr id="27" name="Animasi langkah 9 (fade) #27"/>
          <p:cNvSpPr txBox="1"/>
          <p:nvPr/>
        </p:nvSpPr>
        <p:spPr>
          <a:xfrm>
            <a:off x="4663440" y="13258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Co-funding aktivasi &amp; biaya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tawar lebih kuat ke kontraktor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teknologi mitra</a:t>
            </a:r>
            <a:endParaRPr lang="en-US" sz="11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menyeluruh bagi yang membangun</a:t>
            </a:r>
            <a:endParaRPr lang="en-US" sz="1150" dirty="0"/>
          </a:p>
        </p:txBody>
      </p:sp>
      <p:sp>
        <p:nvSpPr>
          <p:cNvPr id="28" name="Animasi langkah 10 (up) #28"/>
          <p:cNvSpPr/>
          <p:nvPr/>
        </p:nvSpPr>
        <p:spPr>
          <a:xfrm>
            <a:off x="4663440" y="27432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FF3B8"/>
          </a:solidFill>
          <a:ln w="9525">
            <a:solidFill>
              <a:srgbClr val="FFF3B8"/>
            </a:solidFill>
            <a:prstDash val="solid"/>
          </a:ln>
          <a:effectLst>
            <a:outerShdw blurRad="76200" dist="25400" dir="5400000" algn="bl" rotWithShape="0">
              <a:srgbClr val="8A94A6">
                <a:alpha val="18000"/>
              </a:srgbClr>
            </a:outerShdw>
          </a:effectLst>
        </p:spPr>
      </p:sp>
      <p:sp>
        <p:nvSpPr>
          <p:cNvPr id="29" name="Animasi langkah 10 (up) #29"/>
          <p:cNvSpPr/>
          <p:nvPr/>
        </p:nvSpPr>
        <p:spPr>
          <a:xfrm>
            <a:off x="4800600" y="2880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Animasi langkah 10 (up) #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01" y="3001061"/>
            <a:ext cx="307238" cy="307238"/>
          </a:xfrm>
          <a:prstGeom prst="rect">
            <a:avLst/>
          </a:prstGeom>
        </p:spPr>
      </p:pic>
      <p:sp>
        <p:nvSpPr>
          <p:cNvPr id="31" name="Animasi langkah 10 (up) #31"/>
          <p:cNvSpPr txBox="1"/>
          <p:nvPr/>
        </p:nvSpPr>
        <p:spPr>
          <a:xfrm>
            <a:off x="54864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tim lapangan</a:t>
            </a:r>
            <a:endParaRPr lang="en-US" sz="1350" dirty="0"/>
          </a:p>
        </p:txBody>
      </p:sp>
      <p:sp>
        <p:nvSpPr>
          <p:cNvPr id="32" name="Animasi langkah 10 (up) #32"/>
          <p:cNvSpPr txBox="1"/>
          <p:nvPr/>
        </p:nvSpPr>
        <p:spPr>
          <a:xfrm>
            <a:off x="480060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Seragam/atribut bermerek konsisten = branding berjalan &amp; bukti bangga pada merek (seperti Coca-Cola, Adidas).</a:t>
            </a:r>
            <a:endParaRPr lang="en-US" sz="1050" dirty="0"/>
          </a:p>
        </p:txBody>
      </p:sp>
      <p:sp>
        <p:nvSpPr>
          <p:cNvPr id="33" name="Animasi langkah 11 (wipeL) #33"/>
          <p:cNvSpPr/>
          <p:nvPr/>
        </p:nvSpPr>
        <p:spPr>
          <a:xfrm>
            <a:off x="457200" y="4370832"/>
            <a:ext cx="8229600" cy="512064"/>
          </a:xfrm>
          <a:prstGeom prst="roundRect">
            <a:avLst>
              <a:gd name="adj" fmla="val 50000"/>
            </a:avLst>
          </a:prstGeom>
          <a:solidFill>
            <a:srgbClr val="E4D9F5"/>
          </a:solidFill>
          <a:ln w="9525">
            <a:solidFill>
              <a:srgbClr val="E4D9F5"/>
            </a:solidFill>
            <a:prstDash val="solid"/>
          </a:ln>
        </p:spPr>
      </p:sp>
      <p:pic>
        <p:nvPicPr>
          <p:cNvPr id="34" name="Animasi langkah 11 (wipeL) #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9704"/>
            <a:ext cx="274320" cy="274320"/>
          </a:xfrm>
          <a:prstGeom prst="rect">
            <a:avLst/>
          </a:prstGeom>
        </p:spPr>
      </p:pic>
      <p:sp>
        <p:nvSpPr>
          <p:cNvPr id="35" name="Animasi langkah 11 (wipeL) #35"/>
          <p:cNvSpPr txBox="1"/>
          <p:nvPr/>
        </p:nvSpPr>
        <p:spPr>
          <a:xfrm>
            <a:off x="987552" y="437083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BM:  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jajaki mitra material lokal untuk program bersama, dan wajibkan atribut merek bagi tim saat di lapangan.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6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2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8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66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4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420"/>
                            </p:stCondLst>
                            <p:childTnLst>
                              <p:par>
                                <p:cTn id="1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8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822960"/>
            <a:ext cx="2011680" cy="2011680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822960"/>
            <a:ext cx="731520" cy="73152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Animasi langkah 1 (fade) #5"/>
          <p:cNvSpPr txBox="1"/>
          <p:nvPr/>
        </p:nvSpPr>
        <p:spPr>
          <a:xfrm>
            <a:off x="457200" y="3840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</a:t>
            </a:r>
            <a:r>
              <a:rPr lang="en-US" sz="260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BM. Dari </a:t>
            </a:r>
            <a:r>
              <a:rPr lang="en-US" sz="2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ke Cabang</a:t>
            </a:r>
            <a:endParaRPr lang="en-US" sz="2600" dirty="0"/>
          </a:p>
        </p:txBody>
      </p:sp>
      <p:sp>
        <p:nvSpPr>
          <p:cNvPr id="6" name="Animasi langkah 2 (fade) #6"/>
          <p:cNvSpPr txBox="1"/>
          <p:nvPr/>
        </p:nvSpPr>
        <p:spPr>
          <a:xfrm>
            <a:off x="457200" y="914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Sepuluh kebiasaan yang merangkum ketiga sesi</a:t>
            </a:r>
            <a:endParaRPr lang="en-US" sz="1250" dirty="0"/>
          </a:p>
        </p:txBody>
      </p:sp>
      <p:sp>
        <p:nvSpPr>
          <p:cNvPr id="7" name="Animasi langkah 3 (zoom) #7"/>
          <p:cNvSpPr/>
          <p:nvPr/>
        </p:nvSpPr>
        <p:spPr>
          <a:xfrm>
            <a:off x="457200" y="1371600"/>
            <a:ext cx="475488" cy="475488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8" name="Animasi langkah 3 (zoom) #8"/>
          <p:cNvSpPr txBox="1"/>
          <p:nvPr/>
        </p:nvSpPr>
        <p:spPr>
          <a:xfrm>
            <a:off x="4572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Animasi langkah 3 (fade) #9"/>
          <p:cNvSpPr txBox="1"/>
          <p:nvPr/>
        </p:nvSpPr>
        <p:spPr>
          <a:xfrm>
            <a:off x="1051560" y="1371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 insight rutin dengan OTLO &amp; Day in the Life</a:t>
            </a:r>
            <a:endParaRPr lang="en-US" sz="1300" dirty="0"/>
          </a:p>
        </p:txBody>
      </p:sp>
      <p:sp>
        <p:nvSpPr>
          <p:cNvPr id="10" name="Animasi langkah 4 (zoom) #10"/>
          <p:cNvSpPr/>
          <p:nvPr/>
        </p:nvSpPr>
        <p:spPr>
          <a:xfrm>
            <a:off x="457200" y="2011680"/>
            <a:ext cx="475488" cy="475488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1" name="Animasi langkah 4 (zoom) #11"/>
          <p:cNvSpPr txBox="1"/>
          <p:nvPr/>
        </p:nvSpPr>
        <p:spPr>
          <a:xfrm>
            <a:off x="45720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Animasi langkah 4 (fade) #12"/>
          <p:cNvSpPr txBox="1"/>
          <p:nvPr/>
        </p:nvSpPr>
        <p:spPr>
          <a:xfrm>
            <a:off x="1051560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customer, shopper &amp; consumer per area</a:t>
            </a:r>
            <a:endParaRPr lang="en-US" sz="1300" dirty="0"/>
          </a:p>
        </p:txBody>
      </p:sp>
      <p:sp>
        <p:nvSpPr>
          <p:cNvPr id="13" name="Animasi langkah 5 (zoom) #13"/>
          <p:cNvSpPr/>
          <p:nvPr/>
        </p:nvSpPr>
        <p:spPr>
          <a:xfrm>
            <a:off x="457200" y="2651760"/>
            <a:ext cx="475488" cy="475488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14" name="Animasi langkah 5 (zoom) #14"/>
          <p:cNvSpPr txBox="1"/>
          <p:nvPr/>
        </p:nvSpPr>
        <p:spPr>
          <a:xfrm>
            <a:off x="4572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Animasi langkah 5 (fade) #15"/>
          <p:cNvSpPr txBox="1"/>
          <p:nvPr/>
        </p:nvSpPr>
        <p:spPr>
          <a:xfrm>
            <a:off x="1051560" y="2651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STP &amp; game (penetrasi/konsumsi/premium)</a:t>
            </a:r>
            <a:endParaRPr lang="en-US" sz="1300" dirty="0"/>
          </a:p>
        </p:txBody>
      </p:sp>
      <p:sp>
        <p:nvSpPr>
          <p:cNvPr id="16" name="Animasi langkah 6 (zoom) #16"/>
          <p:cNvSpPr/>
          <p:nvPr/>
        </p:nvSpPr>
        <p:spPr>
          <a:xfrm>
            <a:off x="457200" y="3291840"/>
            <a:ext cx="475488" cy="475488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17" name="Animasi langkah 6 (zoom) #17"/>
          <p:cNvSpPr txBox="1"/>
          <p:nvPr/>
        </p:nvSpPr>
        <p:spPr>
          <a:xfrm>
            <a:off x="45720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Animasi langkah 6 (fade) #18"/>
          <p:cNvSpPr txBox="1"/>
          <p:nvPr/>
        </p:nvSpPr>
        <p:spPr>
          <a:xfrm>
            <a:off x="1051560" y="3291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4A: afford, available, attractive, advocacy</a:t>
            </a:r>
            <a:endParaRPr lang="en-US" sz="1300" dirty="0"/>
          </a:p>
        </p:txBody>
      </p:sp>
      <p:sp>
        <p:nvSpPr>
          <p:cNvPr id="19" name="Animasi langkah 7 (zoom) #19"/>
          <p:cNvSpPr/>
          <p:nvPr/>
        </p:nvSpPr>
        <p:spPr>
          <a:xfrm>
            <a:off x="457200" y="3931920"/>
            <a:ext cx="475488" cy="475488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20" name="Animasi langkah 7 (zoom) #20"/>
          <p:cNvSpPr txBox="1"/>
          <p:nvPr/>
        </p:nvSpPr>
        <p:spPr>
          <a:xfrm>
            <a:off x="45720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Animasi langkah 7 (fade) #21"/>
          <p:cNvSpPr txBox="1"/>
          <p:nvPr/>
        </p:nvSpPr>
        <p:spPr>
          <a:xfrm>
            <a:off x="1051560" y="3931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laporan dengan Data → Insight → Action</a:t>
            </a:r>
            <a:endParaRPr lang="en-US" sz="1300" dirty="0"/>
          </a:p>
        </p:txBody>
      </p:sp>
      <p:sp>
        <p:nvSpPr>
          <p:cNvPr id="22" name="Animasi langkah 8 (zoom) #22"/>
          <p:cNvSpPr/>
          <p:nvPr/>
        </p:nvSpPr>
        <p:spPr>
          <a:xfrm>
            <a:off x="4663440" y="1371600"/>
            <a:ext cx="475488" cy="475488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23" name="Animasi langkah 8 (zoom) #23"/>
          <p:cNvSpPr txBox="1"/>
          <p:nvPr/>
        </p:nvSpPr>
        <p:spPr>
          <a:xfrm>
            <a:off x="466344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Animasi langkah 8 (fade) #24"/>
          <p:cNvSpPr txBox="1"/>
          <p:nvPr/>
        </p:nvSpPr>
        <p:spPr>
          <a:xfrm>
            <a:off x="5257800" y="1371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distribusi numerik &amp; tertimbang bulanan</a:t>
            </a:r>
            <a:endParaRPr lang="en-US" sz="1300" dirty="0"/>
          </a:p>
        </p:txBody>
      </p:sp>
      <p:sp>
        <p:nvSpPr>
          <p:cNvPr id="25" name="Animasi langkah 9 (zoom) #25"/>
          <p:cNvSpPr/>
          <p:nvPr/>
        </p:nvSpPr>
        <p:spPr>
          <a:xfrm>
            <a:off x="4663440" y="2011680"/>
            <a:ext cx="475488" cy="475488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26" name="Animasi langkah 9 (zoom) #26"/>
          <p:cNvSpPr txBox="1"/>
          <p:nvPr/>
        </p:nvSpPr>
        <p:spPr>
          <a:xfrm>
            <a:off x="466344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Animasi langkah 9 (fade) #27"/>
          <p:cNvSpPr txBox="1"/>
          <p:nvPr/>
        </p:nvSpPr>
        <p:spPr>
          <a:xfrm>
            <a:off x="5257800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kondisi POSM di setiap kunjungan</a:t>
            </a:r>
            <a:endParaRPr lang="en-US" sz="1300" dirty="0"/>
          </a:p>
        </p:txBody>
      </p:sp>
      <p:sp>
        <p:nvSpPr>
          <p:cNvPr id="28" name="Animasi langkah 10 (zoom) #28"/>
          <p:cNvSpPr/>
          <p:nvPr/>
        </p:nvSpPr>
        <p:spPr>
          <a:xfrm>
            <a:off x="4663440" y="2651760"/>
            <a:ext cx="475488" cy="475488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29" name="Animasi langkah 10 (zoom) #29"/>
          <p:cNvSpPr txBox="1"/>
          <p:nvPr/>
        </p:nvSpPr>
        <p:spPr>
          <a:xfrm>
            <a:off x="46634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Animasi langkah 10 (fade) #30"/>
          <p:cNvSpPr txBox="1"/>
          <p:nvPr/>
        </p:nvSpPr>
        <p:spPr>
          <a:xfrm>
            <a:off x="5257800" y="2651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 = tujuan + baseline + target + ukur</a:t>
            </a:r>
            <a:endParaRPr lang="en-US" sz="1300" dirty="0"/>
          </a:p>
        </p:txBody>
      </p:sp>
      <p:sp>
        <p:nvSpPr>
          <p:cNvPr id="31" name="Animasi langkah 11 (zoom) #31"/>
          <p:cNvSpPr/>
          <p:nvPr/>
        </p:nvSpPr>
        <p:spPr>
          <a:xfrm>
            <a:off x="4663440" y="3291840"/>
            <a:ext cx="475488" cy="475488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32" name="Animasi langkah 11 (zoom) #32"/>
          <p:cNvSpPr txBox="1"/>
          <p:nvPr/>
        </p:nvSpPr>
        <p:spPr>
          <a:xfrm>
            <a:off x="466344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Animasi langkah 11 (fade) #33"/>
          <p:cNvSpPr txBox="1"/>
          <p:nvPr/>
        </p:nvSpPr>
        <p:spPr>
          <a:xfrm>
            <a:off x="5257800" y="3291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harga &amp; portofolio: hindari price war</a:t>
            </a:r>
            <a:endParaRPr lang="en-US" sz="1300" dirty="0"/>
          </a:p>
        </p:txBody>
      </p:sp>
      <p:sp>
        <p:nvSpPr>
          <p:cNvPr id="34" name="Animasi langkah 12 (zoom) #34"/>
          <p:cNvSpPr/>
          <p:nvPr/>
        </p:nvSpPr>
        <p:spPr>
          <a:xfrm>
            <a:off x="4663440" y="3931920"/>
            <a:ext cx="475488" cy="475488"/>
          </a:xfrm>
          <a:prstGeom prst="ellipse">
            <a:avLst/>
          </a:prstGeom>
          <a:solidFill>
            <a:srgbClr val="E4D9F5"/>
          </a:solidFill>
          <a:ln w="12700">
            <a:solidFill>
              <a:srgbClr val="E4D9F5"/>
            </a:solidFill>
            <a:prstDash val="solid"/>
          </a:ln>
        </p:spPr>
      </p:sp>
      <p:sp>
        <p:nvSpPr>
          <p:cNvPr id="35" name="Animasi langkah 12 (zoom) #35"/>
          <p:cNvSpPr txBox="1"/>
          <p:nvPr/>
        </p:nvSpPr>
        <p:spPr>
          <a:xfrm>
            <a:off x="466344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Animasi langkah 12 (fade) #36"/>
          <p:cNvSpPr txBox="1"/>
          <p:nvPr/>
        </p:nvSpPr>
        <p:spPr>
          <a:xfrm>
            <a:off x="5257800" y="3931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 data lapangan; manfaatkan AI &amp; aliansi</a:t>
            </a:r>
            <a:endParaRPr lang="en-US" sz="1300" dirty="0"/>
          </a:p>
        </p:txBody>
      </p:sp>
      <p:sp>
        <p:nvSpPr>
          <p:cNvPr id="37" name="Animasi langkah 13 (fade) #37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Sesi 1   </a:t>
            </a:r>
            <a:r>
              <a:rPr lang="en-US" sz="10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Sesi 2   </a:t>
            </a:r>
            <a:r>
              <a:rPr lang="en-US" sz="105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Sesi 3   </a:t>
            </a:r>
            <a:r>
              <a:rPr lang="en-US" sz="105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Lintas sesi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4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28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6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4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42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8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180"/>
                            </p:stCondLst>
                            <p:childTnLst>
                              <p:par>
                                <p:cTn id="1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56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asi langkah 1 (zoom) #2"/>
          <p:cNvSpPr/>
          <p:nvPr/>
        </p:nvSpPr>
        <p:spPr>
          <a:xfrm>
            <a:off x="-731520" y="-731520"/>
            <a:ext cx="2377440" cy="237744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3" name="Animasi langkah 1 (zoom) #3"/>
          <p:cNvSpPr/>
          <p:nvPr/>
        </p:nvSpPr>
        <p:spPr>
          <a:xfrm>
            <a:off x="7680960" y="3474720"/>
            <a:ext cx="2194560" cy="219456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4" name="Animasi langkah 1 (zoom) #4"/>
          <p:cNvSpPr/>
          <p:nvPr/>
        </p:nvSpPr>
        <p:spPr>
          <a:xfrm>
            <a:off x="8138160" y="-457200"/>
            <a:ext cx="1280160" cy="128016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5" name="Animasi langkah 1 (zoom) #5"/>
          <p:cNvSpPr/>
          <p:nvPr/>
        </p:nvSpPr>
        <p:spPr>
          <a:xfrm>
            <a:off x="-365760" y="4023360"/>
            <a:ext cx="1188720" cy="1188720"/>
          </a:xfrm>
          <a:prstGeom prst="ellipse">
            <a:avLst/>
          </a:prstGeom>
          <a:solidFill>
            <a:srgbClr val="FFD6E5"/>
          </a:solidFill>
          <a:ln w="12700">
            <a:solidFill>
              <a:srgbClr val="FFD6E5"/>
            </a:solidFill>
            <a:prstDash val="solid"/>
          </a:ln>
        </p:spPr>
      </p:sp>
      <p:sp>
        <p:nvSpPr>
          <p:cNvPr id="6" name="Animasi langkah 1 (zoom) #6"/>
          <p:cNvSpPr/>
          <p:nvPr/>
        </p:nvSpPr>
        <p:spPr>
          <a:xfrm>
            <a:off x="6949440" y="365760"/>
            <a:ext cx="640080" cy="640080"/>
          </a:xfrm>
          <a:prstGeom prst="ellipse">
            <a:avLst/>
          </a:prstGeom>
          <a:solidFill>
            <a:srgbClr val="FFF3B8"/>
          </a:solidFill>
          <a:ln w="12700">
            <a:solidFill>
              <a:srgbClr val="FFF3B8"/>
            </a:solidFill>
            <a:prstDash val="solid"/>
          </a:ln>
        </p:spPr>
      </p:sp>
      <p:sp>
        <p:nvSpPr>
          <p:cNvPr id="7" name="Animasi langkah 2 (fade) #7"/>
          <p:cNvSpPr txBox="1"/>
          <p:nvPr/>
        </p:nvSpPr>
        <p:spPr>
          <a:xfrm>
            <a:off x="1371600" y="685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Benang Merah</a:t>
            </a:r>
            <a:endParaRPr lang="en-US" sz="1400" dirty="0"/>
          </a:p>
        </p:txBody>
      </p:sp>
      <p:sp>
        <p:nvSpPr>
          <p:cNvPr id="8" name="Animasi langkah 3 (zoom) #8"/>
          <p:cNvSpPr/>
          <p:nvPr/>
        </p:nvSpPr>
        <p:spPr>
          <a:xfrm>
            <a:off x="1463040" y="1188720"/>
            <a:ext cx="1737360" cy="1737360"/>
          </a:xfrm>
          <a:prstGeom prst="ellipse">
            <a:avLst/>
          </a:prstGeom>
          <a:solidFill>
            <a:srgbClr val="CFE8FF"/>
          </a:solidFill>
          <a:ln w="12700">
            <a:solidFill>
              <a:srgbClr val="CFE8FF"/>
            </a:solidFill>
            <a:prstDash val="solid"/>
          </a:ln>
        </p:spPr>
      </p:sp>
      <p:sp>
        <p:nvSpPr>
          <p:cNvPr id="9" name="Animasi langkah 3 (zoom) #9"/>
          <p:cNvSpPr txBox="1"/>
          <p:nvPr/>
        </p:nvSpPr>
        <p:spPr>
          <a:xfrm>
            <a:off x="1463040" y="1188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</a:t>
            </a:r>
            <a:endParaRPr lang="en-US" sz="12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</a:t>
            </a:r>
            <a:endParaRPr lang="en-US" sz="1200" dirty="0"/>
          </a:p>
        </p:txBody>
      </p:sp>
      <p:sp>
        <p:nvSpPr>
          <p:cNvPr id="10" name="Animasi langkah 4 (zoom) #10"/>
          <p:cNvSpPr/>
          <p:nvPr/>
        </p:nvSpPr>
        <p:spPr>
          <a:xfrm>
            <a:off x="3703320" y="1188720"/>
            <a:ext cx="1737360" cy="1737360"/>
          </a:xfrm>
          <a:prstGeom prst="ellipse">
            <a:avLst/>
          </a:prstGeom>
          <a:solidFill>
            <a:srgbClr val="C9F2E1"/>
          </a:solidFill>
          <a:ln w="12700">
            <a:solidFill>
              <a:srgbClr val="C9F2E1"/>
            </a:solidFill>
            <a:prstDash val="solid"/>
          </a:ln>
        </p:spPr>
      </p:sp>
      <p:sp>
        <p:nvSpPr>
          <p:cNvPr id="11" name="Animasi langkah 4 (zoom) #11"/>
          <p:cNvSpPr txBox="1"/>
          <p:nvPr/>
        </p:nvSpPr>
        <p:spPr>
          <a:xfrm>
            <a:off x="3703320" y="1188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Berikan</a:t>
            </a:r>
            <a:endParaRPr lang="en-US" sz="12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endParaRPr lang="en-US" sz="1200" dirty="0"/>
          </a:p>
        </p:txBody>
      </p:sp>
      <p:sp>
        <p:nvSpPr>
          <p:cNvPr id="12" name="Animasi langkah 5 (zoom) #12"/>
          <p:cNvSpPr/>
          <p:nvPr/>
        </p:nvSpPr>
        <p:spPr>
          <a:xfrm>
            <a:off x="5943600" y="1188720"/>
            <a:ext cx="1737360" cy="1737360"/>
          </a:xfrm>
          <a:prstGeom prst="ellipse">
            <a:avLst/>
          </a:prstGeom>
          <a:solidFill>
            <a:srgbClr val="FFE0C2"/>
          </a:solidFill>
          <a:ln w="12700">
            <a:solidFill>
              <a:srgbClr val="FFE0C2"/>
            </a:solidFill>
            <a:prstDash val="solid"/>
          </a:ln>
        </p:spPr>
      </p:sp>
      <p:sp>
        <p:nvSpPr>
          <p:cNvPr id="13" name="Animasi langkah 5 (zoom) #13"/>
          <p:cNvSpPr txBox="1"/>
          <p:nvPr/>
        </p:nvSpPr>
        <p:spPr>
          <a:xfrm>
            <a:off x="5943600" y="1188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Jadilah</a:t>
            </a:r>
            <a:endParaRPr lang="en-US" sz="12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</a:t>
            </a:r>
            <a:endParaRPr lang="en-US" sz="1200" dirty="0"/>
          </a:p>
        </p:txBody>
      </p:sp>
      <p:sp>
        <p:nvSpPr>
          <p:cNvPr id="14" name="Animasi langkah 6 (up) #14"/>
          <p:cNvSpPr txBox="1"/>
          <p:nvPr/>
        </p:nvSpPr>
        <p:spPr>
          <a:xfrm>
            <a:off x="1188720" y="3154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"Jangan hanya </a:t>
            </a:r>
            <a:r>
              <a:rPr lang="en-US" sz="1500" i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</a:t>
            </a:r>
            <a:r>
              <a:rPr lang="en-US" sz="15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r>
              <a:rPr lang="en-US" sz="1500" i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i="1" dirty="0" err="1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</a:t>
            </a:r>
            <a:r>
              <a:rPr lang="en-US" sz="1500" i="1" dirty="0" smtClean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janji. Konsumen tidak membeli produk; mereka membeli apa yang mereka inginkan dari produk itu."</a:t>
            </a:r>
            <a:endParaRPr lang="en-US" sz="1500" dirty="0"/>
          </a:p>
        </p:txBody>
      </p:sp>
      <p:sp>
        <p:nvSpPr>
          <p:cNvPr id="16" name="Animasi langkah 8 (fade) #16"/>
          <p:cNvSpPr txBox="1"/>
          <p:nvPr/>
        </p:nvSpPr>
        <p:spPr>
          <a:xfrm>
            <a:off x="1188720" y="4434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4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· Selamat mempersiapkan pelatihan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8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6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14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2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9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2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4276</Words>
  <Application>Microsoft Office PowerPoint</Application>
  <PresentationFormat>On-screen Show (16:9)</PresentationFormat>
  <Paragraphs>707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Rangkuman Materi SPARK — Marketing to Introduction (Sesi 1–3)</dc:title>
  <dc:subject>PptxGenJS Presentation</dc:subject>
  <dc:creator>PptxGenJS</dc:creator>
  <cp:lastModifiedBy>Microsoft account</cp:lastModifiedBy>
  <cp:revision>3</cp:revision>
  <dcterms:created xsi:type="dcterms:W3CDTF">2026-09-23T00:58:00Z</dcterms:created>
  <dcterms:modified xsi:type="dcterms:W3CDTF">2026-09-28T22:08:28Z</dcterms:modified>
</cp:coreProperties>
</file>