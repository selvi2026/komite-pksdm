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onsep Pengajuan" id="{CE511A7D-0489-1344-F87D-5E26F76F1062}">
          <p14:sldIdLst>
            <p14:sldId id="256"/>
            <p14:sldId id="257"/>
            <p14:sldId id="258"/>
            <p14:sldId id="259"/>
            <p14:sldId id="260"/>
            <p14:sldId id="261"/>
            <p14:sldId id="262"/>
            <p14:sldId id="263"/>
            <p14:sldId id="264"/>
          </p14:sldIdLst>
        </p14:section>
        <p14:section name="Lampiran" id="{CE8F365D-1426-4C2A-C18D-8D0A2D3E6EFB}">
          <p14:sldIdLst>
            <p14:sldId id="265"/>
            <p14:sldId id="266"/>
            <p14:sldId id="267"/>
            <p14:sldId id="268"/>
          </p14:sldIdLst>
        </p14:section>
        <p14:section name="Modul 1 · Kenali Toko" id="{7752988E-50B4-5890-EAA7-6D5B9873FD31}">
          <p14:sldIdLst>
            <p14:sldId id="269"/>
            <p14:sldId id="270"/>
            <p14:sldId id="271"/>
            <p14:sldId id="272"/>
            <p14:sldId id="273"/>
            <p14:sldId id="274"/>
            <p14:sldId id="275"/>
          </p14:sldIdLst>
        </p14:section>
        <p14:section name="Modul 2 · Bahasa Untung" id="{39E289F9-C918-80A3-5AB3-2E9F0EAF576C}">
          <p14:sldIdLst>
            <p14:sldId id="276"/>
            <p14:sldId id="277"/>
            <p14:sldId id="278"/>
            <p14:sldId id="279"/>
            <p14:sldId id="280"/>
            <p14:sldId id="281"/>
          </p14:sldIdLst>
        </p14:section>
        <p14:section name="Modul 3 · Jawab Keberatan" id="{8DAB1610-4397-4093-3A69-CB119742D3A8}">
          <p14:sldIdLst>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7" d="100"/>
          <a:sy n="97" d="100"/>
        </p:scale>
        <p:origin x="60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6B6B6B"/>
                </a:solidFill>
                <a:latin typeface="+mn-lt"/>
              </a:defRPr>
            </a:pPr>
            <a:r>
              <a:rPr sz="1300" b="0" i="0" u="none" strike="noStrike">
                <a:solidFill>
                  <a:srgbClr val="6B6B6B"/>
                </a:solidFill>
                <a:latin typeface="+mn-lt"/>
              </a:rPr>
              <a:t>Untung per modal per bulan</a:t>
            </a:r>
          </a:p>
        </c:rich>
      </c:tx>
      <c:overlay val="0"/>
    </c:title>
    <c:autoTitleDeleted val="0"/>
    <c:plotArea>
      <c:layout/>
      <c:barChart>
        <c:barDir val="col"/>
        <c:grouping val="clustered"/>
        <c:varyColors val="0"/>
        <c:ser>
          <c:idx val="0"/>
          <c:order val="0"/>
          <c:tx>
            <c:strRef>
              <c:f>Sheet1!$B$1</c:f>
              <c:strCache>
                <c:ptCount val="1"/>
                <c:pt idx="0">
                  <c:v>Untung per modal per bulan</c:v>
                </c:pt>
              </c:strCache>
            </c:strRef>
          </c:tx>
          <c:spPr>
            <a:solidFill>
              <a:srgbClr val="9A9A9A"/>
            </a:solidFill>
            <a:effectLst/>
          </c:spPr>
          <c:invertIfNegative val="0"/>
          <c:dPt>
            <c:idx val="0"/>
            <c:invertIfNegative val="0"/>
            <c:bubble3D val="0"/>
          </c:dPt>
          <c:dPt>
            <c:idx val="1"/>
            <c:invertIfNegative val="0"/>
            <c:bubble3D val="0"/>
            <c:spPr>
              <a:solidFill>
                <a:srgbClr val="FFC400"/>
              </a:solidFill>
              <a:effectLst/>
            </c:spPr>
          </c:dPt>
          <c:dPt>
            <c:idx val="2"/>
            <c:invertIfNegative val="0"/>
            <c:bubble3D val="0"/>
          </c:dPt>
          <c:dLbls>
            <c:numFmt formatCode="0&quot;%&quot;" sourceLinked="0"/>
            <c:spPr>
              <a:noFill/>
              <a:ln>
                <a:noFill/>
              </a:ln>
              <a:effectLst/>
            </c:spPr>
            <c:txPr>
              <a:bodyPr/>
              <a:lstStyle/>
              <a:p>
                <a:pPr>
                  <a:defRPr sz="1600" b="1" i="0" u="none" strike="noStrike">
                    <a:solidFill>
                      <a:srgbClr val="11111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Semen</c:v>
                </c:pt>
                <c:pt idx="1">
                  <c:v>Mortar instan</c:v>
                </c:pt>
                <c:pt idx="2">
                  <c:v>Bata ringan</c:v>
                </c:pt>
              </c:strCache>
            </c:strRef>
          </c:cat>
          <c:val>
            <c:numRef>
              <c:f>Sheet1!$B$2:$B$4</c:f>
              <c:numCache>
                <c:formatCode>General</c:formatCode>
                <c:ptCount val="3"/>
                <c:pt idx="0">
                  <c:v>12</c:v>
                </c:pt>
                <c:pt idx="1">
                  <c:v>20</c:v>
                </c:pt>
                <c:pt idx="2">
                  <c:v>12</c:v>
                </c:pt>
              </c:numCache>
            </c:numRef>
          </c:val>
        </c:ser>
        <c:dLbls>
          <c:showLegendKey val="0"/>
          <c:showVal val="1"/>
          <c:showCatName val="0"/>
          <c:showSerName val="0"/>
          <c:showPercent val="0"/>
          <c:showBubbleSize val="0"/>
        </c:dLbls>
        <c:gapWidth val="60"/>
        <c:axId val="1279814368"/>
        <c:axId val="1035030768"/>
      </c:barChart>
      <c:catAx>
        <c:axId val="1279814368"/>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3A3A"/>
                </a:solidFill>
                <a:latin typeface="+mn-lt"/>
              </a:defRPr>
            </a:pPr>
            <a:endParaRPr lang="en-US"/>
          </a:p>
        </c:txPr>
        <c:crossAx val="1035030768"/>
        <c:crosses val="autoZero"/>
        <c:auto val="1"/>
        <c:lblAlgn val="ctr"/>
        <c:lblOffset val="100"/>
        <c:noMultiLvlLbl val="1"/>
      </c:catAx>
      <c:valAx>
        <c:axId val="1035030768"/>
        <c:scaling>
          <c:orientation val="minMax"/>
          <c:max val="24"/>
          <c:min val="0"/>
        </c:scaling>
        <c:delete val="1"/>
        <c:axPos val="l"/>
        <c:numFmt formatCode="General" sourceLinked="0"/>
        <c:majorTickMark val="out"/>
        <c:minorTickMark val="none"/>
        <c:tickLblPos val="nextTo"/>
        <c:crossAx val="127981436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6175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Value-Based Selling: menjual dengan menunjukkan nilai bisnis bagi toko, bukan sekadar spesifikasi produk. Perjalanan kita hari ini: dari toko yang ragu mencoba sampai toko yang melakukan order ulang.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pengajuan: pasokan semen terganggu karena batu bara langka. Pelanggan toko tidak menunggu, mereka pindah ke toko lain. Produk non-semen dapat menahan pelanggan dan membuka sumber pendapatan baru, dan keberhasilannya bergantung pada kemampuan sales menjual nilai.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Toko bahan bangunan adalah reseller. Mereka tidak membeli spesifikasi, tetapi keuntungan. Selama ini sales lebih banyak berperan sebagai pengambil order semen. Value-Based Selling mengubah peran itu: sales menunjukkan nilai bisnis bagi toko, sehingga toko mau mencoba produk non-semen.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Penjualan berjalan dengan dua pendekatan berurutan. Pertama analisis: memahami toko dan menunjukkan hitungan untung, sehingga tawaran masuk akal. Kedua psikologi konsumen: membangun rasa percaya, mengecilkan rasa takut rugi, dan memberi bukti sosial, sehingga pemilik toko merasa aman untuk memutuskan.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tujuan ini berurutan, mengikuti alur sales di lapangan: menganalisis toko, menawarkan dengan bahasa untung, menjawab keberatan, lalu mendorong uji coba hingga order ulang. Semuanya mengarah ke satu tujuan akhir: volume non-semen naik.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pilar ini sekaligus menjadi yel-yel pelatihan: Baca Peluangnya, Tunjukkan Nilainya, Raih Kepercayaannya. Prioritas utamanya ada di bahasa untung dan menjawab keberatan 'takut tidak laku', karena dua hal itu paling sering menentukan apakah toko mau mencoba.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Keberhasilan diukur bertahap: kompetensi saat pelatihan, perilaku di lapangan pada bulan pertama, dan hasil bisnis pada bulan ketiga. Angka target perlu disepakati dengan manajemen penjualan berdasarkan data SID.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Kerangka logika pelatihan: kondisi saat ini menjadi input, pelatihan tiga pilar menjadi proses, kompetensi sales menjadi output, respons toko menjadi outcome, dan kenaikan volume non-semen menjadi dampak bisnis. Alat pendukung menjaga agar hasil pelatihan benar-benar dipraktikkan di lapangan.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Pelatihan tidak berhenti di kelas. Satu hari kelas diikuti satu bulan praktik lapangan dengan klinik mingguan dan pendampingan supervisor. Evaluasi hasil bisnis dilakukan pada bulan ketiga.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lampiran berisi materi pelatihan lengkap yang akan disampaikan kepada peserta.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peta: tiga modul berurutan seperti yang dilakukan sales di lapangan. Kenali toko, tawarkan dengan bahasa untung, jawab keberatan. Garis finisnya: toko mau mencoba, lalu order ulang.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Ajak peserta menebak dulu: apa yang dipikirkan pemilik toko saat ditawari barang baru? Lalu buka satu per satu. Pemilik toko tidak terlalu peduli seberapa bagus produknya. Yang dia pikirkan: laku, untung, modal, risiko.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prinsip psikologi konsumen yang menjadi dasar teknik di Modul 2 dan 3. Takut rugi dipakai di argumen keranjang hilang. Bukti sosial lewat toko percontohan. Komitmen bertahap lewat tangga komitmen. Rasa aman lewat uji coba terhitung dan modal nol. Timbal balik lewat bantuan menjual. Kepercayaan lewat kunjungan rutin dan menepati janji kecil.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 1. Sebelum menawarkan apa pun, kenali tokonya. Sales hebat datang dengan tawaran yang pas, bukan menawarkan semua produk ke semua toko.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sales terbatas. Petakan semua toko ke empat kotak ini. Jangan remehkan toko kecil yang hubungannya kuat: mereka bisa jadi toko percontohan, dan cerita suksesnya dipakai untuk meyakinkan toko besar.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banyak toko, keputusan bukan di satu orang. Gali informasi dari pelayan atau kepala gudang, ajukan keputusan ke pemilik, dan yakinkan yang memegang uang soal modal dan tempo.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Latih mata sales. Sebelum bicara, amati gudang, pembeli, pajangan, cara bayar, dan kendaraan yang parkir. Setiap sinyal memberi petunjuk produk apa yang pas dan keberatan apa yang akan muncul.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Ganti cara pandang: bukan berapa toko ini beli dari kita, tapi berapa porsi kita dari total belanjanya. Toko dengan porsi SID kecil tapi belanja total besar adalah ladang terbesar untuk non-semen.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setiap produk non-semen yang sudah ada di toko, catat merek, harga beli toko, tempo bayar, dan frekuensi kunjungan sales kompetitor. Celah kita hampir selalu ada di salah satunya.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Lembar ini wajib diisi sebelum menawarkan. Baris terakhir adalah hasil akhirnya: produk apa yang ditawarkan dan kenapa. Alurnya: amati, tanya santai, isi lembar, pilih produk.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 2. Pemilik toko tidak membeli spesifikasi. Dia membeli keuntungan. Di modul ini sales belajar tiga hitungan sederhana yang membuat pemilik toko berhenti dan mendengarkan.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Pemilik toko biasanya hanya melihat margin per unit. Tunjukkan bahwa barang yang cepat habis membuat modal berputar berkali-kali. Ganti angka ilustrasi dengan harga dan data SID yang sebenarnya.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 paling kuat saat semen kosong. Pelanggan yang datang beli semen biasanya juga beli pasir, besi, cat, paku. Kalau dia pindah toko, seluruh keranjangnya ikut pindah. Angka di slide hanya ilustrasi.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ini paling ampuh untuk yang memegang uang, biasanya kasir atau istri pemilik. Kalau barang habis sebelum jatuh tempo, toko berjualan memakai uang hasil penjualan, bukan modal sendiri. Pastikan sesuai kebijakan tempo SID.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Latihan cepat: bacakan kalimat kiri, minta peserta mengubahnya menjadi kalimat kanan. Tiga hal yang selalu disebut: margin, kecepatan laku, dan bukti dari toko lain. Rp X diisi dengan margin produk yang sebenarnya.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ini dipakai di setiap kunjungan. Langkah 1 selalu diambil dari hasil analisis toko di Modul 1. Langkah 3 wajib ditulis di kertas di depan pemilik toko. Langkah 6 jangan dilewatkan: minta komitmen yang jelas.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 3. Keberatan 'takut nggak laku' adalah yang paling sering muncul. Kabar baiknya: toko yang menyampaikan keberatan sebenarnya sedang menimbang. Tugas kita mengecilkan risikonya.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'takut nggak laku' sering hanya permukaan. Kalau sales menjawab akar yang salah, toko tetap menolak. Latih peserta mengenali tanda-tanda tiap akar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langkah menjawab keberatan, lalu dua pertanyaan untuk menemukan akarnya. Pertanyaan pilihan membantu toko menyebut alasan sebenarnya. Isolasi memastikan tidak ada keberatan lain yang tersembunyi.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Naik tangga dari kiri ke kanan. Pakai senjata yang paling murah dulu: hitungan dan bukti. Diskon hanya jika semua cara sebelumnya belum berhasil.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terpenting di seluruh pelatihan. Tanyakan berapa tukang yang belanja per minggu, kira-kira pemakaiannya, lalu hitung jumlah uji coba supaya habis dalam dua minggu. Barang habis cepat, toko merasa berhasil, dan order lagi dengan yakin.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hanya bertanya 'mau atau tidak'. Beri pilihan dan kaitkan dengan pengiriman yang sudah pasti. Kalau toko belum mau membeli, minta langkah yang lebih kecil, misalnya memajang contoh barang. Naikkan bertahap.</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dipakai trainer dan supervisor saat role play dan saat pendampingan lapangan. Lima aspek mewakili seluruh isi Modul 1 sampai 3.</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Rangkum perjalanan. Tugas lapangan: setiap sales memilih 5 toko target dari pelanggan semen yang sudah ada, mengisi lembar analisis, menawarkan dengan struktur 6 langkah, dan mencatat keberatan untuk dibahas di klinik mingguan.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marL="0" indent="0">
              <a:buNone/>
            </a:pPr>
            <a:r>
              <a:rPr lang="en-US" sz="900" dirty="0">
                <a:solidFill>
                  <a:schemeClr val="accent3"/>
                </a:solidFill>
              </a:rPr>
              <a:t>VALUE-BASED SELLING  ·  Pelatihan Sales SID</a:t>
            </a:r>
            <a:endParaRPr lang="en-US" sz="900" dirty="0"/>
          </a:p>
        </p:txBody>
      </p:sp>
      <p:sp>
        <p:nvSpPr>
          <p:cNvPr id="3" name="Text 1"/>
          <p:cNvSpPr>
            <a:spLocks noGrp="1"/>
          </p:cNvSpPr>
          <p:nvPr>
            <p:ph type="title" idx="101" hasCustomPrompt="1"/>
          </p:nvPr>
        </p:nvSpPr>
        <p:spPr>
          <a:xfrm>
            <a:off x="457200" y="566928"/>
            <a:ext cx="8229600" cy="56692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74520"/>
            <a:ext cx="4846320" cy="1188720"/>
          </a:xfrm>
          <a:prstGeom prst="rect">
            <a:avLst/>
          </a:prstGeom>
          <a:noFill/>
          <a:ln/>
        </p:spPr>
        <p:txBody>
          <a:bodyPr wrap="square" rtlCol="0"/>
          <a:lstStyle>
            <a:lvl1pPr marL="0" indent="0" algn="l">
              <a:buNone/>
              <a:defRPr lang="en-US" sz="3600" b="1" dirty="0">
                <a:solidFill>
                  <a:schemeClr val="accent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3108960"/>
            <a:ext cx="4754880" cy="73152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8229600" cy="640080"/>
          </a:xfrm>
          <a:prstGeom prst="rect">
            <a:avLst/>
          </a:prstGeom>
          <a:noFill/>
          <a:ln/>
        </p:spPr>
        <p:txBody>
          <a:bodyPr wrap="square" rtlCol="0"/>
          <a:lstStyle>
            <a:lvl1pPr marL="0" indent="0">
              <a:buNone/>
              <a:defRPr lang="en-US" sz="3000" b="1" dirty="0">
                <a:solidFill>
                  <a:schemeClr val="accent1"/>
                </a:solidFill>
              </a:defRPr>
            </a:lvl1pPr>
          </a:lstStyle>
          <a:p>
            <a:pPr marL="0" indent="0">
              <a:buNone/>
            </a:pPr>
            <a:endParaRPr lang="en-US" sz="3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2.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2.png"/><Relationship Id="rId7"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38.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1-bg"/>
          <p:cNvSpPr/>
          <p:nvPr/>
        </p:nvSpPr>
        <p:spPr>
          <a:xfrm>
            <a:off x="4617720" y="411480"/>
            <a:ext cx="4206240" cy="4206240"/>
          </a:xfrm>
          <a:prstGeom prst="ellipse">
            <a:avLst/>
          </a:prstGeom>
          <a:solidFill>
            <a:schemeClr val="accent2"/>
          </a:solidFill>
          <a:ln/>
        </p:spPr>
      </p:sp>
      <p:pic>
        <p:nvPicPr>
          <p:cNvPr id="3" name="a1-illus" descr="preencoded.png"/>
          <p:cNvPicPr>
            <a:picLocks noChangeAspect="1"/>
          </p:cNvPicPr>
          <p:nvPr/>
        </p:nvPicPr>
        <p:blipFill>
          <a:blip r:embed="rId3"/>
          <a:stretch>
            <a:fillRect/>
          </a:stretch>
        </p:blipFill>
        <p:spPr>
          <a:xfrm>
            <a:off x="4297680" y="1234440"/>
            <a:ext cx="4663440" cy="2697480"/>
          </a:xfrm>
          <a:prstGeom prst="rect">
            <a:avLst/>
          </a:prstGeom>
        </p:spPr>
      </p:pic>
      <p:sp>
        <p:nvSpPr>
          <p:cNvPr id="4" name="pill"/>
          <p:cNvSpPr txBox="1"/>
          <p:nvPr/>
        </p:nvSpPr>
        <p:spPr>
          <a:xfrm>
            <a:off x="457200" y="237744"/>
            <a:ext cx="2602382"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PROPOSAL PELATIHAN  ·  SALES SID</a:t>
            </a:r>
            <a:endParaRPr lang="en-US" sz="1000" dirty="0"/>
          </a:p>
        </p:txBody>
      </p:sp>
      <p:sp>
        <p:nvSpPr>
          <p:cNvPr id="5" name="a2-hl"/>
          <p:cNvSpPr/>
          <p:nvPr/>
        </p:nvSpPr>
        <p:spPr>
          <a:xfrm>
            <a:off x="457200" y="1005840"/>
            <a:ext cx="3840480" cy="685800"/>
          </a:xfrm>
          <a:prstGeom prst="rect">
            <a:avLst/>
          </a:prstGeom>
          <a:solidFill>
            <a:schemeClr val="accent1"/>
          </a:solidFill>
          <a:ln/>
        </p:spPr>
      </p:sp>
      <p:sp>
        <p:nvSpPr>
          <p:cNvPr id="6" name="a2-t1"/>
          <p:cNvSpPr txBox="1"/>
          <p:nvPr/>
        </p:nvSpPr>
        <p:spPr>
          <a:xfrm>
            <a:off x="548640" y="1005840"/>
            <a:ext cx="3749040" cy="685800"/>
          </a:xfrm>
          <a:prstGeom prst="rect">
            <a:avLst/>
          </a:prstGeom>
          <a:noFill/>
          <a:ln/>
        </p:spPr>
        <p:txBody>
          <a:bodyPr wrap="square" lIns="0" tIns="0" rIns="0" bIns="0" rtlCol="0" anchor="ctr"/>
          <a:lstStyle/>
          <a:p>
            <a:pPr marL="0" indent="0">
              <a:buNone/>
            </a:pPr>
            <a:r>
              <a:rPr lang="en-US" sz="3800" b="1" dirty="0">
                <a:solidFill>
                  <a:schemeClr val="tx1"/>
                </a:solidFill>
                <a:latin typeface="Arial" pitchFamily="34" charset="0"/>
                <a:ea typeface="Arial" pitchFamily="34" charset="-122"/>
                <a:cs typeface="Arial" pitchFamily="34" charset="-120"/>
              </a:rPr>
              <a:t>VALUE-BASED</a:t>
            </a:r>
            <a:endParaRPr lang="en-US" sz="3800" dirty="0"/>
          </a:p>
        </p:txBody>
      </p:sp>
      <p:sp>
        <p:nvSpPr>
          <p:cNvPr id="7" name="a2-t2"/>
          <p:cNvSpPr txBox="1"/>
          <p:nvPr/>
        </p:nvSpPr>
        <p:spPr>
          <a:xfrm>
            <a:off x="457200" y="1737360"/>
            <a:ext cx="3931920" cy="685800"/>
          </a:xfrm>
          <a:prstGeom prst="rect">
            <a:avLst/>
          </a:prstGeom>
          <a:noFill/>
          <a:ln/>
        </p:spPr>
        <p:txBody>
          <a:bodyPr wrap="square" lIns="0" tIns="0" rIns="0" bIns="0" rtlCol="0" anchor="ctr"/>
          <a:lstStyle/>
          <a:p>
            <a:pPr marL="0" indent="0">
              <a:buNone/>
            </a:pPr>
            <a:r>
              <a:rPr lang="en-US" sz="3800" b="1" dirty="0">
                <a:solidFill>
                  <a:schemeClr val="tx1"/>
                </a:solidFill>
                <a:latin typeface="Arial" pitchFamily="34" charset="0"/>
                <a:ea typeface="Arial" pitchFamily="34" charset="-122"/>
                <a:cs typeface="Arial" pitchFamily="34" charset="-120"/>
              </a:rPr>
              <a:t>SELLING</a:t>
            </a:r>
            <a:endParaRPr lang="en-US" sz="3800" dirty="0"/>
          </a:p>
        </p:txBody>
      </p:sp>
      <p:sp>
        <p:nvSpPr>
          <p:cNvPr id="8" name="a3-sub"/>
          <p:cNvSpPr txBox="1"/>
          <p:nvPr/>
        </p:nvSpPr>
        <p:spPr>
          <a:xfrm>
            <a:off x="457200" y="2697480"/>
            <a:ext cx="3931920" cy="731520"/>
          </a:xfrm>
          <a:prstGeom prst="rect">
            <a:avLst/>
          </a:prstGeom>
          <a:noFill/>
          <a:ln/>
        </p:spPr>
        <p:txBody>
          <a:bodyPr wrap="square" lIns="0" tIns="0" rIns="0" bIns="0" rtlCol="0" anchor="t"/>
          <a:lstStyle/>
          <a:p>
            <a:pPr marL="0" indent="0">
              <a:buNone/>
            </a:pPr>
            <a:r>
              <a:rPr lang="en-US" sz="1700" b="1" dirty="0">
                <a:solidFill>
                  <a:schemeClr val="tx2"/>
                </a:solidFill>
              </a:rPr>
              <a:t>Penetration Strategy for Non-Cement</a:t>
            </a:r>
            <a:endParaRPr lang="en-US" sz="1700" dirty="0"/>
          </a:p>
          <a:p>
            <a:pPr marL="0" indent="0">
              <a:buNone/>
            </a:pPr>
            <a:r>
              <a:rPr lang="en-US" sz="1700" b="1" dirty="0">
                <a:solidFill>
                  <a:schemeClr val="tx2"/>
                </a:solidFill>
              </a:rPr>
              <a:t>Products in Building Material Stores</a:t>
            </a:r>
            <a:endParaRPr lang="en-US" sz="1700" dirty="0"/>
          </a:p>
        </p:txBody>
      </p:sp>
      <p:sp>
        <p:nvSpPr>
          <p:cNvPr id="9" name="a3-tag"/>
          <p:cNvSpPr txBox="1"/>
          <p:nvPr/>
        </p:nvSpPr>
        <p:spPr>
          <a:xfrm>
            <a:off x="457200" y="3566160"/>
            <a:ext cx="3931920" cy="274320"/>
          </a:xfrm>
          <a:prstGeom prst="rect">
            <a:avLst/>
          </a:prstGeom>
          <a:noFill/>
          <a:ln/>
        </p:spPr>
        <p:txBody>
          <a:bodyPr wrap="square" lIns="0" tIns="0" rIns="0" bIns="0" rtlCol="0" anchor="t"/>
          <a:lstStyle/>
          <a:p>
            <a:pPr marL="0" indent="0">
              <a:buNone/>
            </a:pPr>
            <a:r>
              <a:rPr lang="en-US" sz="1300" dirty="0">
                <a:solidFill>
                  <a:schemeClr val="accent3"/>
                </a:solidFill>
              </a:rPr>
              <a:t>Store Analysis  ·  Value Proposition  ·  Objection Handling</a:t>
            </a:r>
            <a:endParaRPr lang="en-US" sz="1300" dirty="0"/>
          </a:p>
        </p:txBody>
      </p:sp>
      <p:sp>
        <p:nvSpPr>
          <p:cNvPr id="10" name="a4-motto"/>
          <p:cNvSpPr txBox="1"/>
          <p:nvPr/>
        </p:nvSpPr>
        <p:spPr>
          <a:xfrm>
            <a:off x="457200" y="4023360"/>
            <a:ext cx="3931920" cy="594360"/>
          </a:xfrm>
          <a:prstGeom prst="roundRect">
            <a:avLst>
              <a:gd name="adj" fmla="val 30769"/>
            </a:avLst>
          </a:prstGeom>
          <a:solidFill>
            <a:schemeClr val="tx1"/>
          </a:solidFill>
          <a:ln/>
        </p:spPr>
        <p:txBody>
          <a:bodyPr wrap="square" lIns="0" tIns="0" rIns="0" bIns="0" rtlCol="0" anchor="ctr"/>
          <a:lstStyle/>
          <a:p>
            <a:pPr marL="0" indent="0" algn="ctr">
              <a:buNone/>
            </a:pPr>
            <a:r>
              <a:rPr lang="en-US" sz="1300" b="1" i="1" dirty="0">
                <a:solidFill>
                  <a:schemeClr val="accent1"/>
                </a:solidFill>
              </a:rPr>
              <a:t>“Baca Peluangnya, Tunjukkan Nilainya,</a:t>
            </a:r>
            <a:endParaRPr lang="en-US" sz="1300" dirty="0"/>
          </a:p>
          <a:p>
            <a:pPr marL="0" indent="0" algn="ctr">
              <a:buNone/>
            </a:pPr>
            <a:r>
              <a:rPr lang="en-US" sz="1300" b="1" i="1" dirty="0">
                <a:solidFill>
                  <a:schemeClr val="accent1"/>
                </a:solidFill>
              </a:rPr>
              <a:t>Raih Kepercayaannya!”</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400"/>
                            </p:stCondLst>
                            <p:childTnLst>
                              <p:par>
                                <p:cTn id="12" presetID="10"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800"/>
                            </p:stCondLst>
                            <p:childTnLst>
                              <p:par>
                                <p:cTn id="22" presetID="10" presetClass="entr" presetSubtype="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1200"/>
                            </p:stCondLst>
                            <p:childTnLst>
                              <p:par>
                                <p:cTn id="29" presetID="10"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Latar Belakang</a:t>
            </a:r>
            <a:endParaRPr lang="en-US" sz="2800" dirty="0"/>
          </a:p>
        </p:txBody>
      </p:sp>
      <p:sp>
        <p:nvSpPr>
          <p:cNvPr id="3" name="pill"/>
          <p:cNvSpPr txBox="1"/>
          <p:nvPr/>
        </p:nvSpPr>
        <p:spPr>
          <a:xfrm>
            <a:off x="457200" y="237744"/>
            <a:ext cx="210312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KONSEP  ·  LATAR BELAKANG</a:t>
            </a:r>
            <a:endParaRPr lang="en-US" sz="1000" dirty="0"/>
          </a:p>
        </p:txBody>
      </p:sp>
      <p:sp>
        <p:nvSpPr>
          <p:cNvPr id="4" name="a1-n"/>
          <p:cNvSpPr/>
          <p:nvPr/>
        </p:nvSpPr>
        <p:spPr>
          <a:xfrm>
            <a:off x="457200" y="1828800"/>
            <a:ext cx="1783080" cy="1874520"/>
          </a:xfrm>
          <a:prstGeom prst="roundRect">
            <a:avLst>
              <a:gd name="adj" fmla="val 6154"/>
            </a:avLst>
          </a:prstGeom>
          <a:solidFill>
            <a:schemeClr val="bg2"/>
          </a:solidFill>
          <a:ln/>
        </p:spPr>
      </p:sp>
      <p:sp>
        <p:nvSpPr>
          <p:cNvPr id="5" name="a1-n"/>
          <p:cNvSpPr/>
          <p:nvPr/>
        </p:nvSpPr>
        <p:spPr>
          <a:xfrm>
            <a:off x="937260" y="1371600"/>
            <a:ext cx="822960" cy="822960"/>
          </a:xfrm>
          <a:prstGeom prst="ellipse">
            <a:avLst/>
          </a:prstGeom>
          <a:solidFill>
            <a:schemeClr val="accent1"/>
          </a:solidFill>
          <a:ln/>
        </p:spPr>
      </p:sp>
      <p:pic>
        <p:nvPicPr>
          <p:cNvPr id="6" name="a1-n" descr="preencoded.png"/>
          <p:cNvPicPr>
            <a:picLocks noChangeAspect="1"/>
          </p:cNvPicPr>
          <p:nvPr/>
        </p:nvPicPr>
        <p:blipFill>
          <a:blip r:embed="rId3"/>
          <a:stretch>
            <a:fillRect/>
          </a:stretch>
        </p:blipFill>
        <p:spPr>
          <a:xfrm>
            <a:off x="1151230" y="1585570"/>
            <a:ext cx="395021" cy="395021"/>
          </a:xfrm>
          <a:prstGeom prst="rect">
            <a:avLst/>
          </a:prstGeom>
        </p:spPr>
      </p:pic>
      <p:sp>
        <p:nvSpPr>
          <p:cNvPr id="7" name="a1-n"/>
          <p:cNvSpPr txBox="1"/>
          <p:nvPr/>
        </p:nvSpPr>
        <p:spPr>
          <a:xfrm>
            <a:off x="566928" y="2331720"/>
            <a:ext cx="1563624" cy="1325880"/>
          </a:xfrm>
          <a:prstGeom prst="rect">
            <a:avLst/>
          </a:prstGeom>
          <a:noFill/>
          <a:ln/>
        </p:spPr>
        <p:txBody>
          <a:bodyPr wrap="square" lIns="0" tIns="0" rIns="0" bIns="0" rtlCol="0" anchor="t"/>
          <a:lstStyle/>
          <a:p>
            <a:pPr marL="0" indent="0" algn="ctr">
              <a:spcAft>
                <a:spcPts val="400"/>
              </a:spcAft>
              <a:buNone/>
            </a:pPr>
            <a:r>
              <a:rPr lang="en-US" sz="1600" b="1" dirty="0">
                <a:solidFill>
                  <a:schemeClr val="tx1"/>
                </a:solidFill>
              </a:rPr>
              <a:t>Semen kosong</a:t>
            </a:r>
            <a:endParaRPr lang="en-US" sz="1400" dirty="0"/>
          </a:p>
          <a:p>
            <a:pPr marL="0" indent="0" algn="ctr">
              <a:spcAft>
                <a:spcPts val="400"/>
              </a:spcAft>
              <a:buNone/>
            </a:pPr>
            <a:r>
              <a:rPr lang="en-US" sz="1400" dirty="0">
                <a:solidFill>
                  <a:schemeClr val="tx1"/>
                </a:solidFill>
              </a:rPr>
              <a:t>Batu bara langka, pasokan semen terganggu.</a:t>
            </a:r>
            <a:endParaRPr lang="en-US" sz="1400" dirty="0"/>
          </a:p>
        </p:txBody>
      </p:sp>
      <p:sp>
        <p:nvSpPr>
          <p:cNvPr id="8" name="a2-ar"/>
          <p:cNvSpPr/>
          <p:nvPr/>
        </p:nvSpPr>
        <p:spPr>
          <a:xfrm>
            <a:off x="2286000" y="2724912"/>
            <a:ext cx="274320" cy="914"/>
          </a:xfrm>
          <a:prstGeom prst="line">
            <a:avLst/>
          </a:prstGeom>
          <a:noFill/>
          <a:ln w="28575">
            <a:solidFill>
              <a:schemeClr val="tx1"/>
            </a:solidFill>
            <a:prstDash val="solid"/>
            <a:tailEnd type="triangle"/>
          </a:ln>
        </p:spPr>
      </p:sp>
      <p:sp>
        <p:nvSpPr>
          <p:cNvPr id="9" name="a2-n"/>
          <p:cNvSpPr/>
          <p:nvPr/>
        </p:nvSpPr>
        <p:spPr>
          <a:xfrm>
            <a:off x="2606040" y="1828800"/>
            <a:ext cx="1783080" cy="1874520"/>
          </a:xfrm>
          <a:prstGeom prst="roundRect">
            <a:avLst>
              <a:gd name="adj" fmla="val 6154"/>
            </a:avLst>
          </a:prstGeom>
          <a:solidFill>
            <a:schemeClr val="bg2"/>
          </a:solidFill>
          <a:ln/>
        </p:spPr>
      </p:sp>
      <p:sp>
        <p:nvSpPr>
          <p:cNvPr id="10" name="a2-n"/>
          <p:cNvSpPr/>
          <p:nvPr/>
        </p:nvSpPr>
        <p:spPr>
          <a:xfrm>
            <a:off x="3086100" y="1371600"/>
            <a:ext cx="822960" cy="822960"/>
          </a:xfrm>
          <a:prstGeom prst="ellipse">
            <a:avLst/>
          </a:prstGeom>
          <a:solidFill>
            <a:schemeClr val="accent1"/>
          </a:solidFill>
          <a:ln/>
        </p:spPr>
      </p:sp>
      <p:pic>
        <p:nvPicPr>
          <p:cNvPr id="11" name="a2-n" descr="preencoded.png"/>
          <p:cNvPicPr>
            <a:picLocks noChangeAspect="1"/>
          </p:cNvPicPr>
          <p:nvPr/>
        </p:nvPicPr>
        <p:blipFill>
          <a:blip r:embed="rId4"/>
          <a:stretch>
            <a:fillRect/>
          </a:stretch>
        </p:blipFill>
        <p:spPr>
          <a:xfrm>
            <a:off x="3300070" y="1585570"/>
            <a:ext cx="395021" cy="395021"/>
          </a:xfrm>
          <a:prstGeom prst="rect">
            <a:avLst/>
          </a:prstGeom>
        </p:spPr>
      </p:pic>
      <p:sp>
        <p:nvSpPr>
          <p:cNvPr id="12" name="a2-n"/>
          <p:cNvSpPr txBox="1"/>
          <p:nvPr/>
        </p:nvSpPr>
        <p:spPr>
          <a:xfrm>
            <a:off x="2715768" y="2331720"/>
            <a:ext cx="1563624" cy="1325880"/>
          </a:xfrm>
          <a:prstGeom prst="rect">
            <a:avLst/>
          </a:prstGeom>
          <a:noFill/>
          <a:ln/>
        </p:spPr>
        <p:txBody>
          <a:bodyPr wrap="square" lIns="0" tIns="0" rIns="0" bIns="0" rtlCol="0" anchor="t"/>
          <a:lstStyle/>
          <a:p>
            <a:pPr marL="0" indent="0" algn="ctr">
              <a:spcAft>
                <a:spcPts val="400"/>
              </a:spcAft>
              <a:buNone/>
            </a:pPr>
            <a:r>
              <a:rPr lang="en-US" sz="1600" b="1" dirty="0">
                <a:solidFill>
                  <a:schemeClr val="tx1"/>
                </a:solidFill>
              </a:rPr>
              <a:t>Pelanggan pindah</a:t>
            </a:r>
            <a:endParaRPr lang="en-US" sz="1400" dirty="0"/>
          </a:p>
          <a:p>
            <a:pPr marL="0" indent="0" algn="ctr">
              <a:spcAft>
                <a:spcPts val="400"/>
              </a:spcAft>
              <a:buNone/>
            </a:pPr>
            <a:r>
              <a:rPr lang="en-US" sz="1400" dirty="0">
                <a:solidFill>
                  <a:schemeClr val="tx1"/>
                </a:solidFill>
              </a:rPr>
              <a:t>Tukang dan pembeli mencari ke toko lain yang ada barangnya.</a:t>
            </a:r>
            <a:endParaRPr lang="en-US" sz="1400" dirty="0"/>
          </a:p>
        </p:txBody>
      </p:sp>
      <p:sp>
        <p:nvSpPr>
          <p:cNvPr id="13" name="a3-ar"/>
          <p:cNvSpPr/>
          <p:nvPr/>
        </p:nvSpPr>
        <p:spPr>
          <a:xfrm>
            <a:off x="4434840" y="2724912"/>
            <a:ext cx="274320" cy="914"/>
          </a:xfrm>
          <a:prstGeom prst="line">
            <a:avLst/>
          </a:prstGeom>
          <a:noFill/>
          <a:ln w="28575">
            <a:solidFill>
              <a:schemeClr val="tx1"/>
            </a:solidFill>
            <a:prstDash val="solid"/>
            <a:tailEnd type="triangle"/>
          </a:ln>
        </p:spPr>
      </p:sp>
      <p:sp>
        <p:nvSpPr>
          <p:cNvPr id="14" name="a3-n"/>
          <p:cNvSpPr/>
          <p:nvPr/>
        </p:nvSpPr>
        <p:spPr>
          <a:xfrm>
            <a:off x="4754880" y="1828800"/>
            <a:ext cx="1783080" cy="1874520"/>
          </a:xfrm>
          <a:prstGeom prst="roundRect">
            <a:avLst>
              <a:gd name="adj" fmla="val 6154"/>
            </a:avLst>
          </a:prstGeom>
          <a:solidFill>
            <a:schemeClr val="bg2"/>
          </a:solidFill>
          <a:ln/>
        </p:spPr>
      </p:sp>
      <p:sp>
        <p:nvSpPr>
          <p:cNvPr id="15" name="a3-n"/>
          <p:cNvSpPr/>
          <p:nvPr/>
        </p:nvSpPr>
        <p:spPr>
          <a:xfrm>
            <a:off x="5234940" y="1371600"/>
            <a:ext cx="822960" cy="822960"/>
          </a:xfrm>
          <a:prstGeom prst="ellipse">
            <a:avLst/>
          </a:prstGeom>
          <a:solidFill>
            <a:schemeClr val="accent1"/>
          </a:solidFill>
          <a:ln/>
        </p:spPr>
      </p:sp>
      <p:pic>
        <p:nvPicPr>
          <p:cNvPr id="16" name="a3-n" descr="preencoded.png"/>
          <p:cNvPicPr>
            <a:picLocks noChangeAspect="1"/>
          </p:cNvPicPr>
          <p:nvPr/>
        </p:nvPicPr>
        <p:blipFill>
          <a:blip r:embed="rId5"/>
          <a:stretch>
            <a:fillRect/>
          </a:stretch>
        </p:blipFill>
        <p:spPr>
          <a:xfrm>
            <a:off x="5448910" y="1585570"/>
            <a:ext cx="395021" cy="395021"/>
          </a:xfrm>
          <a:prstGeom prst="rect">
            <a:avLst/>
          </a:prstGeom>
        </p:spPr>
      </p:pic>
      <p:sp>
        <p:nvSpPr>
          <p:cNvPr id="17" name="a3-n"/>
          <p:cNvSpPr txBox="1"/>
          <p:nvPr/>
        </p:nvSpPr>
        <p:spPr>
          <a:xfrm>
            <a:off x="4864608" y="2331720"/>
            <a:ext cx="1563624" cy="1325880"/>
          </a:xfrm>
          <a:prstGeom prst="rect">
            <a:avLst/>
          </a:prstGeom>
          <a:noFill/>
          <a:ln/>
        </p:spPr>
        <p:txBody>
          <a:bodyPr wrap="square" lIns="0" tIns="0" rIns="0" bIns="0" rtlCol="0" anchor="t"/>
          <a:lstStyle/>
          <a:p>
            <a:pPr marL="0" indent="0" algn="ctr">
              <a:spcAft>
                <a:spcPts val="400"/>
              </a:spcAft>
              <a:buNone/>
            </a:pPr>
            <a:r>
              <a:rPr lang="en-US" sz="1600" b="1" dirty="0">
                <a:solidFill>
                  <a:schemeClr val="tx1"/>
                </a:solidFill>
              </a:rPr>
              <a:t>Toko &amp; </a:t>
            </a:r>
            <a:r>
              <a:rPr lang="en-US" sz="1600" b="1" dirty="0" smtClean="0">
                <a:solidFill>
                  <a:schemeClr val="tx1"/>
                </a:solidFill>
              </a:rPr>
              <a:t>SID</a:t>
            </a:r>
            <a:endParaRPr lang="en-US" sz="1400" dirty="0"/>
          </a:p>
          <a:p>
            <a:pPr marL="0" indent="0" algn="ctr">
              <a:spcAft>
                <a:spcPts val="400"/>
              </a:spcAft>
              <a:buNone/>
            </a:pPr>
            <a:r>
              <a:rPr lang="en-US" sz="1400" dirty="0">
                <a:solidFill>
                  <a:schemeClr val="tx1"/>
                </a:solidFill>
              </a:rPr>
              <a:t>Omzet toko turun, </a:t>
            </a:r>
            <a:r>
              <a:rPr lang="en-US" sz="1400" dirty="0" err="1">
                <a:solidFill>
                  <a:schemeClr val="tx1"/>
                </a:solidFill>
              </a:rPr>
              <a:t>hubungan</a:t>
            </a:r>
            <a:r>
              <a:rPr lang="en-US" sz="1400" dirty="0">
                <a:solidFill>
                  <a:schemeClr val="tx1"/>
                </a:solidFill>
              </a:rPr>
              <a:t> </a:t>
            </a:r>
            <a:r>
              <a:rPr lang="en-US" sz="1400" dirty="0" smtClean="0">
                <a:solidFill>
                  <a:schemeClr val="tx1"/>
                </a:solidFill>
              </a:rPr>
              <a:t>SID dengan </a:t>
            </a:r>
            <a:r>
              <a:rPr lang="en-US" sz="1400" dirty="0">
                <a:solidFill>
                  <a:schemeClr val="tx1"/>
                </a:solidFill>
              </a:rPr>
              <a:t>toko ikut renggang.</a:t>
            </a:r>
            <a:endParaRPr lang="en-US" sz="1400" dirty="0"/>
          </a:p>
        </p:txBody>
      </p:sp>
      <p:sp>
        <p:nvSpPr>
          <p:cNvPr id="18" name="a4-ar"/>
          <p:cNvSpPr/>
          <p:nvPr/>
        </p:nvSpPr>
        <p:spPr>
          <a:xfrm>
            <a:off x="6583680" y="2724912"/>
            <a:ext cx="274320" cy="914"/>
          </a:xfrm>
          <a:prstGeom prst="line">
            <a:avLst/>
          </a:prstGeom>
          <a:noFill/>
          <a:ln w="28575">
            <a:solidFill>
              <a:schemeClr val="tx1"/>
            </a:solidFill>
            <a:prstDash val="solid"/>
            <a:tailEnd type="triangle"/>
          </a:ln>
        </p:spPr>
      </p:sp>
      <p:sp>
        <p:nvSpPr>
          <p:cNvPr id="19" name="a4-n"/>
          <p:cNvSpPr/>
          <p:nvPr/>
        </p:nvSpPr>
        <p:spPr>
          <a:xfrm>
            <a:off x="6903720" y="1828800"/>
            <a:ext cx="1783080" cy="1874520"/>
          </a:xfrm>
          <a:prstGeom prst="roundRect">
            <a:avLst>
              <a:gd name="adj" fmla="val 6154"/>
            </a:avLst>
          </a:prstGeom>
          <a:solidFill>
            <a:schemeClr val="accent1"/>
          </a:solidFill>
          <a:ln/>
        </p:spPr>
      </p:sp>
      <p:sp>
        <p:nvSpPr>
          <p:cNvPr id="20" name="a4-n"/>
          <p:cNvSpPr/>
          <p:nvPr/>
        </p:nvSpPr>
        <p:spPr>
          <a:xfrm>
            <a:off x="7383780" y="1371600"/>
            <a:ext cx="822960" cy="822960"/>
          </a:xfrm>
          <a:prstGeom prst="ellipse">
            <a:avLst/>
          </a:prstGeom>
          <a:solidFill>
            <a:schemeClr val="tx1"/>
          </a:solidFill>
          <a:ln/>
        </p:spPr>
      </p:sp>
      <p:pic>
        <p:nvPicPr>
          <p:cNvPr id="21" name="a4-n" descr="preencoded.png"/>
          <p:cNvPicPr>
            <a:picLocks noChangeAspect="1"/>
          </p:cNvPicPr>
          <p:nvPr/>
        </p:nvPicPr>
        <p:blipFill>
          <a:blip r:embed="rId6"/>
          <a:stretch>
            <a:fillRect/>
          </a:stretch>
        </p:blipFill>
        <p:spPr>
          <a:xfrm>
            <a:off x="7597750" y="1585570"/>
            <a:ext cx="395021" cy="395021"/>
          </a:xfrm>
          <a:prstGeom prst="rect">
            <a:avLst/>
          </a:prstGeom>
        </p:spPr>
      </p:pic>
      <p:sp>
        <p:nvSpPr>
          <p:cNvPr id="22" name="a4-n"/>
          <p:cNvSpPr txBox="1"/>
          <p:nvPr/>
        </p:nvSpPr>
        <p:spPr>
          <a:xfrm>
            <a:off x="7013448" y="2331720"/>
            <a:ext cx="1563624" cy="1325880"/>
          </a:xfrm>
          <a:prstGeom prst="rect">
            <a:avLst/>
          </a:prstGeom>
          <a:noFill/>
          <a:ln/>
        </p:spPr>
        <p:txBody>
          <a:bodyPr wrap="square" lIns="0" tIns="0" rIns="0" bIns="0" rtlCol="0" anchor="t"/>
          <a:lstStyle/>
          <a:p>
            <a:pPr marL="0" indent="0" algn="ctr">
              <a:spcAft>
                <a:spcPts val="400"/>
              </a:spcAft>
              <a:buNone/>
            </a:pPr>
            <a:r>
              <a:rPr lang="en-US" sz="1600" b="1" dirty="0" err="1" smtClean="0">
                <a:solidFill>
                  <a:schemeClr val="tx1"/>
                </a:solidFill>
              </a:rPr>
              <a:t>Peluang</a:t>
            </a:r>
            <a:endParaRPr lang="en-US" sz="1400" dirty="0"/>
          </a:p>
          <a:p>
            <a:pPr marL="0" indent="0" algn="ctr">
              <a:spcAft>
                <a:spcPts val="400"/>
              </a:spcAft>
              <a:buNone/>
            </a:pPr>
            <a:r>
              <a:rPr lang="en-US" sz="1400" dirty="0">
                <a:solidFill>
                  <a:schemeClr val="tx1"/>
                </a:solidFill>
              </a:rPr>
              <a:t>Non-semen menahan pelanggan dan jadi sumber cuan.</a:t>
            </a:r>
            <a:endParaRPr lang="en-US" sz="1400" dirty="0"/>
          </a:p>
        </p:txBody>
      </p:sp>
      <p:sp>
        <p:nvSpPr>
          <p:cNvPr id="23" name="a5-call"/>
          <p:cNvSpPr txBox="1"/>
          <p:nvPr/>
        </p:nvSpPr>
        <p:spPr>
          <a:xfrm>
            <a:off x="457200" y="3931920"/>
            <a:ext cx="8229600" cy="548640"/>
          </a:xfrm>
          <a:prstGeom prst="roundRect">
            <a:avLst>
              <a:gd name="adj" fmla="val 20000"/>
            </a:avLst>
          </a:prstGeom>
          <a:solidFill>
            <a:schemeClr val="tx1"/>
          </a:solidFill>
          <a:ln/>
        </p:spPr>
        <p:txBody>
          <a:bodyPr wrap="square" lIns="0" tIns="0" rIns="0" bIns="0" rtlCol="0" anchor="ctr"/>
          <a:lstStyle/>
          <a:p>
            <a:pPr marL="0" indent="0" algn="ctr">
              <a:buNone/>
            </a:pPr>
            <a:r>
              <a:rPr lang="en-US" sz="1600" dirty="0">
                <a:solidFill>
                  <a:schemeClr val="bg1"/>
                </a:solidFill>
              </a:rPr>
              <a:t>SID perlu memperkuat penjualan non-semen. Kuncinya: </a:t>
            </a:r>
            <a:r>
              <a:rPr lang="en-US" sz="1600" b="1" dirty="0">
                <a:solidFill>
                  <a:schemeClr val="accent1"/>
                </a:solidFill>
              </a:rPr>
              <a:t>sales yang mampu menjual nilai.</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4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par>
                          <p:cTn id="33" fill="hold">
                            <p:stCondLst>
                              <p:cond delay="800"/>
                            </p:stCondLst>
                            <p:childTnLst>
                              <p:par>
                                <p:cTn id="34" presetID="10"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par>
                          <p:cTn id="49" fill="hold">
                            <p:stCondLst>
                              <p:cond delay="1200"/>
                            </p:stCondLst>
                            <p:childTnLst>
                              <p:par>
                                <p:cTn id="50" presetID="10" presetClass="entr" presetSubtype="0" fill="hold"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par>
                          <p:cTn id="65" fill="hold">
                            <p:stCondLst>
                              <p:cond delay="1600"/>
                            </p:stCondLst>
                            <p:childTnLst>
                              <p:par>
                                <p:cTn id="66" presetID="10" presetClass="entr" presetSubtype="0"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Mengapa Value-Based Selling?</a:t>
            </a:r>
            <a:endParaRPr lang="en-US" sz="2800" dirty="0"/>
          </a:p>
        </p:txBody>
      </p:sp>
      <p:sp>
        <p:nvSpPr>
          <p:cNvPr id="3" name="pill"/>
          <p:cNvSpPr txBox="1"/>
          <p:nvPr/>
        </p:nvSpPr>
        <p:spPr>
          <a:xfrm>
            <a:off x="457200" y="237744"/>
            <a:ext cx="231709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KONSEP  ·  ALASAN PENDEKATAN</a:t>
            </a:r>
            <a:endParaRPr lang="en-US" sz="1000" dirty="0"/>
          </a:p>
        </p:txBody>
      </p:sp>
      <p:pic>
        <p:nvPicPr>
          <p:cNvPr id="4" name="a1-own" descr="preencoded.png"/>
          <p:cNvPicPr>
            <a:picLocks noChangeAspect="1"/>
          </p:cNvPicPr>
          <p:nvPr/>
        </p:nvPicPr>
        <p:blipFill>
          <a:blip r:embed="rId3"/>
          <a:stretch>
            <a:fillRect/>
          </a:stretch>
        </p:blipFill>
        <p:spPr>
          <a:xfrm>
            <a:off x="960120" y="1234440"/>
            <a:ext cx="1463040" cy="1828800"/>
          </a:xfrm>
          <a:prstGeom prst="rect">
            <a:avLst/>
          </a:prstGeom>
        </p:spPr>
      </p:pic>
      <p:sp>
        <p:nvSpPr>
          <p:cNvPr id="5" name="a1-own"/>
          <p:cNvSpPr txBox="1"/>
          <p:nvPr/>
        </p:nvSpPr>
        <p:spPr>
          <a:xfrm>
            <a:off x="457200" y="3108960"/>
            <a:ext cx="2514600" cy="457200"/>
          </a:xfrm>
          <a:prstGeom prst="rect">
            <a:avLst/>
          </a:prstGeom>
          <a:noFill/>
          <a:ln/>
        </p:spPr>
        <p:txBody>
          <a:bodyPr wrap="square" lIns="0" tIns="0" rIns="0" bIns="0" rtlCol="0" anchor="t"/>
          <a:lstStyle/>
          <a:p>
            <a:pPr marL="0" indent="0">
              <a:buNone/>
            </a:pPr>
            <a:r>
              <a:rPr lang="en-US" sz="1300" b="1" dirty="0">
                <a:solidFill>
                  <a:schemeClr val="tx1"/>
                </a:solidFill>
              </a:rPr>
              <a:t>Toko membeli untuk dijual lagi. Yang mereka pikirkan:</a:t>
            </a:r>
            <a:endParaRPr lang="en-US" sz="1300" dirty="0"/>
          </a:p>
        </p:txBody>
      </p:sp>
      <p:sp>
        <p:nvSpPr>
          <p:cNvPr id="6" name="a1-own"/>
          <p:cNvSpPr txBox="1"/>
          <p:nvPr/>
        </p:nvSpPr>
        <p:spPr>
          <a:xfrm>
            <a:off x="457200" y="3639312"/>
            <a:ext cx="118872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300" b="1" dirty="0">
                <a:solidFill>
                  <a:schemeClr val="tx1"/>
                </a:solidFill>
              </a:rPr>
              <a:t>Laku?</a:t>
            </a:r>
            <a:endParaRPr lang="en-US" sz="1300" dirty="0"/>
          </a:p>
        </p:txBody>
      </p:sp>
      <p:sp>
        <p:nvSpPr>
          <p:cNvPr id="7" name="a1-own"/>
          <p:cNvSpPr txBox="1"/>
          <p:nvPr/>
        </p:nvSpPr>
        <p:spPr>
          <a:xfrm>
            <a:off x="1737360" y="3639312"/>
            <a:ext cx="118872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300" b="1" dirty="0">
                <a:solidFill>
                  <a:schemeClr val="tx1"/>
                </a:solidFill>
              </a:rPr>
              <a:t>Untung?</a:t>
            </a:r>
            <a:endParaRPr lang="en-US" sz="1300" dirty="0"/>
          </a:p>
        </p:txBody>
      </p:sp>
      <p:sp>
        <p:nvSpPr>
          <p:cNvPr id="8" name="a1-own"/>
          <p:cNvSpPr txBox="1"/>
          <p:nvPr/>
        </p:nvSpPr>
        <p:spPr>
          <a:xfrm>
            <a:off x="457200" y="4069080"/>
            <a:ext cx="118872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300" b="1" dirty="0">
                <a:solidFill>
                  <a:schemeClr val="tx1"/>
                </a:solidFill>
              </a:rPr>
              <a:t>Modal?</a:t>
            </a:r>
            <a:endParaRPr lang="en-US" sz="1300" dirty="0"/>
          </a:p>
        </p:txBody>
      </p:sp>
      <p:sp>
        <p:nvSpPr>
          <p:cNvPr id="33" name="Rounded Rectangle 32"/>
          <p:cNvSpPr/>
          <p:nvPr/>
        </p:nvSpPr>
        <p:spPr>
          <a:xfrm>
            <a:off x="3063240" y="1189578"/>
            <a:ext cx="5874282" cy="3517713"/>
          </a:xfrm>
          <a:custGeom>
            <a:avLst/>
            <a:gdLst>
              <a:gd name="connsiteX0" fmla="*/ 0 w 5864450"/>
              <a:gd name="connsiteY0" fmla="*/ 586145 h 3516802"/>
              <a:gd name="connsiteX1" fmla="*/ 586145 w 5864450"/>
              <a:gd name="connsiteY1" fmla="*/ 0 h 3516802"/>
              <a:gd name="connsiteX2" fmla="*/ 5278305 w 5864450"/>
              <a:gd name="connsiteY2" fmla="*/ 0 h 3516802"/>
              <a:gd name="connsiteX3" fmla="*/ 5864450 w 5864450"/>
              <a:gd name="connsiteY3" fmla="*/ 586145 h 3516802"/>
              <a:gd name="connsiteX4" fmla="*/ 5864450 w 5864450"/>
              <a:gd name="connsiteY4" fmla="*/ 2930657 h 3516802"/>
              <a:gd name="connsiteX5" fmla="*/ 5278305 w 5864450"/>
              <a:gd name="connsiteY5" fmla="*/ 3516802 h 3516802"/>
              <a:gd name="connsiteX6" fmla="*/ 586145 w 5864450"/>
              <a:gd name="connsiteY6" fmla="*/ 3516802 h 3516802"/>
              <a:gd name="connsiteX7" fmla="*/ 0 w 5864450"/>
              <a:gd name="connsiteY7" fmla="*/ 2930657 h 3516802"/>
              <a:gd name="connsiteX8" fmla="*/ 0 w 5864450"/>
              <a:gd name="connsiteY8" fmla="*/ 586145 h 3516802"/>
              <a:gd name="connsiteX0" fmla="*/ 0 w 5864450"/>
              <a:gd name="connsiteY0" fmla="*/ 292089 h 3517713"/>
              <a:gd name="connsiteX1" fmla="*/ 586145 w 5864450"/>
              <a:gd name="connsiteY1" fmla="*/ 911 h 3517713"/>
              <a:gd name="connsiteX2" fmla="*/ 5278305 w 5864450"/>
              <a:gd name="connsiteY2" fmla="*/ 911 h 3517713"/>
              <a:gd name="connsiteX3" fmla="*/ 5864450 w 5864450"/>
              <a:gd name="connsiteY3" fmla="*/ 587056 h 3517713"/>
              <a:gd name="connsiteX4" fmla="*/ 5864450 w 5864450"/>
              <a:gd name="connsiteY4" fmla="*/ 2931568 h 3517713"/>
              <a:gd name="connsiteX5" fmla="*/ 5278305 w 5864450"/>
              <a:gd name="connsiteY5" fmla="*/ 3517713 h 3517713"/>
              <a:gd name="connsiteX6" fmla="*/ 586145 w 5864450"/>
              <a:gd name="connsiteY6" fmla="*/ 3517713 h 3517713"/>
              <a:gd name="connsiteX7" fmla="*/ 0 w 5864450"/>
              <a:gd name="connsiteY7" fmla="*/ 2931568 h 3517713"/>
              <a:gd name="connsiteX8" fmla="*/ 0 w 5864450"/>
              <a:gd name="connsiteY8" fmla="*/ 292089 h 3517713"/>
              <a:gd name="connsiteX0" fmla="*/ 0 w 5874282"/>
              <a:gd name="connsiteY0" fmla="*/ 292089 h 3517713"/>
              <a:gd name="connsiteX1" fmla="*/ 586145 w 5874282"/>
              <a:gd name="connsiteY1" fmla="*/ 911 h 3517713"/>
              <a:gd name="connsiteX2" fmla="*/ 5278305 w 5874282"/>
              <a:gd name="connsiteY2" fmla="*/ 911 h 3517713"/>
              <a:gd name="connsiteX3" fmla="*/ 5874282 w 5874282"/>
              <a:gd name="connsiteY3" fmla="*/ 321585 h 3517713"/>
              <a:gd name="connsiteX4" fmla="*/ 5864450 w 5874282"/>
              <a:gd name="connsiteY4" fmla="*/ 2931568 h 3517713"/>
              <a:gd name="connsiteX5" fmla="*/ 5278305 w 5874282"/>
              <a:gd name="connsiteY5" fmla="*/ 3517713 h 3517713"/>
              <a:gd name="connsiteX6" fmla="*/ 586145 w 5874282"/>
              <a:gd name="connsiteY6" fmla="*/ 3517713 h 3517713"/>
              <a:gd name="connsiteX7" fmla="*/ 0 w 5874282"/>
              <a:gd name="connsiteY7" fmla="*/ 2931568 h 3517713"/>
              <a:gd name="connsiteX8" fmla="*/ 0 w 5874282"/>
              <a:gd name="connsiteY8" fmla="*/ 292089 h 3517713"/>
              <a:gd name="connsiteX0" fmla="*/ 0 w 5874282"/>
              <a:gd name="connsiteY0" fmla="*/ 292089 h 3517713"/>
              <a:gd name="connsiteX1" fmla="*/ 586145 w 5874282"/>
              <a:gd name="connsiteY1" fmla="*/ 911 h 3517713"/>
              <a:gd name="connsiteX2" fmla="*/ 5278305 w 5874282"/>
              <a:gd name="connsiteY2" fmla="*/ 911 h 3517713"/>
              <a:gd name="connsiteX3" fmla="*/ 5874282 w 5874282"/>
              <a:gd name="connsiteY3" fmla="*/ 321585 h 3517713"/>
              <a:gd name="connsiteX4" fmla="*/ 5864450 w 5874282"/>
              <a:gd name="connsiteY4" fmla="*/ 2931568 h 3517713"/>
              <a:gd name="connsiteX5" fmla="*/ 5278305 w 5874282"/>
              <a:gd name="connsiteY5" fmla="*/ 3517713 h 3517713"/>
              <a:gd name="connsiteX6" fmla="*/ 586145 w 5874282"/>
              <a:gd name="connsiteY6" fmla="*/ 3517713 h 3517713"/>
              <a:gd name="connsiteX7" fmla="*/ 19665 w 5874282"/>
              <a:gd name="connsiteY7" fmla="*/ 3177375 h 3517713"/>
              <a:gd name="connsiteX8" fmla="*/ 0 w 5874282"/>
              <a:gd name="connsiteY8" fmla="*/ 292089 h 3517713"/>
              <a:gd name="connsiteX0" fmla="*/ 0 w 5874282"/>
              <a:gd name="connsiteY0" fmla="*/ 292089 h 3517713"/>
              <a:gd name="connsiteX1" fmla="*/ 586145 w 5874282"/>
              <a:gd name="connsiteY1" fmla="*/ 911 h 3517713"/>
              <a:gd name="connsiteX2" fmla="*/ 5278305 w 5874282"/>
              <a:gd name="connsiteY2" fmla="*/ 911 h 3517713"/>
              <a:gd name="connsiteX3" fmla="*/ 5874282 w 5874282"/>
              <a:gd name="connsiteY3" fmla="*/ 321585 h 3517713"/>
              <a:gd name="connsiteX4" fmla="*/ 5864450 w 5874282"/>
              <a:gd name="connsiteY4" fmla="*/ 3187207 h 3517713"/>
              <a:gd name="connsiteX5" fmla="*/ 5278305 w 5874282"/>
              <a:gd name="connsiteY5" fmla="*/ 3517713 h 3517713"/>
              <a:gd name="connsiteX6" fmla="*/ 586145 w 5874282"/>
              <a:gd name="connsiteY6" fmla="*/ 3517713 h 3517713"/>
              <a:gd name="connsiteX7" fmla="*/ 19665 w 5874282"/>
              <a:gd name="connsiteY7" fmla="*/ 3177375 h 3517713"/>
              <a:gd name="connsiteX8" fmla="*/ 0 w 5874282"/>
              <a:gd name="connsiteY8" fmla="*/ 292089 h 351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4282" h="3517713">
                <a:moveTo>
                  <a:pt x="0" y="292089"/>
                </a:moveTo>
                <a:cubicBezTo>
                  <a:pt x="0" y="-31630"/>
                  <a:pt x="262426" y="911"/>
                  <a:pt x="586145" y="911"/>
                </a:cubicBezTo>
                <a:lnTo>
                  <a:pt x="5278305" y="911"/>
                </a:lnTo>
                <a:cubicBezTo>
                  <a:pt x="5602024" y="911"/>
                  <a:pt x="5874282" y="-2134"/>
                  <a:pt x="5874282" y="321585"/>
                </a:cubicBezTo>
                <a:cubicBezTo>
                  <a:pt x="5871005" y="1191579"/>
                  <a:pt x="5867727" y="2317213"/>
                  <a:pt x="5864450" y="3187207"/>
                </a:cubicBezTo>
                <a:cubicBezTo>
                  <a:pt x="5864450" y="3510926"/>
                  <a:pt x="5602024" y="3517713"/>
                  <a:pt x="5278305" y="3517713"/>
                </a:cubicBezTo>
                <a:lnTo>
                  <a:pt x="586145" y="3517713"/>
                </a:lnTo>
                <a:cubicBezTo>
                  <a:pt x="262426" y="3517713"/>
                  <a:pt x="19665" y="3501094"/>
                  <a:pt x="19665" y="3177375"/>
                </a:cubicBezTo>
                <a:lnTo>
                  <a:pt x="0" y="292089"/>
                </a:lnTo>
                <a:close/>
              </a:path>
            </a:pathLst>
          </a:cu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1-own"/>
          <p:cNvSpPr txBox="1"/>
          <p:nvPr/>
        </p:nvSpPr>
        <p:spPr>
          <a:xfrm>
            <a:off x="1737360" y="4069080"/>
            <a:ext cx="118872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300" b="1" dirty="0">
                <a:solidFill>
                  <a:schemeClr val="tx1"/>
                </a:solidFill>
              </a:rPr>
              <a:t>Risiko?</a:t>
            </a:r>
            <a:endParaRPr lang="en-US" sz="1300" dirty="0"/>
          </a:p>
        </p:txBody>
      </p:sp>
      <p:sp>
        <p:nvSpPr>
          <p:cNvPr id="10" name="a2-h"/>
          <p:cNvSpPr txBox="1"/>
          <p:nvPr/>
        </p:nvSpPr>
        <p:spPr>
          <a:xfrm>
            <a:off x="4434840" y="1298448"/>
            <a:ext cx="2057400" cy="384048"/>
          </a:xfrm>
          <a:prstGeom prst="roundRect">
            <a:avLst>
              <a:gd name="adj" fmla="val 19048"/>
            </a:avLst>
          </a:prstGeom>
          <a:solidFill>
            <a:schemeClr val="bg2"/>
          </a:solidFill>
          <a:ln/>
        </p:spPr>
        <p:txBody>
          <a:bodyPr wrap="square" lIns="0" tIns="0" rIns="0" bIns="0" rtlCol="0" anchor="ctr"/>
          <a:lstStyle/>
          <a:p>
            <a:pPr marL="0" indent="0" algn="ctr">
              <a:buNone/>
            </a:pPr>
            <a:r>
              <a:rPr lang="en-US" sz="1300" b="1" dirty="0">
                <a:solidFill>
                  <a:schemeClr val="accent3"/>
                </a:solidFill>
              </a:rPr>
              <a:t>Cara lama: Product Selling</a:t>
            </a:r>
            <a:endParaRPr lang="en-US" sz="1300" dirty="0"/>
          </a:p>
        </p:txBody>
      </p:sp>
      <p:sp>
        <p:nvSpPr>
          <p:cNvPr id="11" name="a2-h"/>
          <p:cNvSpPr txBox="1"/>
          <p:nvPr/>
        </p:nvSpPr>
        <p:spPr>
          <a:xfrm>
            <a:off x="6583680" y="1298448"/>
            <a:ext cx="2103120" cy="384048"/>
          </a:xfrm>
          <a:prstGeom prst="roundRect">
            <a:avLst>
              <a:gd name="adj" fmla="val 19048"/>
            </a:avLst>
          </a:prstGeom>
          <a:solidFill>
            <a:schemeClr val="accent1"/>
          </a:solidFill>
          <a:ln/>
        </p:spPr>
        <p:txBody>
          <a:bodyPr wrap="square" lIns="0" tIns="0" rIns="0" bIns="0" rtlCol="0" anchor="ctr"/>
          <a:lstStyle/>
          <a:p>
            <a:pPr marL="0" indent="0" algn="ctr">
              <a:buNone/>
            </a:pPr>
            <a:r>
              <a:rPr lang="en-US" sz="1300" b="1" dirty="0">
                <a:solidFill>
                  <a:schemeClr val="tx1"/>
                </a:solidFill>
              </a:rPr>
              <a:t>Value-Based Selling</a:t>
            </a:r>
            <a:endParaRPr lang="en-US" sz="1300" dirty="0"/>
          </a:p>
        </p:txBody>
      </p:sp>
      <p:sp>
        <p:nvSpPr>
          <p:cNvPr id="12" name="a3-r"/>
          <p:cNvSpPr txBox="1"/>
          <p:nvPr/>
        </p:nvSpPr>
        <p:spPr>
          <a:xfrm>
            <a:off x="3200400" y="1783080"/>
            <a:ext cx="1188720" cy="594360"/>
          </a:xfrm>
          <a:prstGeom prst="rect">
            <a:avLst/>
          </a:prstGeom>
          <a:noFill/>
          <a:ln/>
        </p:spPr>
        <p:txBody>
          <a:bodyPr wrap="square" lIns="0" tIns="0" rIns="0" bIns="0" rtlCol="0" anchor="ctr"/>
          <a:lstStyle/>
          <a:p>
            <a:pPr marL="0" indent="0">
              <a:buNone/>
            </a:pPr>
            <a:r>
              <a:rPr lang="en-US" sz="1400" b="1" dirty="0">
                <a:solidFill>
                  <a:schemeClr val="tx1"/>
                </a:solidFill>
              </a:rPr>
              <a:t>Fokus</a:t>
            </a:r>
            <a:endParaRPr lang="en-US" sz="1400" dirty="0"/>
          </a:p>
        </p:txBody>
      </p:sp>
      <p:sp>
        <p:nvSpPr>
          <p:cNvPr id="13" name="a3-r"/>
          <p:cNvSpPr/>
          <p:nvPr/>
        </p:nvSpPr>
        <p:spPr>
          <a:xfrm>
            <a:off x="4434840" y="1783080"/>
            <a:ext cx="2057400" cy="594360"/>
          </a:xfrm>
          <a:prstGeom prst="roundRect">
            <a:avLst>
              <a:gd name="adj" fmla="val 12308"/>
            </a:avLst>
          </a:prstGeom>
          <a:solidFill>
            <a:schemeClr val="bg2"/>
          </a:solidFill>
          <a:ln/>
        </p:spPr>
      </p:sp>
      <p:sp>
        <p:nvSpPr>
          <p:cNvPr id="14" name="a3-r"/>
          <p:cNvSpPr txBox="1"/>
          <p:nvPr/>
        </p:nvSpPr>
        <p:spPr>
          <a:xfrm>
            <a:off x="4544568" y="1783080"/>
            <a:ext cx="1828800" cy="594360"/>
          </a:xfrm>
          <a:prstGeom prst="rect">
            <a:avLst/>
          </a:prstGeom>
          <a:noFill/>
          <a:ln/>
        </p:spPr>
        <p:txBody>
          <a:bodyPr wrap="square" lIns="0" tIns="0" rIns="0" bIns="0" rtlCol="0" anchor="ctr"/>
          <a:lstStyle/>
          <a:p>
            <a:pPr marL="0" indent="0">
              <a:buNone/>
            </a:pPr>
            <a:r>
              <a:rPr lang="en-US" sz="1300" dirty="0">
                <a:solidFill>
                  <a:schemeClr val="accent3"/>
                </a:solidFill>
              </a:rPr>
              <a:t>Spesifikasi produk</a:t>
            </a:r>
            <a:endParaRPr lang="en-US" sz="1300" dirty="0"/>
          </a:p>
        </p:txBody>
      </p:sp>
      <p:sp>
        <p:nvSpPr>
          <p:cNvPr id="15" name="a3-r"/>
          <p:cNvSpPr/>
          <p:nvPr/>
        </p:nvSpPr>
        <p:spPr>
          <a:xfrm>
            <a:off x="6583680" y="1783080"/>
            <a:ext cx="2103120" cy="594360"/>
          </a:xfrm>
          <a:prstGeom prst="roundRect">
            <a:avLst>
              <a:gd name="adj" fmla="val 12308"/>
            </a:avLst>
          </a:prstGeom>
          <a:solidFill>
            <a:schemeClr val="accent2"/>
          </a:solidFill>
          <a:ln/>
        </p:spPr>
      </p:sp>
      <p:sp>
        <p:nvSpPr>
          <p:cNvPr id="16" name="a3-r"/>
          <p:cNvSpPr txBox="1"/>
          <p:nvPr/>
        </p:nvSpPr>
        <p:spPr>
          <a:xfrm>
            <a:off x="6693408" y="1783080"/>
            <a:ext cx="1901952" cy="594360"/>
          </a:xfrm>
          <a:prstGeom prst="rect">
            <a:avLst/>
          </a:prstGeom>
          <a:noFill/>
          <a:ln/>
        </p:spPr>
        <p:txBody>
          <a:bodyPr wrap="square" lIns="0" tIns="0" rIns="0" bIns="0" rtlCol="0" anchor="ctr"/>
          <a:lstStyle/>
          <a:p>
            <a:pPr marL="0" indent="0">
              <a:buNone/>
            </a:pPr>
            <a:r>
              <a:rPr lang="en-US" sz="1300" b="1" dirty="0">
                <a:solidFill>
                  <a:schemeClr val="tx1"/>
                </a:solidFill>
              </a:rPr>
              <a:t>Keuntungan bisnis toko</a:t>
            </a:r>
            <a:endParaRPr lang="en-US" sz="1300" dirty="0"/>
          </a:p>
        </p:txBody>
      </p:sp>
      <p:sp>
        <p:nvSpPr>
          <p:cNvPr id="17" name="a4-r"/>
          <p:cNvSpPr txBox="1"/>
          <p:nvPr/>
        </p:nvSpPr>
        <p:spPr>
          <a:xfrm>
            <a:off x="3200400" y="2450592"/>
            <a:ext cx="1188720" cy="594360"/>
          </a:xfrm>
          <a:prstGeom prst="rect">
            <a:avLst/>
          </a:prstGeom>
          <a:noFill/>
          <a:ln/>
        </p:spPr>
        <p:txBody>
          <a:bodyPr wrap="square" lIns="0" tIns="0" rIns="0" bIns="0" rtlCol="0" anchor="ctr"/>
          <a:lstStyle/>
          <a:p>
            <a:pPr marL="0" indent="0">
              <a:buNone/>
            </a:pPr>
            <a:r>
              <a:rPr lang="en-US" sz="1400" b="1" dirty="0">
                <a:solidFill>
                  <a:schemeClr val="tx1"/>
                </a:solidFill>
              </a:rPr>
              <a:t>Peran sales</a:t>
            </a:r>
            <a:endParaRPr lang="en-US" sz="1400" dirty="0"/>
          </a:p>
        </p:txBody>
      </p:sp>
      <p:sp>
        <p:nvSpPr>
          <p:cNvPr id="18" name="a4-r"/>
          <p:cNvSpPr/>
          <p:nvPr/>
        </p:nvSpPr>
        <p:spPr>
          <a:xfrm>
            <a:off x="4434840" y="2450592"/>
            <a:ext cx="2057400" cy="594360"/>
          </a:xfrm>
          <a:prstGeom prst="roundRect">
            <a:avLst>
              <a:gd name="adj" fmla="val 12308"/>
            </a:avLst>
          </a:prstGeom>
          <a:solidFill>
            <a:schemeClr val="bg2"/>
          </a:solidFill>
          <a:ln/>
        </p:spPr>
      </p:sp>
      <p:sp>
        <p:nvSpPr>
          <p:cNvPr id="19" name="a4-r"/>
          <p:cNvSpPr txBox="1"/>
          <p:nvPr/>
        </p:nvSpPr>
        <p:spPr>
          <a:xfrm>
            <a:off x="4544568" y="2450592"/>
            <a:ext cx="1828800" cy="594360"/>
          </a:xfrm>
          <a:prstGeom prst="rect">
            <a:avLst/>
          </a:prstGeom>
          <a:noFill/>
          <a:ln/>
        </p:spPr>
        <p:txBody>
          <a:bodyPr wrap="square" lIns="0" tIns="0" rIns="0" bIns="0" rtlCol="0" anchor="ctr"/>
          <a:lstStyle/>
          <a:p>
            <a:pPr marL="0" indent="0">
              <a:buNone/>
            </a:pPr>
            <a:r>
              <a:rPr lang="en-US" sz="1300" dirty="0">
                <a:solidFill>
                  <a:schemeClr val="accent3"/>
                </a:solidFill>
              </a:rPr>
              <a:t>Pengambil order semen</a:t>
            </a:r>
            <a:endParaRPr lang="en-US" sz="1300" dirty="0"/>
          </a:p>
        </p:txBody>
      </p:sp>
      <p:sp>
        <p:nvSpPr>
          <p:cNvPr id="20" name="a4-r"/>
          <p:cNvSpPr/>
          <p:nvPr/>
        </p:nvSpPr>
        <p:spPr>
          <a:xfrm>
            <a:off x="6583680" y="2450592"/>
            <a:ext cx="2103120" cy="594360"/>
          </a:xfrm>
          <a:prstGeom prst="roundRect">
            <a:avLst>
              <a:gd name="adj" fmla="val 12308"/>
            </a:avLst>
          </a:prstGeom>
          <a:solidFill>
            <a:schemeClr val="accent2"/>
          </a:solidFill>
          <a:ln/>
        </p:spPr>
      </p:sp>
      <p:sp>
        <p:nvSpPr>
          <p:cNvPr id="21" name="a4-r"/>
          <p:cNvSpPr txBox="1"/>
          <p:nvPr/>
        </p:nvSpPr>
        <p:spPr>
          <a:xfrm>
            <a:off x="6693408" y="2450592"/>
            <a:ext cx="1901952" cy="594360"/>
          </a:xfrm>
          <a:prstGeom prst="rect">
            <a:avLst/>
          </a:prstGeom>
          <a:noFill/>
          <a:ln/>
        </p:spPr>
        <p:txBody>
          <a:bodyPr wrap="square" lIns="0" tIns="0" rIns="0" bIns="0" rtlCol="0" anchor="ctr"/>
          <a:lstStyle/>
          <a:p>
            <a:pPr marL="0" indent="0">
              <a:buNone/>
            </a:pPr>
            <a:r>
              <a:rPr lang="en-US" sz="1300" b="1" dirty="0">
                <a:solidFill>
                  <a:schemeClr val="tx1"/>
                </a:solidFill>
              </a:rPr>
              <a:t>Mitra yang membantu toko laku</a:t>
            </a:r>
            <a:endParaRPr lang="en-US" sz="1300" dirty="0"/>
          </a:p>
        </p:txBody>
      </p:sp>
      <p:sp>
        <p:nvSpPr>
          <p:cNvPr id="22" name="a5-r"/>
          <p:cNvSpPr txBox="1"/>
          <p:nvPr/>
        </p:nvSpPr>
        <p:spPr>
          <a:xfrm>
            <a:off x="3200400" y="3118104"/>
            <a:ext cx="1188720" cy="594360"/>
          </a:xfrm>
          <a:prstGeom prst="rect">
            <a:avLst/>
          </a:prstGeom>
          <a:noFill/>
          <a:ln/>
        </p:spPr>
        <p:txBody>
          <a:bodyPr wrap="square" lIns="0" tIns="0" rIns="0" bIns="0" rtlCol="0" anchor="ctr"/>
          <a:lstStyle/>
          <a:p>
            <a:pPr marL="0" indent="0">
              <a:buNone/>
            </a:pPr>
            <a:r>
              <a:rPr lang="en-US" sz="1400" b="1" dirty="0">
                <a:solidFill>
                  <a:schemeClr val="tx1"/>
                </a:solidFill>
              </a:rPr>
              <a:t>Saat ditolak</a:t>
            </a:r>
            <a:endParaRPr lang="en-US" sz="1400" dirty="0"/>
          </a:p>
        </p:txBody>
      </p:sp>
      <p:sp>
        <p:nvSpPr>
          <p:cNvPr id="23" name="a5-r"/>
          <p:cNvSpPr/>
          <p:nvPr/>
        </p:nvSpPr>
        <p:spPr>
          <a:xfrm>
            <a:off x="4434840" y="3118104"/>
            <a:ext cx="2057400" cy="594360"/>
          </a:xfrm>
          <a:prstGeom prst="roundRect">
            <a:avLst>
              <a:gd name="adj" fmla="val 12308"/>
            </a:avLst>
          </a:prstGeom>
          <a:solidFill>
            <a:schemeClr val="bg2"/>
          </a:solidFill>
          <a:ln/>
        </p:spPr>
      </p:sp>
      <p:sp>
        <p:nvSpPr>
          <p:cNvPr id="24" name="a5-r"/>
          <p:cNvSpPr txBox="1"/>
          <p:nvPr/>
        </p:nvSpPr>
        <p:spPr>
          <a:xfrm>
            <a:off x="4544568" y="3118104"/>
            <a:ext cx="1828800" cy="594360"/>
          </a:xfrm>
          <a:prstGeom prst="rect">
            <a:avLst/>
          </a:prstGeom>
          <a:noFill/>
          <a:ln/>
        </p:spPr>
        <p:txBody>
          <a:bodyPr wrap="square" lIns="0" tIns="0" rIns="0" bIns="0" rtlCol="0" anchor="ctr"/>
          <a:lstStyle/>
          <a:p>
            <a:pPr marL="0" indent="0">
              <a:buNone/>
            </a:pPr>
            <a:r>
              <a:rPr lang="en-US" sz="1300" dirty="0">
                <a:solidFill>
                  <a:schemeClr val="accent3"/>
                </a:solidFill>
              </a:rPr>
              <a:t>Langsung memberi diskon</a:t>
            </a:r>
            <a:endParaRPr lang="en-US" sz="1300" dirty="0"/>
          </a:p>
        </p:txBody>
      </p:sp>
      <p:sp>
        <p:nvSpPr>
          <p:cNvPr id="25" name="a5-r"/>
          <p:cNvSpPr/>
          <p:nvPr/>
        </p:nvSpPr>
        <p:spPr>
          <a:xfrm>
            <a:off x="6583680" y="3118104"/>
            <a:ext cx="2103120" cy="594360"/>
          </a:xfrm>
          <a:prstGeom prst="roundRect">
            <a:avLst>
              <a:gd name="adj" fmla="val 12308"/>
            </a:avLst>
          </a:prstGeom>
          <a:solidFill>
            <a:schemeClr val="accent2"/>
          </a:solidFill>
          <a:ln/>
        </p:spPr>
      </p:sp>
      <p:sp>
        <p:nvSpPr>
          <p:cNvPr id="26" name="a5-r"/>
          <p:cNvSpPr txBox="1"/>
          <p:nvPr/>
        </p:nvSpPr>
        <p:spPr>
          <a:xfrm>
            <a:off x="6693408" y="3118104"/>
            <a:ext cx="1901952" cy="594360"/>
          </a:xfrm>
          <a:prstGeom prst="rect">
            <a:avLst/>
          </a:prstGeom>
          <a:noFill/>
          <a:ln/>
        </p:spPr>
        <p:txBody>
          <a:bodyPr wrap="square" lIns="0" tIns="0" rIns="0" bIns="0" rtlCol="0" anchor="ctr"/>
          <a:lstStyle/>
          <a:p>
            <a:pPr marL="0" indent="0">
              <a:buNone/>
            </a:pPr>
            <a:r>
              <a:rPr lang="en-US" sz="1300" b="1" dirty="0">
                <a:solidFill>
                  <a:schemeClr val="tx1"/>
                </a:solidFill>
              </a:rPr>
              <a:t>Hitungan untung dan uji coba terukur</a:t>
            </a:r>
            <a:endParaRPr lang="en-US" sz="1300" dirty="0"/>
          </a:p>
        </p:txBody>
      </p:sp>
      <p:sp>
        <p:nvSpPr>
          <p:cNvPr id="27" name="a6-r"/>
          <p:cNvSpPr txBox="1"/>
          <p:nvPr/>
        </p:nvSpPr>
        <p:spPr>
          <a:xfrm>
            <a:off x="3200400" y="3785616"/>
            <a:ext cx="1188720" cy="594360"/>
          </a:xfrm>
          <a:prstGeom prst="rect">
            <a:avLst/>
          </a:prstGeom>
          <a:noFill/>
          <a:ln/>
        </p:spPr>
        <p:txBody>
          <a:bodyPr wrap="square" lIns="0" tIns="0" rIns="0" bIns="0" rtlCol="0" anchor="ctr"/>
          <a:lstStyle/>
          <a:p>
            <a:pPr marL="0" indent="0">
              <a:buNone/>
            </a:pPr>
            <a:r>
              <a:rPr lang="en-US" sz="1400" b="1" dirty="0">
                <a:solidFill>
                  <a:schemeClr val="tx1"/>
                </a:solidFill>
              </a:rPr>
              <a:t>Hasil</a:t>
            </a:r>
            <a:endParaRPr lang="en-US" sz="1400" dirty="0"/>
          </a:p>
        </p:txBody>
      </p:sp>
      <p:sp>
        <p:nvSpPr>
          <p:cNvPr id="28" name="a6-r"/>
          <p:cNvSpPr/>
          <p:nvPr/>
        </p:nvSpPr>
        <p:spPr>
          <a:xfrm>
            <a:off x="4434840" y="3785616"/>
            <a:ext cx="2057400" cy="594360"/>
          </a:xfrm>
          <a:prstGeom prst="roundRect">
            <a:avLst>
              <a:gd name="adj" fmla="val 12308"/>
            </a:avLst>
          </a:prstGeom>
          <a:solidFill>
            <a:schemeClr val="bg2"/>
          </a:solidFill>
          <a:ln/>
        </p:spPr>
      </p:sp>
      <p:sp>
        <p:nvSpPr>
          <p:cNvPr id="29" name="a6-r"/>
          <p:cNvSpPr txBox="1"/>
          <p:nvPr/>
        </p:nvSpPr>
        <p:spPr>
          <a:xfrm>
            <a:off x="4544568" y="3785616"/>
            <a:ext cx="1828800" cy="594360"/>
          </a:xfrm>
          <a:prstGeom prst="rect">
            <a:avLst/>
          </a:prstGeom>
          <a:noFill/>
          <a:ln/>
        </p:spPr>
        <p:txBody>
          <a:bodyPr wrap="square" lIns="0" tIns="0" rIns="0" bIns="0" rtlCol="0" anchor="ctr"/>
          <a:lstStyle/>
          <a:p>
            <a:pPr marL="0" indent="0">
              <a:buNone/>
            </a:pPr>
            <a:r>
              <a:rPr lang="en-US" sz="1300" dirty="0">
                <a:solidFill>
                  <a:schemeClr val="accent3"/>
                </a:solidFill>
              </a:rPr>
              <a:t>Toko ragu mencoba</a:t>
            </a:r>
            <a:endParaRPr lang="en-US" sz="1300" dirty="0"/>
          </a:p>
        </p:txBody>
      </p:sp>
      <p:sp>
        <p:nvSpPr>
          <p:cNvPr id="30" name="a6-r"/>
          <p:cNvSpPr/>
          <p:nvPr/>
        </p:nvSpPr>
        <p:spPr>
          <a:xfrm>
            <a:off x="6583680" y="3785616"/>
            <a:ext cx="2103120" cy="594360"/>
          </a:xfrm>
          <a:prstGeom prst="roundRect">
            <a:avLst>
              <a:gd name="adj" fmla="val 12308"/>
            </a:avLst>
          </a:prstGeom>
          <a:solidFill>
            <a:schemeClr val="accent2"/>
          </a:solidFill>
          <a:ln/>
        </p:spPr>
      </p:sp>
      <p:sp>
        <p:nvSpPr>
          <p:cNvPr id="31" name="a6-r"/>
          <p:cNvSpPr txBox="1"/>
          <p:nvPr/>
        </p:nvSpPr>
        <p:spPr>
          <a:xfrm>
            <a:off x="6693408" y="3785616"/>
            <a:ext cx="1901952" cy="594360"/>
          </a:xfrm>
          <a:prstGeom prst="rect">
            <a:avLst/>
          </a:prstGeom>
          <a:noFill/>
          <a:ln/>
        </p:spPr>
        <p:txBody>
          <a:bodyPr wrap="square" lIns="0" tIns="0" rIns="0" bIns="0" rtlCol="0" anchor="ctr"/>
          <a:lstStyle/>
          <a:p>
            <a:pPr marL="0" indent="0">
              <a:buNone/>
            </a:pPr>
            <a:r>
              <a:rPr lang="en-US" sz="1300" b="1" dirty="0">
                <a:solidFill>
                  <a:schemeClr val="tx1"/>
                </a:solidFill>
              </a:rPr>
              <a:t>Toko mencoba dan order ulang</a:t>
            </a:r>
            <a:endParaRPr lang="en-US" sz="1300" dirty="0"/>
          </a:p>
        </p:txBody>
      </p:sp>
      <p:sp>
        <p:nvSpPr>
          <p:cNvPr id="3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400"/>
                            </p:stCondLst>
                            <p:childTnLst>
                              <p:par>
                                <p:cTn id="24" presetID="10" presetClass="entr" presetSubtype="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30" fill="hold">
                            <p:stCondLst>
                              <p:cond delay="800"/>
                            </p:stCondLst>
                            <p:childTnLst>
                              <p:par>
                                <p:cTn id="31" presetID="10" presetClass="entr" presetSubtype="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par>
                          <p:cTn id="46" fill="hold">
                            <p:stCondLst>
                              <p:cond delay="1200"/>
                            </p:stCondLst>
                            <p:childTnLst>
                              <p:par>
                                <p:cTn id="47" presetID="10" presetClass="entr" presetSubtype="0" fill="hold"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childTnLst>
                          </p:cTn>
                        </p:par>
                        <p:par>
                          <p:cTn id="62" fill="hold">
                            <p:stCondLst>
                              <p:cond delay="1600"/>
                            </p:stCondLst>
                            <p:childTnLst>
                              <p:par>
                                <p:cTn id="63" presetID="10" presetClass="entr" presetSubtype="0" fill="hold"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childTnLst>
                          </p:cTn>
                        </p:par>
                        <p:par>
                          <p:cTn id="78" fill="hold">
                            <p:stCondLst>
                              <p:cond delay="2000"/>
                            </p:stCondLst>
                            <p:childTnLst>
                              <p:par>
                                <p:cTn id="79" presetID="10" presetClass="entr" presetSubtype="0" fill="hold" nodeType="after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Pendekatan: Analisis + Psikologi Konsumen</a:t>
            </a:r>
            <a:endParaRPr lang="en-US" sz="2800" dirty="0"/>
          </a:p>
        </p:txBody>
      </p:sp>
      <p:sp>
        <p:nvSpPr>
          <p:cNvPr id="3" name="pill"/>
          <p:cNvSpPr txBox="1"/>
          <p:nvPr/>
        </p:nvSpPr>
        <p:spPr>
          <a:xfrm>
            <a:off x="457200" y="237744"/>
            <a:ext cx="2531059"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KONSEP  ·  PENDEKATAN PENJUALAN</a:t>
            </a:r>
            <a:endParaRPr lang="en-US" sz="1000" dirty="0"/>
          </a:p>
        </p:txBody>
      </p:sp>
      <p:sp>
        <p:nvSpPr>
          <p:cNvPr id="4" name="a1-c"/>
          <p:cNvSpPr/>
          <p:nvPr/>
        </p:nvSpPr>
        <p:spPr>
          <a:xfrm>
            <a:off x="457200" y="1325880"/>
            <a:ext cx="3108960" cy="2606040"/>
          </a:xfrm>
          <a:prstGeom prst="roundRect">
            <a:avLst>
              <a:gd name="adj" fmla="val 4211"/>
            </a:avLst>
          </a:prstGeom>
          <a:solidFill>
            <a:schemeClr val="bg2"/>
          </a:solidFill>
          <a:ln/>
        </p:spPr>
      </p:sp>
      <p:sp>
        <p:nvSpPr>
          <p:cNvPr id="5" name="a1-c"/>
          <p:cNvSpPr/>
          <p:nvPr/>
        </p:nvSpPr>
        <p:spPr>
          <a:xfrm>
            <a:off x="640080" y="1481328"/>
            <a:ext cx="566928" cy="566928"/>
          </a:xfrm>
          <a:prstGeom prst="ellipse">
            <a:avLst/>
          </a:prstGeom>
          <a:solidFill>
            <a:schemeClr val="accent1"/>
          </a:solidFill>
          <a:ln/>
        </p:spPr>
      </p:sp>
      <p:pic>
        <p:nvPicPr>
          <p:cNvPr id="6" name="a1-c" descr="preencoded.png"/>
          <p:cNvPicPr>
            <a:picLocks noChangeAspect="1"/>
          </p:cNvPicPr>
          <p:nvPr/>
        </p:nvPicPr>
        <p:blipFill>
          <a:blip r:embed="rId3"/>
          <a:stretch>
            <a:fillRect/>
          </a:stretch>
        </p:blipFill>
        <p:spPr>
          <a:xfrm>
            <a:off x="787481" y="1628729"/>
            <a:ext cx="272125" cy="272125"/>
          </a:xfrm>
          <a:prstGeom prst="rect">
            <a:avLst/>
          </a:prstGeom>
        </p:spPr>
      </p:pic>
      <p:sp>
        <p:nvSpPr>
          <p:cNvPr id="7" name="a1-c"/>
          <p:cNvSpPr txBox="1"/>
          <p:nvPr/>
        </p:nvSpPr>
        <p:spPr>
          <a:xfrm>
            <a:off x="1325880" y="1463040"/>
            <a:ext cx="2148840" cy="640080"/>
          </a:xfrm>
          <a:prstGeom prst="rect">
            <a:avLst/>
          </a:prstGeom>
          <a:noFill/>
          <a:ln/>
        </p:spPr>
        <p:txBody>
          <a:bodyPr wrap="square" lIns="0" tIns="0" rIns="0" bIns="0" rtlCol="0" anchor="ctr"/>
          <a:lstStyle/>
          <a:p>
            <a:pPr marL="0" indent="0">
              <a:buNone/>
            </a:pPr>
            <a:r>
              <a:rPr lang="en-US" sz="1600" b="1" dirty="0">
                <a:solidFill>
                  <a:schemeClr val="tx1"/>
                </a:solidFill>
              </a:rPr>
              <a:t>01  Pendekatan Analisis</a:t>
            </a:r>
            <a:endParaRPr lang="en-US" sz="1400" dirty="0"/>
          </a:p>
          <a:p>
            <a:pPr marL="0" indent="0">
              <a:buNone/>
            </a:pPr>
            <a:r>
              <a:rPr lang="en-US" sz="1200" dirty="0">
                <a:solidFill>
                  <a:schemeClr val="accent3"/>
                </a:solidFill>
              </a:rPr>
              <a:t>Menjawab logika pemilik toko</a:t>
            </a:r>
            <a:endParaRPr lang="en-US" sz="1400" dirty="0"/>
          </a:p>
        </p:txBody>
      </p:sp>
      <p:sp>
        <p:nvSpPr>
          <p:cNvPr id="8" name="a1-c"/>
          <p:cNvSpPr txBox="1"/>
          <p:nvPr/>
        </p:nvSpPr>
        <p:spPr>
          <a:xfrm>
            <a:off x="685800" y="2240280"/>
            <a:ext cx="27432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Kenali toko dan kebutuhannya</a:t>
            </a:r>
            <a:endParaRPr lang="en-US" sz="1400" dirty="0"/>
          </a:p>
          <a:p>
            <a:pPr marL="342900" indent="-342900">
              <a:spcAft>
                <a:spcPts val="600"/>
              </a:spcAft>
              <a:buSzPct val="100000"/>
              <a:buChar char="•"/>
            </a:pPr>
            <a:r>
              <a:rPr lang="en-US" sz="1400" dirty="0">
                <a:solidFill>
                  <a:schemeClr val="tx1"/>
                </a:solidFill>
              </a:rPr>
              <a:t>Pilih produk yang paling pas</a:t>
            </a:r>
            <a:endParaRPr lang="en-US" sz="1400" dirty="0"/>
          </a:p>
          <a:p>
            <a:pPr marL="342900" indent="-342900">
              <a:spcAft>
                <a:spcPts val="600"/>
              </a:spcAft>
              <a:buSzPct val="100000"/>
              <a:buChar char="•"/>
            </a:pPr>
            <a:r>
              <a:rPr lang="en-US" sz="1400" dirty="0">
                <a:solidFill>
                  <a:schemeClr val="tx1"/>
                </a:solidFill>
              </a:rPr>
              <a:t>Tunjukkan hitungan untung</a:t>
            </a:r>
            <a:endParaRPr lang="en-US" sz="1400" dirty="0"/>
          </a:p>
        </p:txBody>
      </p:sp>
      <p:sp>
        <p:nvSpPr>
          <p:cNvPr id="9" name="a1-c"/>
          <p:cNvSpPr txBox="1"/>
          <p:nvPr/>
        </p:nvSpPr>
        <p:spPr>
          <a:xfrm>
            <a:off x="640080" y="3401568"/>
            <a:ext cx="2743200" cy="384048"/>
          </a:xfrm>
          <a:prstGeom prst="roundRect">
            <a:avLst>
              <a:gd name="adj" fmla="val 35714"/>
            </a:avLst>
          </a:prstGeom>
          <a:solidFill>
            <a:schemeClr val="tx1"/>
          </a:solidFill>
          <a:ln/>
        </p:spPr>
        <p:txBody>
          <a:bodyPr wrap="square" lIns="0" tIns="0" rIns="0" bIns="0" rtlCol="0" anchor="ctr"/>
          <a:lstStyle/>
          <a:p>
            <a:pPr marL="0" indent="0" algn="ctr">
              <a:buNone/>
            </a:pPr>
            <a:r>
              <a:rPr lang="en-US" sz="1300" b="1" dirty="0">
                <a:solidFill>
                  <a:schemeClr val="accent1"/>
                </a:solidFill>
              </a:rPr>
              <a:t>Hasil: tawaran masuk akal</a:t>
            </a:r>
            <a:endParaRPr lang="en-US" sz="1300" dirty="0"/>
          </a:p>
        </p:txBody>
      </p:sp>
      <p:sp>
        <p:nvSpPr>
          <p:cNvPr id="10" name="a3-c"/>
          <p:cNvSpPr/>
          <p:nvPr/>
        </p:nvSpPr>
        <p:spPr>
          <a:xfrm>
            <a:off x="3977640" y="1325880"/>
            <a:ext cx="3108960" cy="2606040"/>
          </a:xfrm>
          <a:prstGeom prst="roundRect">
            <a:avLst>
              <a:gd name="adj" fmla="val 4211"/>
            </a:avLst>
          </a:prstGeom>
          <a:solidFill>
            <a:schemeClr val="accent2"/>
          </a:solidFill>
          <a:ln/>
        </p:spPr>
      </p:sp>
      <p:sp>
        <p:nvSpPr>
          <p:cNvPr id="11" name="a3-c"/>
          <p:cNvSpPr/>
          <p:nvPr/>
        </p:nvSpPr>
        <p:spPr>
          <a:xfrm>
            <a:off x="4160520" y="1481328"/>
            <a:ext cx="566928" cy="566928"/>
          </a:xfrm>
          <a:prstGeom prst="ellipse">
            <a:avLst/>
          </a:prstGeom>
          <a:solidFill>
            <a:schemeClr val="accent1"/>
          </a:solidFill>
          <a:ln/>
        </p:spPr>
      </p:sp>
      <p:pic>
        <p:nvPicPr>
          <p:cNvPr id="12" name="a3-c" descr="preencoded.png"/>
          <p:cNvPicPr>
            <a:picLocks noChangeAspect="1"/>
          </p:cNvPicPr>
          <p:nvPr/>
        </p:nvPicPr>
        <p:blipFill>
          <a:blip r:embed="rId4"/>
          <a:stretch>
            <a:fillRect/>
          </a:stretch>
        </p:blipFill>
        <p:spPr>
          <a:xfrm>
            <a:off x="4307921" y="1628729"/>
            <a:ext cx="272125" cy="272125"/>
          </a:xfrm>
          <a:prstGeom prst="rect">
            <a:avLst/>
          </a:prstGeom>
        </p:spPr>
      </p:pic>
      <p:sp>
        <p:nvSpPr>
          <p:cNvPr id="13" name="a3-c"/>
          <p:cNvSpPr txBox="1"/>
          <p:nvPr/>
        </p:nvSpPr>
        <p:spPr>
          <a:xfrm>
            <a:off x="4846320" y="1463040"/>
            <a:ext cx="2148840" cy="640080"/>
          </a:xfrm>
          <a:prstGeom prst="rect">
            <a:avLst/>
          </a:prstGeom>
          <a:noFill/>
          <a:ln/>
        </p:spPr>
        <p:txBody>
          <a:bodyPr wrap="square" lIns="0" tIns="0" rIns="0" bIns="0" rtlCol="0" anchor="ctr"/>
          <a:lstStyle/>
          <a:p>
            <a:pPr marL="0" indent="0">
              <a:buNone/>
            </a:pPr>
            <a:r>
              <a:rPr lang="en-US" sz="1600" b="1" dirty="0">
                <a:solidFill>
                  <a:schemeClr val="tx1"/>
                </a:solidFill>
              </a:rPr>
              <a:t>02  Psikologi Konsumen</a:t>
            </a:r>
            <a:endParaRPr lang="en-US" sz="1400" dirty="0"/>
          </a:p>
          <a:p>
            <a:pPr marL="0" indent="0">
              <a:buNone/>
            </a:pPr>
            <a:r>
              <a:rPr lang="en-US" sz="1200" dirty="0">
                <a:solidFill>
                  <a:schemeClr val="accent3"/>
                </a:solidFill>
              </a:rPr>
              <a:t>Menjawab perasaan pemilik toko</a:t>
            </a:r>
            <a:endParaRPr lang="en-US" sz="1400" dirty="0"/>
          </a:p>
        </p:txBody>
      </p:sp>
      <p:sp>
        <p:nvSpPr>
          <p:cNvPr id="14" name="a3-c"/>
          <p:cNvSpPr txBox="1"/>
          <p:nvPr/>
        </p:nvSpPr>
        <p:spPr>
          <a:xfrm>
            <a:off x="4206240" y="2240280"/>
            <a:ext cx="27432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Bangun rasa percaya</a:t>
            </a:r>
            <a:endParaRPr lang="en-US" sz="1400" dirty="0"/>
          </a:p>
          <a:p>
            <a:pPr marL="342900" indent="-342900">
              <a:spcAft>
                <a:spcPts val="600"/>
              </a:spcAft>
              <a:buSzPct val="100000"/>
              <a:buChar char="•"/>
            </a:pPr>
            <a:r>
              <a:rPr lang="en-US" sz="1400" dirty="0">
                <a:solidFill>
                  <a:schemeClr val="tx1"/>
                </a:solidFill>
              </a:rPr>
              <a:t>Kecilkan rasa takut rugi</a:t>
            </a:r>
            <a:endParaRPr lang="en-US" sz="1400" dirty="0"/>
          </a:p>
          <a:p>
            <a:pPr marL="342900" indent="-342900">
              <a:spcAft>
                <a:spcPts val="600"/>
              </a:spcAft>
              <a:buSzPct val="100000"/>
              <a:buChar char="•"/>
            </a:pPr>
            <a:r>
              <a:rPr lang="en-US" sz="1400" dirty="0">
                <a:solidFill>
                  <a:schemeClr val="tx1"/>
                </a:solidFill>
              </a:rPr>
              <a:t>Beri bukti dari toko lain</a:t>
            </a:r>
            <a:endParaRPr lang="en-US" sz="1400" dirty="0"/>
          </a:p>
        </p:txBody>
      </p:sp>
      <p:sp>
        <p:nvSpPr>
          <p:cNvPr id="15" name="a3-c"/>
          <p:cNvSpPr txBox="1"/>
          <p:nvPr/>
        </p:nvSpPr>
        <p:spPr>
          <a:xfrm>
            <a:off x="4160520" y="3401568"/>
            <a:ext cx="2743200" cy="384048"/>
          </a:xfrm>
          <a:prstGeom prst="roundRect">
            <a:avLst>
              <a:gd name="adj" fmla="val 35714"/>
            </a:avLst>
          </a:prstGeom>
          <a:solidFill>
            <a:schemeClr val="tx1"/>
          </a:solidFill>
          <a:ln/>
        </p:spPr>
        <p:txBody>
          <a:bodyPr wrap="square" lIns="0" tIns="0" rIns="0" bIns="0" rtlCol="0" anchor="ctr"/>
          <a:lstStyle/>
          <a:p>
            <a:pPr marL="0" indent="0" algn="ctr">
              <a:buNone/>
            </a:pPr>
            <a:r>
              <a:rPr lang="en-US" sz="1300" b="1" dirty="0">
                <a:solidFill>
                  <a:schemeClr val="accent1"/>
                </a:solidFill>
              </a:rPr>
              <a:t>Hasil: toko merasa aman</a:t>
            </a:r>
            <a:endParaRPr lang="en-US" sz="1300" dirty="0"/>
          </a:p>
        </p:txBody>
      </p:sp>
      <p:sp>
        <p:nvSpPr>
          <p:cNvPr id="16" name="a2-plus"/>
          <p:cNvSpPr txBox="1"/>
          <p:nvPr/>
        </p:nvSpPr>
        <p:spPr>
          <a:xfrm>
            <a:off x="3589020" y="2395728"/>
            <a:ext cx="365760" cy="36576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tx1"/>
                </a:solidFill>
              </a:rPr>
              <a:t>+</a:t>
            </a:r>
            <a:endParaRPr lang="en-US" sz="2200" dirty="0"/>
          </a:p>
        </p:txBody>
      </p:sp>
      <p:sp>
        <p:nvSpPr>
          <p:cNvPr id="17" name="a4-r"/>
          <p:cNvSpPr/>
          <p:nvPr/>
        </p:nvSpPr>
        <p:spPr>
          <a:xfrm>
            <a:off x="7114032" y="2633472"/>
            <a:ext cx="265176" cy="914"/>
          </a:xfrm>
          <a:prstGeom prst="line">
            <a:avLst/>
          </a:prstGeom>
          <a:noFill/>
          <a:ln w="28575">
            <a:solidFill>
              <a:schemeClr val="tx1"/>
            </a:solidFill>
            <a:prstDash val="solid"/>
            <a:tailEnd type="triangle"/>
          </a:ln>
        </p:spPr>
      </p:sp>
      <p:sp>
        <p:nvSpPr>
          <p:cNvPr id="18" name="a4-r"/>
          <p:cNvSpPr/>
          <p:nvPr/>
        </p:nvSpPr>
        <p:spPr>
          <a:xfrm>
            <a:off x="7406640" y="1325880"/>
            <a:ext cx="1280160" cy="2606040"/>
          </a:xfrm>
          <a:prstGeom prst="roundRect">
            <a:avLst>
              <a:gd name="adj" fmla="val 8571"/>
            </a:avLst>
          </a:prstGeom>
          <a:solidFill>
            <a:schemeClr val="tx1"/>
          </a:solidFill>
          <a:ln/>
        </p:spPr>
      </p:sp>
      <p:sp>
        <p:nvSpPr>
          <p:cNvPr id="19" name="a4-r"/>
          <p:cNvSpPr/>
          <p:nvPr/>
        </p:nvSpPr>
        <p:spPr>
          <a:xfrm>
            <a:off x="7680960" y="1600200"/>
            <a:ext cx="731520" cy="731520"/>
          </a:xfrm>
          <a:prstGeom prst="ellipse">
            <a:avLst/>
          </a:prstGeom>
          <a:solidFill>
            <a:schemeClr val="accent1"/>
          </a:solidFill>
          <a:ln/>
        </p:spPr>
      </p:sp>
      <p:pic>
        <p:nvPicPr>
          <p:cNvPr id="20" name="a4-r" descr="preencoded.png"/>
          <p:cNvPicPr>
            <a:picLocks noChangeAspect="1"/>
          </p:cNvPicPr>
          <p:nvPr/>
        </p:nvPicPr>
        <p:blipFill>
          <a:blip r:embed="rId5"/>
          <a:stretch>
            <a:fillRect/>
          </a:stretch>
        </p:blipFill>
        <p:spPr>
          <a:xfrm>
            <a:off x="7871155" y="1790395"/>
            <a:ext cx="351130" cy="351130"/>
          </a:xfrm>
          <a:prstGeom prst="rect">
            <a:avLst/>
          </a:prstGeom>
        </p:spPr>
      </p:pic>
      <p:sp>
        <p:nvSpPr>
          <p:cNvPr id="21" name="a4-r"/>
          <p:cNvSpPr txBox="1"/>
          <p:nvPr/>
        </p:nvSpPr>
        <p:spPr>
          <a:xfrm>
            <a:off x="7498080" y="2514600"/>
            <a:ext cx="1097280" cy="1097280"/>
          </a:xfrm>
          <a:prstGeom prst="rect">
            <a:avLst/>
          </a:prstGeom>
          <a:noFill/>
          <a:ln/>
        </p:spPr>
        <p:txBody>
          <a:bodyPr wrap="square" lIns="0" tIns="0" rIns="0" bIns="0" rtlCol="0" anchor="t"/>
          <a:lstStyle/>
          <a:p>
            <a:pPr marL="0" indent="0" algn="ctr">
              <a:buNone/>
            </a:pPr>
            <a:r>
              <a:rPr lang="en-US" sz="1500" b="1" dirty="0">
                <a:solidFill>
                  <a:schemeClr val="accent1"/>
                </a:solidFill>
              </a:rPr>
              <a:t>Toko mau mencoba</a:t>
            </a:r>
            <a:endParaRPr lang="en-US" sz="1400" dirty="0"/>
          </a:p>
          <a:p>
            <a:pPr marL="0" indent="0" algn="ctr">
              <a:buNone/>
            </a:pPr>
            <a:r>
              <a:rPr lang="en-US" sz="1300" dirty="0">
                <a:solidFill>
                  <a:schemeClr val="bg1"/>
                </a:solidFill>
              </a:rPr>
              <a:t>dan order ulang</a:t>
            </a:r>
            <a:endParaRPr lang="en-US" sz="1400" dirty="0"/>
          </a:p>
        </p:txBody>
      </p:sp>
      <p:sp>
        <p:nvSpPr>
          <p:cNvPr id="22" name="a5-call"/>
          <p:cNvSpPr txBox="1"/>
          <p:nvPr/>
        </p:nvSpPr>
        <p:spPr>
          <a:xfrm>
            <a:off x="457200" y="4069080"/>
            <a:ext cx="8229600" cy="457200"/>
          </a:xfrm>
          <a:prstGeom prst="roundRect">
            <a:avLst>
              <a:gd name="adj" fmla="val 24000"/>
            </a:avLst>
          </a:prstGeom>
          <a:solidFill>
            <a:schemeClr val="tx1"/>
          </a:solidFill>
          <a:ln/>
        </p:spPr>
        <p:txBody>
          <a:bodyPr wrap="square" lIns="0" tIns="0" rIns="0" bIns="0" rtlCol="0" anchor="ctr"/>
          <a:lstStyle/>
          <a:p>
            <a:pPr marL="0" indent="0" algn="ctr">
              <a:buNone/>
            </a:pPr>
            <a:r>
              <a:rPr lang="en-US" sz="1500" dirty="0">
                <a:solidFill>
                  <a:schemeClr val="bg1"/>
                </a:solidFill>
              </a:rPr>
              <a:t>Hitungan membuat tawaran masuk akal. </a:t>
            </a:r>
            <a:r>
              <a:rPr lang="en-US" sz="1500" b="1" dirty="0">
                <a:solidFill>
                  <a:schemeClr val="accent1"/>
                </a:solidFill>
              </a:rPr>
              <a:t>Rasa aman membuat toko berani memutuskan.</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400"/>
                            </p:stCondLst>
                            <p:childTnLst>
                              <p:par>
                                <p:cTn id="24" presetID="10" presetClass="entr" presetSubtype="0" fill="hold"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par>
                          <p:cTn id="27" fill="hold">
                            <p:stCondLst>
                              <p:cond delay="800"/>
                            </p:stCondLst>
                            <p:childTnLst>
                              <p:par>
                                <p:cTn id="28" presetID="10" presetClass="entr" presetSubtype="0"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par>
                          <p:cTn id="46" fill="hold">
                            <p:stCondLst>
                              <p:cond delay="1200"/>
                            </p:stCondLst>
                            <p:childTnLst>
                              <p:par>
                                <p:cTn id="47" presetID="10" presetClass="entr" presetSubtype="0" fill="hold"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childTnLst>
                          </p:cTn>
                        </p:par>
                        <p:par>
                          <p:cTn id="62" fill="hold">
                            <p:stCondLst>
                              <p:cond delay="1600"/>
                            </p:stCondLst>
                            <p:childTnLst>
                              <p:par>
                                <p:cTn id="63" presetID="10" presetClass="entr" presetSubtype="0" fill="hold"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Tujuan Pelatihan</a:t>
            </a:r>
            <a:endParaRPr lang="en-US" sz="2800" dirty="0"/>
          </a:p>
        </p:txBody>
      </p:sp>
      <p:sp>
        <p:nvSpPr>
          <p:cNvPr id="3" name="pill"/>
          <p:cNvSpPr txBox="1"/>
          <p:nvPr/>
        </p:nvSpPr>
        <p:spPr>
          <a:xfrm>
            <a:off x="457200" y="237744"/>
            <a:ext cx="1532534"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KONSEP  ·  TUJUAN</a:t>
            </a:r>
            <a:endParaRPr lang="en-US" sz="1000" dirty="0"/>
          </a:p>
        </p:txBody>
      </p:sp>
      <p:sp>
        <p:nvSpPr>
          <p:cNvPr id="4" name="a1-goal"/>
          <p:cNvSpPr txBox="1"/>
          <p:nvPr/>
        </p:nvSpPr>
        <p:spPr>
          <a:xfrm>
            <a:off x="457200" y="1298448"/>
            <a:ext cx="8229600" cy="548640"/>
          </a:xfrm>
          <a:prstGeom prst="roundRect">
            <a:avLst>
              <a:gd name="adj" fmla="val 20000"/>
            </a:avLst>
          </a:prstGeom>
          <a:solidFill>
            <a:schemeClr val="tx1"/>
          </a:solidFill>
          <a:ln/>
        </p:spPr>
        <p:txBody>
          <a:bodyPr wrap="square" lIns="0" tIns="0" rIns="0" bIns="0" rtlCol="0" anchor="ctr"/>
          <a:lstStyle/>
          <a:p>
            <a:pPr marL="0" indent="0" algn="ctr">
              <a:buNone/>
            </a:pPr>
            <a:r>
              <a:rPr lang="en-US" sz="1600" b="1" dirty="0">
                <a:solidFill>
                  <a:schemeClr val="accent1"/>
                </a:solidFill>
              </a:rPr>
              <a:t>Tujuan akhir: </a:t>
            </a:r>
            <a:r>
              <a:rPr lang="en-US" sz="1600" dirty="0">
                <a:solidFill>
                  <a:schemeClr val="bg1"/>
                </a:solidFill>
              </a:rPr>
              <a:t>meningkatkan volume penjualan produk non-semen SID di toko bahan bangunan.</a:t>
            </a:r>
            <a:endParaRPr lang="en-US" sz="1600" dirty="0"/>
          </a:p>
        </p:txBody>
      </p:sp>
      <p:sp>
        <p:nvSpPr>
          <p:cNvPr id="5" name="a2-o"/>
          <p:cNvSpPr/>
          <p:nvPr/>
        </p:nvSpPr>
        <p:spPr>
          <a:xfrm>
            <a:off x="457200" y="2331720"/>
            <a:ext cx="1920240" cy="2103120"/>
          </a:xfrm>
          <a:prstGeom prst="roundRect">
            <a:avLst>
              <a:gd name="adj" fmla="val 5714"/>
            </a:avLst>
          </a:prstGeom>
          <a:solidFill>
            <a:schemeClr val="bg2"/>
          </a:solidFill>
          <a:ln/>
        </p:spPr>
      </p:sp>
      <p:sp>
        <p:nvSpPr>
          <p:cNvPr id="6" name="a2-o"/>
          <p:cNvSpPr/>
          <p:nvPr/>
        </p:nvSpPr>
        <p:spPr>
          <a:xfrm>
            <a:off x="1097280" y="2011680"/>
            <a:ext cx="640080" cy="640080"/>
          </a:xfrm>
          <a:prstGeom prst="ellipse">
            <a:avLst/>
          </a:prstGeom>
          <a:solidFill>
            <a:schemeClr val="accent1"/>
          </a:solidFill>
          <a:ln/>
        </p:spPr>
      </p:sp>
      <p:pic>
        <p:nvPicPr>
          <p:cNvPr id="7" name="a2-o" descr="preencoded.png"/>
          <p:cNvPicPr>
            <a:picLocks noChangeAspect="1"/>
          </p:cNvPicPr>
          <p:nvPr/>
        </p:nvPicPr>
        <p:blipFill>
          <a:blip r:embed="rId3"/>
          <a:stretch>
            <a:fillRect/>
          </a:stretch>
        </p:blipFill>
        <p:spPr>
          <a:xfrm>
            <a:off x="1263701" y="2178101"/>
            <a:ext cx="307238" cy="307238"/>
          </a:xfrm>
          <a:prstGeom prst="rect">
            <a:avLst/>
          </a:prstGeom>
        </p:spPr>
      </p:pic>
      <p:sp>
        <p:nvSpPr>
          <p:cNvPr id="8" name="a2-o"/>
          <p:cNvSpPr txBox="1"/>
          <p:nvPr/>
        </p:nvSpPr>
        <p:spPr>
          <a:xfrm>
            <a:off x="594360" y="2743200"/>
            <a:ext cx="1645920" cy="320040"/>
          </a:xfrm>
          <a:prstGeom prst="rect">
            <a:avLst/>
          </a:prstGeom>
          <a:noFill/>
          <a:ln/>
        </p:spPr>
        <p:txBody>
          <a:bodyPr wrap="square" lIns="0" tIns="0" rIns="0" bIns="0" rtlCol="0" anchor="t"/>
          <a:lstStyle/>
          <a:p>
            <a:pPr marL="0" indent="0" algn="ctr">
              <a:buNone/>
            </a:pPr>
            <a:r>
              <a:rPr lang="en-US" sz="1800" b="1" dirty="0">
                <a:solidFill>
                  <a:schemeClr val="accent3"/>
                </a:solidFill>
                <a:latin typeface="Arial" pitchFamily="34" charset="0"/>
                <a:ea typeface="Arial" pitchFamily="34" charset="-122"/>
                <a:cs typeface="Arial" pitchFamily="34" charset="-120"/>
              </a:rPr>
              <a:t>01</a:t>
            </a:r>
            <a:endParaRPr lang="en-US" sz="1800" dirty="0"/>
          </a:p>
        </p:txBody>
      </p:sp>
      <p:sp>
        <p:nvSpPr>
          <p:cNvPr id="9" name="a2-o"/>
          <p:cNvSpPr txBox="1"/>
          <p:nvPr/>
        </p:nvSpPr>
        <p:spPr>
          <a:xfrm>
            <a:off x="594360" y="3108960"/>
            <a:ext cx="1645920" cy="1234440"/>
          </a:xfrm>
          <a:prstGeom prst="rect">
            <a:avLst/>
          </a:prstGeom>
          <a:noFill/>
          <a:ln/>
        </p:spPr>
        <p:txBody>
          <a:bodyPr wrap="square" lIns="0" tIns="0" rIns="0" bIns="0" rtlCol="0" anchor="t"/>
          <a:lstStyle/>
          <a:p>
            <a:pPr marL="0" indent="0" algn="ctr">
              <a:buNone/>
            </a:pPr>
            <a:r>
              <a:rPr lang="en-US" sz="1400" dirty="0">
                <a:solidFill>
                  <a:schemeClr val="tx1"/>
                </a:solidFill>
              </a:rPr>
              <a:t>Membekali sales kemampuan menganalisis toko sebelum menawarkan.</a:t>
            </a:r>
            <a:endParaRPr lang="en-US" sz="1400" dirty="0"/>
          </a:p>
        </p:txBody>
      </p:sp>
      <p:sp>
        <p:nvSpPr>
          <p:cNvPr id="10" name="a3-o"/>
          <p:cNvSpPr/>
          <p:nvPr/>
        </p:nvSpPr>
        <p:spPr>
          <a:xfrm>
            <a:off x="2560320" y="2331720"/>
            <a:ext cx="1920240" cy="2103120"/>
          </a:xfrm>
          <a:prstGeom prst="roundRect">
            <a:avLst>
              <a:gd name="adj" fmla="val 5714"/>
            </a:avLst>
          </a:prstGeom>
          <a:solidFill>
            <a:schemeClr val="bg2"/>
          </a:solidFill>
          <a:ln/>
        </p:spPr>
      </p:sp>
      <p:sp>
        <p:nvSpPr>
          <p:cNvPr id="11" name="a3-o"/>
          <p:cNvSpPr/>
          <p:nvPr/>
        </p:nvSpPr>
        <p:spPr>
          <a:xfrm>
            <a:off x="3200400" y="2011680"/>
            <a:ext cx="640080" cy="640080"/>
          </a:xfrm>
          <a:prstGeom prst="ellipse">
            <a:avLst/>
          </a:prstGeom>
          <a:solidFill>
            <a:schemeClr val="accent1"/>
          </a:solidFill>
          <a:ln/>
        </p:spPr>
      </p:sp>
      <p:pic>
        <p:nvPicPr>
          <p:cNvPr id="12" name="a3-o" descr="preencoded.png"/>
          <p:cNvPicPr>
            <a:picLocks noChangeAspect="1"/>
          </p:cNvPicPr>
          <p:nvPr/>
        </p:nvPicPr>
        <p:blipFill>
          <a:blip r:embed="rId4"/>
          <a:stretch>
            <a:fillRect/>
          </a:stretch>
        </p:blipFill>
        <p:spPr>
          <a:xfrm>
            <a:off x="3366821" y="2178101"/>
            <a:ext cx="307238" cy="307238"/>
          </a:xfrm>
          <a:prstGeom prst="rect">
            <a:avLst/>
          </a:prstGeom>
        </p:spPr>
      </p:pic>
      <p:sp>
        <p:nvSpPr>
          <p:cNvPr id="13" name="a3-o"/>
          <p:cNvSpPr txBox="1"/>
          <p:nvPr/>
        </p:nvSpPr>
        <p:spPr>
          <a:xfrm>
            <a:off x="2697480" y="2743200"/>
            <a:ext cx="1645920" cy="320040"/>
          </a:xfrm>
          <a:prstGeom prst="rect">
            <a:avLst/>
          </a:prstGeom>
          <a:noFill/>
          <a:ln/>
        </p:spPr>
        <p:txBody>
          <a:bodyPr wrap="square" lIns="0" tIns="0" rIns="0" bIns="0" rtlCol="0" anchor="t"/>
          <a:lstStyle/>
          <a:p>
            <a:pPr marL="0" indent="0" algn="ctr">
              <a:buNone/>
            </a:pPr>
            <a:r>
              <a:rPr lang="en-US" sz="1800" b="1" dirty="0">
                <a:solidFill>
                  <a:schemeClr val="accent3"/>
                </a:solidFill>
                <a:latin typeface="Arial" pitchFamily="34" charset="0"/>
                <a:ea typeface="Arial" pitchFamily="34" charset="-122"/>
                <a:cs typeface="Arial" pitchFamily="34" charset="-120"/>
              </a:rPr>
              <a:t>02</a:t>
            </a:r>
            <a:endParaRPr lang="en-US" sz="1800" dirty="0"/>
          </a:p>
        </p:txBody>
      </p:sp>
      <p:sp>
        <p:nvSpPr>
          <p:cNvPr id="14" name="a3-o"/>
          <p:cNvSpPr txBox="1"/>
          <p:nvPr/>
        </p:nvSpPr>
        <p:spPr>
          <a:xfrm>
            <a:off x="2697480" y="3108960"/>
            <a:ext cx="1645920" cy="1234440"/>
          </a:xfrm>
          <a:prstGeom prst="rect">
            <a:avLst/>
          </a:prstGeom>
          <a:noFill/>
          <a:ln/>
        </p:spPr>
        <p:txBody>
          <a:bodyPr wrap="square" lIns="0" tIns="0" rIns="0" bIns="0" rtlCol="0" anchor="t"/>
          <a:lstStyle/>
          <a:p>
            <a:pPr marL="0" indent="0" algn="ctr">
              <a:buNone/>
            </a:pPr>
            <a:r>
              <a:rPr lang="en-US" sz="1400" dirty="0">
                <a:solidFill>
                  <a:schemeClr val="tx1"/>
                </a:solidFill>
              </a:rPr>
              <a:t>Mengubah cara menawarkan: dari spesifikasi produk menjadi keuntungan bisnis toko.</a:t>
            </a:r>
            <a:endParaRPr lang="en-US" sz="1400" dirty="0"/>
          </a:p>
        </p:txBody>
      </p:sp>
      <p:sp>
        <p:nvSpPr>
          <p:cNvPr id="15" name="a4-o"/>
          <p:cNvSpPr/>
          <p:nvPr/>
        </p:nvSpPr>
        <p:spPr>
          <a:xfrm>
            <a:off x="4663440" y="2331720"/>
            <a:ext cx="1920240" cy="2103120"/>
          </a:xfrm>
          <a:prstGeom prst="roundRect">
            <a:avLst>
              <a:gd name="adj" fmla="val 5714"/>
            </a:avLst>
          </a:prstGeom>
          <a:solidFill>
            <a:schemeClr val="bg2"/>
          </a:solidFill>
          <a:ln/>
        </p:spPr>
      </p:sp>
      <p:sp>
        <p:nvSpPr>
          <p:cNvPr id="16" name="a4-o"/>
          <p:cNvSpPr/>
          <p:nvPr/>
        </p:nvSpPr>
        <p:spPr>
          <a:xfrm>
            <a:off x="5303520" y="2011680"/>
            <a:ext cx="640080" cy="640080"/>
          </a:xfrm>
          <a:prstGeom prst="ellipse">
            <a:avLst/>
          </a:prstGeom>
          <a:solidFill>
            <a:schemeClr val="accent1"/>
          </a:solidFill>
          <a:ln/>
        </p:spPr>
      </p:sp>
      <p:pic>
        <p:nvPicPr>
          <p:cNvPr id="17" name="a4-o" descr="preencoded.png"/>
          <p:cNvPicPr>
            <a:picLocks noChangeAspect="1"/>
          </p:cNvPicPr>
          <p:nvPr/>
        </p:nvPicPr>
        <p:blipFill>
          <a:blip r:embed="rId5"/>
          <a:stretch>
            <a:fillRect/>
          </a:stretch>
        </p:blipFill>
        <p:spPr>
          <a:xfrm>
            <a:off x="5469941" y="2178101"/>
            <a:ext cx="307238" cy="307238"/>
          </a:xfrm>
          <a:prstGeom prst="rect">
            <a:avLst/>
          </a:prstGeom>
        </p:spPr>
      </p:pic>
      <p:sp>
        <p:nvSpPr>
          <p:cNvPr id="18" name="a4-o"/>
          <p:cNvSpPr txBox="1"/>
          <p:nvPr/>
        </p:nvSpPr>
        <p:spPr>
          <a:xfrm>
            <a:off x="4800600" y="2743200"/>
            <a:ext cx="1645920" cy="320040"/>
          </a:xfrm>
          <a:prstGeom prst="rect">
            <a:avLst/>
          </a:prstGeom>
          <a:noFill/>
          <a:ln/>
        </p:spPr>
        <p:txBody>
          <a:bodyPr wrap="square" lIns="0" tIns="0" rIns="0" bIns="0" rtlCol="0" anchor="t"/>
          <a:lstStyle/>
          <a:p>
            <a:pPr marL="0" indent="0" algn="ctr">
              <a:buNone/>
            </a:pPr>
            <a:r>
              <a:rPr lang="en-US" sz="1800" b="1" dirty="0">
                <a:solidFill>
                  <a:schemeClr val="accent3"/>
                </a:solidFill>
                <a:latin typeface="Arial" pitchFamily="34" charset="0"/>
                <a:ea typeface="Arial" pitchFamily="34" charset="-122"/>
                <a:cs typeface="Arial" pitchFamily="34" charset="-120"/>
              </a:rPr>
              <a:t>03</a:t>
            </a:r>
            <a:endParaRPr lang="en-US" sz="1800" dirty="0"/>
          </a:p>
        </p:txBody>
      </p:sp>
      <p:sp>
        <p:nvSpPr>
          <p:cNvPr id="19" name="a4-o"/>
          <p:cNvSpPr txBox="1"/>
          <p:nvPr/>
        </p:nvSpPr>
        <p:spPr>
          <a:xfrm>
            <a:off x="4800600" y="3108960"/>
            <a:ext cx="1645920" cy="1234440"/>
          </a:xfrm>
          <a:prstGeom prst="rect">
            <a:avLst/>
          </a:prstGeom>
          <a:noFill/>
          <a:ln/>
        </p:spPr>
        <p:txBody>
          <a:bodyPr wrap="square" lIns="0" tIns="0" rIns="0" bIns="0" rtlCol="0" anchor="t"/>
          <a:lstStyle/>
          <a:p>
            <a:pPr marL="0" indent="0" algn="ctr">
              <a:buNone/>
            </a:pPr>
            <a:r>
              <a:rPr lang="en-US" sz="1400" dirty="0">
                <a:solidFill>
                  <a:schemeClr val="tx1"/>
                </a:solidFill>
              </a:rPr>
              <a:t>Menjawab keberatan “takut tidak laku” tanpa bergantung pada diskon.</a:t>
            </a:r>
            <a:endParaRPr lang="en-US" sz="1400" dirty="0"/>
          </a:p>
        </p:txBody>
      </p:sp>
      <p:sp>
        <p:nvSpPr>
          <p:cNvPr id="20" name="a5-o"/>
          <p:cNvSpPr/>
          <p:nvPr/>
        </p:nvSpPr>
        <p:spPr>
          <a:xfrm>
            <a:off x="6766560" y="2331720"/>
            <a:ext cx="1920240" cy="2103120"/>
          </a:xfrm>
          <a:prstGeom prst="roundRect">
            <a:avLst>
              <a:gd name="adj" fmla="val 5714"/>
            </a:avLst>
          </a:prstGeom>
          <a:solidFill>
            <a:schemeClr val="bg2"/>
          </a:solidFill>
          <a:ln/>
        </p:spPr>
      </p:sp>
      <p:sp>
        <p:nvSpPr>
          <p:cNvPr id="21" name="a5-o"/>
          <p:cNvSpPr/>
          <p:nvPr/>
        </p:nvSpPr>
        <p:spPr>
          <a:xfrm>
            <a:off x="7406640" y="2011680"/>
            <a:ext cx="640080" cy="640080"/>
          </a:xfrm>
          <a:prstGeom prst="ellipse">
            <a:avLst/>
          </a:prstGeom>
          <a:solidFill>
            <a:schemeClr val="accent1"/>
          </a:solidFill>
          <a:ln/>
        </p:spPr>
      </p:sp>
      <p:pic>
        <p:nvPicPr>
          <p:cNvPr id="22" name="a5-o" descr="preencoded.png"/>
          <p:cNvPicPr>
            <a:picLocks noChangeAspect="1"/>
          </p:cNvPicPr>
          <p:nvPr/>
        </p:nvPicPr>
        <p:blipFill>
          <a:blip r:embed="rId6"/>
          <a:stretch>
            <a:fillRect/>
          </a:stretch>
        </p:blipFill>
        <p:spPr>
          <a:xfrm>
            <a:off x="7573061" y="2178101"/>
            <a:ext cx="307238" cy="307238"/>
          </a:xfrm>
          <a:prstGeom prst="rect">
            <a:avLst/>
          </a:prstGeom>
        </p:spPr>
      </p:pic>
      <p:sp>
        <p:nvSpPr>
          <p:cNvPr id="23" name="a5-o"/>
          <p:cNvSpPr txBox="1"/>
          <p:nvPr/>
        </p:nvSpPr>
        <p:spPr>
          <a:xfrm>
            <a:off x="6903720" y="2743200"/>
            <a:ext cx="1645920" cy="320040"/>
          </a:xfrm>
          <a:prstGeom prst="rect">
            <a:avLst/>
          </a:prstGeom>
          <a:noFill/>
          <a:ln/>
        </p:spPr>
        <p:txBody>
          <a:bodyPr wrap="square" lIns="0" tIns="0" rIns="0" bIns="0" rtlCol="0" anchor="t"/>
          <a:lstStyle/>
          <a:p>
            <a:pPr marL="0" indent="0" algn="ctr">
              <a:buNone/>
            </a:pPr>
            <a:r>
              <a:rPr lang="en-US" sz="1800" b="1" dirty="0">
                <a:solidFill>
                  <a:schemeClr val="accent3"/>
                </a:solidFill>
                <a:latin typeface="Arial" pitchFamily="34" charset="0"/>
                <a:ea typeface="Arial" pitchFamily="34" charset="-122"/>
                <a:cs typeface="Arial" pitchFamily="34" charset="-120"/>
              </a:rPr>
              <a:t>04</a:t>
            </a:r>
            <a:endParaRPr lang="en-US" sz="1800" dirty="0"/>
          </a:p>
        </p:txBody>
      </p:sp>
      <p:sp>
        <p:nvSpPr>
          <p:cNvPr id="24" name="a5-o"/>
          <p:cNvSpPr txBox="1"/>
          <p:nvPr/>
        </p:nvSpPr>
        <p:spPr>
          <a:xfrm>
            <a:off x="6903720" y="3108960"/>
            <a:ext cx="1645920" cy="1234440"/>
          </a:xfrm>
          <a:prstGeom prst="rect">
            <a:avLst/>
          </a:prstGeom>
          <a:noFill/>
          <a:ln/>
        </p:spPr>
        <p:txBody>
          <a:bodyPr wrap="square" lIns="0" tIns="0" rIns="0" bIns="0" rtlCol="0" anchor="t"/>
          <a:lstStyle/>
          <a:p>
            <a:pPr marL="0" indent="0" algn="ctr">
              <a:buNone/>
            </a:pPr>
            <a:r>
              <a:rPr lang="en-US" sz="1400" dirty="0">
                <a:solidFill>
                  <a:schemeClr val="tx1"/>
                </a:solidFill>
              </a:rPr>
              <a:t>Mendorong toko mencoba produk non-semen dan melakukan order ulang.</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800"/>
                            </p:stCondLst>
                            <p:childTnLst>
                              <p:par>
                                <p:cTn id="25" presetID="10" presetClass="entr" presetSubtype="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40" fill="hold">
                            <p:stCondLst>
                              <p:cond delay="1200"/>
                            </p:stCondLst>
                            <p:childTnLst>
                              <p:par>
                                <p:cTn id="41" presetID="10" presetClass="entr" presetSubtype="0"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par>
                          <p:cTn id="56" fill="hold">
                            <p:stCondLst>
                              <p:cond delay="1600"/>
                            </p:stCondLst>
                            <p:childTnLst>
                              <p:par>
                                <p:cTn id="57" presetID="10" presetClass="entr" presetSubtype="0" fill="hold"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Fokus Utama: Tiga Kemampuan Kunci</a:t>
            </a:r>
            <a:endParaRPr lang="en-US" sz="2800" dirty="0"/>
          </a:p>
        </p:txBody>
      </p:sp>
      <p:sp>
        <p:nvSpPr>
          <p:cNvPr id="3" name="pill"/>
          <p:cNvSpPr txBox="1"/>
          <p:nvPr/>
        </p:nvSpPr>
        <p:spPr>
          <a:xfrm>
            <a:off x="457200" y="237744"/>
            <a:ext cx="188915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KONSEP  ·  FOKUS UTAMA</a:t>
            </a:r>
            <a:endParaRPr lang="en-US" sz="1000" dirty="0"/>
          </a:p>
        </p:txBody>
      </p:sp>
      <p:sp>
        <p:nvSpPr>
          <p:cNvPr id="4" name="a1-lead"/>
          <p:cNvSpPr txBox="1"/>
          <p:nvPr/>
        </p:nvSpPr>
        <p:spPr>
          <a:xfrm>
            <a:off x="457200" y="1261872"/>
            <a:ext cx="8229600" cy="502920"/>
          </a:xfrm>
          <a:prstGeom prst="rect">
            <a:avLst/>
          </a:prstGeom>
          <a:noFill/>
          <a:ln/>
        </p:spPr>
        <p:txBody>
          <a:bodyPr wrap="square" lIns="0" tIns="0" rIns="0" bIns="0" rtlCol="0" anchor="t"/>
          <a:lstStyle/>
          <a:p>
            <a:pPr marL="0" indent="0">
              <a:buNone/>
            </a:pPr>
            <a:r>
              <a:rPr lang="en-US" sz="1400" dirty="0">
                <a:solidFill>
                  <a:schemeClr val="tx2"/>
                </a:solidFill>
              </a:rPr>
              <a:t>Ilmu menjual sangat luas. Pelatihan ini sengaja fokus pada tiga kemampuan yang paling menentukan apakah toko mau mencoba produk non-semen.</a:t>
            </a:r>
            <a:endParaRPr lang="en-US" sz="1400" dirty="0"/>
          </a:p>
        </p:txBody>
      </p:sp>
      <p:sp>
        <p:nvSpPr>
          <p:cNvPr id="5" name="a2-p"/>
          <p:cNvSpPr/>
          <p:nvPr/>
        </p:nvSpPr>
        <p:spPr>
          <a:xfrm>
            <a:off x="457200" y="1874520"/>
            <a:ext cx="2651760" cy="777240"/>
          </a:xfrm>
          <a:prstGeom prst="roundRect">
            <a:avLst>
              <a:gd name="adj" fmla="val 14118"/>
            </a:avLst>
          </a:prstGeom>
          <a:solidFill>
            <a:schemeClr val="tx1"/>
          </a:solidFill>
          <a:ln/>
        </p:spPr>
      </p:sp>
      <p:sp>
        <p:nvSpPr>
          <p:cNvPr id="6" name="a2-p"/>
          <p:cNvSpPr txBox="1"/>
          <p:nvPr/>
        </p:nvSpPr>
        <p:spPr>
          <a:xfrm>
            <a:off x="621792" y="1874520"/>
            <a:ext cx="2377440" cy="777240"/>
          </a:xfrm>
          <a:prstGeom prst="rect">
            <a:avLst/>
          </a:prstGeom>
          <a:noFill/>
          <a:ln/>
        </p:spPr>
        <p:txBody>
          <a:bodyPr wrap="square" lIns="0" tIns="0" rIns="0" bIns="0" rtlCol="0" anchor="ctr"/>
          <a:lstStyle/>
          <a:p>
            <a:pPr marL="0" indent="0">
              <a:buNone/>
            </a:pPr>
            <a:r>
              <a:rPr lang="en-US" sz="1600" b="1" dirty="0">
                <a:solidFill>
                  <a:schemeClr val="accent1"/>
                </a:solidFill>
              </a:rPr>
              <a:t>01  Baca Peluangnya</a:t>
            </a:r>
            <a:endParaRPr lang="en-US" sz="1400" dirty="0"/>
          </a:p>
          <a:p>
            <a:pPr marL="0" indent="0">
              <a:buNone/>
            </a:pPr>
            <a:r>
              <a:rPr lang="en-US" sz="1200" dirty="0">
                <a:solidFill>
                  <a:schemeClr val="bg1"/>
                </a:solidFill>
              </a:rPr>
              <a:t>Store Analysis  ·  Modul 1</a:t>
            </a:r>
            <a:endParaRPr lang="en-US" sz="1400" dirty="0"/>
          </a:p>
        </p:txBody>
      </p:sp>
      <p:sp>
        <p:nvSpPr>
          <p:cNvPr id="7" name="a2-p"/>
          <p:cNvSpPr/>
          <p:nvPr/>
        </p:nvSpPr>
        <p:spPr>
          <a:xfrm>
            <a:off x="457200" y="2724912"/>
            <a:ext cx="2651760" cy="1737360"/>
          </a:xfrm>
          <a:prstGeom prst="roundRect">
            <a:avLst>
              <a:gd name="adj" fmla="val 6316"/>
            </a:avLst>
          </a:prstGeom>
          <a:solidFill>
            <a:schemeClr val="bg2"/>
          </a:solidFill>
          <a:ln/>
        </p:spPr>
      </p:sp>
      <p:sp>
        <p:nvSpPr>
          <p:cNvPr id="8" name="a2-p"/>
          <p:cNvSpPr txBox="1"/>
          <p:nvPr/>
        </p:nvSpPr>
        <p:spPr>
          <a:xfrm>
            <a:off x="594360" y="2834640"/>
            <a:ext cx="24231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Prioritas toko: potensi × hubungan</a:t>
            </a:r>
            <a:endParaRPr lang="en-US" sz="1400" dirty="0"/>
          </a:p>
          <a:p>
            <a:pPr marL="342900" indent="-342900">
              <a:spcAft>
                <a:spcPts val="600"/>
              </a:spcAft>
              <a:buSzPct val="100000"/>
              <a:buChar char="•"/>
            </a:pPr>
            <a:r>
              <a:rPr lang="en-US" sz="1400" dirty="0">
                <a:solidFill>
                  <a:schemeClr val="tx1"/>
                </a:solidFill>
              </a:rPr>
              <a:t>Pengambil keputusan di toko</a:t>
            </a:r>
            <a:endParaRPr lang="en-US" sz="1400" dirty="0"/>
          </a:p>
          <a:p>
            <a:pPr marL="342900" indent="-342900">
              <a:spcAft>
                <a:spcPts val="600"/>
              </a:spcAft>
              <a:buSzPct val="100000"/>
              <a:buChar char="•"/>
            </a:pPr>
            <a:r>
              <a:rPr lang="en-US" sz="1400" dirty="0">
                <a:solidFill>
                  <a:schemeClr val="tx1"/>
                </a:solidFill>
              </a:rPr>
              <a:t>Sinyal toko dan pangsa SID</a:t>
            </a:r>
            <a:endParaRPr lang="en-US" sz="1400" dirty="0"/>
          </a:p>
          <a:p>
            <a:pPr marL="342900" indent="-342900">
              <a:spcAft>
                <a:spcPts val="600"/>
              </a:spcAft>
              <a:buSzPct val="100000"/>
              <a:buChar char="•"/>
            </a:pPr>
            <a:r>
              <a:rPr lang="en-US" sz="1400" dirty="0">
                <a:solidFill>
                  <a:schemeClr val="tx1"/>
                </a:solidFill>
              </a:rPr>
              <a:t>Celah kompetitor</a:t>
            </a:r>
            <a:endParaRPr lang="en-US" sz="1400" dirty="0"/>
          </a:p>
        </p:txBody>
      </p:sp>
      <p:sp>
        <p:nvSpPr>
          <p:cNvPr id="9" name="a3-p"/>
          <p:cNvSpPr/>
          <p:nvPr/>
        </p:nvSpPr>
        <p:spPr>
          <a:xfrm>
            <a:off x="3246120" y="1874520"/>
            <a:ext cx="2651760" cy="777240"/>
          </a:xfrm>
          <a:prstGeom prst="roundRect">
            <a:avLst>
              <a:gd name="adj" fmla="val 14118"/>
            </a:avLst>
          </a:prstGeom>
          <a:solidFill>
            <a:schemeClr val="tx1"/>
          </a:solidFill>
          <a:ln/>
        </p:spPr>
      </p:sp>
      <p:sp>
        <p:nvSpPr>
          <p:cNvPr id="10" name="a3-p"/>
          <p:cNvSpPr txBox="1"/>
          <p:nvPr/>
        </p:nvSpPr>
        <p:spPr>
          <a:xfrm>
            <a:off x="3410712" y="1874520"/>
            <a:ext cx="2377440" cy="777240"/>
          </a:xfrm>
          <a:prstGeom prst="rect">
            <a:avLst/>
          </a:prstGeom>
          <a:noFill/>
          <a:ln/>
        </p:spPr>
        <p:txBody>
          <a:bodyPr wrap="square" lIns="0" tIns="0" rIns="0" bIns="0" rtlCol="0" anchor="ctr"/>
          <a:lstStyle/>
          <a:p>
            <a:pPr marL="0" indent="0">
              <a:buNone/>
            </a:pPr>
            <a:r>
              <a:rPr lang="en-US" sz="1600" b="1" dirty="0">
                <a:solidFill>
                  <a:schemeClr val="accent1"/>
                </a:solidFill>
              </a:rPr>
              <a:t>02  Tunjukkan Nilainya</a:t>
            </a:r>
            <a:endParaRPr lang="en-US" sz="1400" dirty="0"/>
          </a:p>
          <a:p>
            <a:pPr marL="0" indent="0">
              <a:buNone/>
            </a:pPr>
            <a:r>
              <a:rPr lang="en-US" sz="1200" dirty="0">
                <a:solidFill>
                  <a:schemeClr val="bg1"/>
                </a:solidFill>
              </a:rPr>
              <a:t>Value Proposition  ·  Modul 2</a:t>
            </a:r>
            <a:endParaRPr lang="en-US" sz="1400" dirty="0"/>
          </a:p>
        </p:txBody>
      </p:sp>
      <p:sp>
        <p:nvSpPr>
          <p:cNvPr id="11" name="a3-p"/>
          <p:cNvSpPr/>
          <p:nvPr/>
        </p:nvSpPr>
        <p:spPr>
          <a:xfrm>
            <a:off x="3246120" y="2724912"/>
            <a:ext cx="2651760" cy="1737360"/>
          </a:xfrm>
          <a:prstGeom prst="roundRect">
            <a:avLst>
              <a:gd name="adj" fmla="val 6316"/>
            </a:avLst>
          </a:prstGeom>
          <a:solidFill>
            <a:schemeClr val="accent2"/>
          </a:solidFill>
          <a:ln/>
        </p:spPr>
      </p:sp>
      <p:sp>
        <p:nvSpPr>
          <p:cNvPr id="12" name="a3-p"/>
          <p:cNvSpPr txBox="1"/>
          <p:nvPr/>
        </p:nvSpPr>
        <p:spPr>
          <a:xfrm>
            <a:off x="3383280" y="2834640"/>
            <a:ext cx="24231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Untung per modal per bulan</a:t>
            </a:r>
            <a:endParaRPr lang="en-US" sz="1400" dirty="0"/>
          </a:p>
          <a:p>
            <a:pPr marL="342900" indent="-342900">
              <a:spcAft>
                <a:spcPts val="600"/>
              </a:spcAft>
              <a:buSzPct val="100000"/>
              <a:buChar char="•"/>
            </a:pPr>
            <a:r>
              <a:rPr lang="en-US" sz="1400" dirty="0">
                <a:solidFill>
                  <a:schemeClr val="tx1"/>
                </a:solidFill>
              </a:rPr>
              <a:t>Biaya keranjang yang hilang</a:t>
            </a:r>
            <a:endParaRPr lang="en-US" sz="1400" dirty="0"/>
          </a:p>
          <a:p>
            <a:pPr marL="342900" indent="-342900">
              <a:spcAft>
                <a:spcPts val="600"/>
              </a:spcAft>
              <a:buSzPct val="100000"/>
              <a:buChar char="•"/>
            </a:pPr>
            <a:r>
              <a:rPr lang="en-US" sz="1400" dirty="0">
                <a:solidFill>
                  <a:schemeClr val="tx1"/>
                </a:solidFill>
              </a:rPr>
              <a:t>Modal nol lewat tempo bayar</a:t>
            </a:r>
            <a:endParaRPr lang="en-US" sz="1400" dirty="0"/>
          </a:p>
          <a:p>
            <a:pPr marL="342900" indent="-342900">
              <a:spcAft>
                <a:spcPts val="600"/>
              </a:spcAft>
              <a:buSzPct val="100000"/>
              <a:buChar char="•"/>
            </a:pPr>
            <a:r>
              <a:rPr lang="en-US" sz="1400" dirty="0">
                <a:solidFill>
                  <a:schemeClr val="tx1"/>
                </a:solidFill>
              </a:rPr>
              <a:t>Resep penawaran 6 langkah</a:t>
            </a:r>
            <a:endParaRPr lang="en-US" sz="1400" dirty="0"/>
          </a:p>
        </p:txBody>
      </p:sp>
      <p:sp>
        <p:nvSpPr>
          <p:cNvPr id="13" name="a4-p"/>
          <p:cNvSpPr/>
          <p:nvPr/>
        </p:nvSpPr>
        <p:spPr>
          <a:xfrm>
            <a:off x="6035040" y="1874520"/>
            <a:ext cx="2651760" cy="777240"/>
          </a:xfrm>
          <a:prstGeom prst="roundRect">
            <a:avLst>
              <a:gd name="adj" fmla="val 14118"/>
            </a:avLst>
          </a:prstGeom>
          <a:solidFill>
            <a:schemeClr val="tx1"/>
          </a:solidFill>
          <a:ln/>
        </p:spPr>
      </p:sp>
      <p:sp>
        <p:nvSpPr>
          <p:cNvPr id="14" name="a4-p"/>
          <p:cNvSpPr txBox="1"/>
          <p:nvPr/>
        </p:nvSpPr>
        <p:spPr>
          <a:xfrm>
            <a:off x="6199632" y="1874520"/>
            <a:ext cx="2377440" cy="777240"/>
          </a:xfrm>
          <a:prstGeom prst="rect">
            <a:avLst/>
          </a:prstGeom>
          <a:noFill/>
          <a:ln/>
        </p:spPr>
        <p:txBody>
          <a:bodyPr wrap="square" lIns="0" tIns="0" rIns="0" bIns="0" rtlCol="0" anchor="ctr"/>
          <a:lstStyle/>
          <a:p>
            <a:pPr marL="0" indent="0">
              <a:buNone/>
            </a:pPr>
            <a:r>
              <a:rPr lang="en-US" sz="1600" b="1" dirty="0">
                <a:solidFill>
                  <a:schemeClr val="accent1"/>
                </a:solidFill>
              </a:rPr>
              <a:t>03  Raih Kepercayaannya</a:t>
            </a:r>
            <a:endParaRPr lang="en-US" sz="1400" dirty="0"/>
          </a:p>
          <a:p>
            <a:pPr marL="0" indent="0">
              <a:buNone/>
            </a:pPr>
            <a:r>
              <a:rPr lang="en-US" sz="1200" dirty="0">
                <a:solidFill>
                  <a:schemeClr val="bg1"/>
                </a:solidFill>
              </a:rPr>
              <a:t>Objection Handling  ·  Modul 3</a:t>
            </a:r>
            <a:endParaRPr lang="en-US" sz="1400" dirty="0"/>
          </a:p>
        </p:txBody>
      </p:sp>
      <p:sp>
        <p:nvSpPr>
          <p:cNvPr id="15" name="a4-p"/>
          <p:cNvSpPr/>
          <p:nvPr/>
        </p:nvSpPr>
        <p:spPr>
          <a:xfrm>
            <a:off x="6035040" y="2724912"/>
            <a:ext cx="2651760" cy="1737360"/>
          </a:xfrm>
          <a:prstGeom prst="roundRect">
            <a:avLst>
              <a:gd name="adj" fmla="val 6316"/>
            </a:avLst>
          </a:prstGeom>
          <a:solidFill>
            <a:schemeClr val="bg2"/>
          </a:solidFill>
          <a:ln/>
        </p:spPr>
      </p:sp>
      <p:sp>
        <p:nvSpPr>
          <p:cNvPr id="16" name="a4-p"/>
          <p:cNvSpPr txBox="1"/>
          <p:nvPr/>
        </p:nvSpPr>
        <p:spPr>
          <a:xfrm>
            <a:off x="6172200" y="2834640"/>
            <a:ext cx="24231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Diagnosis akar keberatan</a:t>
            </a:r>
            <a:endParaRPr lang="en-US" sz="1400" dirty="0"/>
          </a:p>
          <a:p>
            <a:pPr marL="342900" indent="-342900">
              <a:spcAft>
                <a:spcPts val="600"/>
              </a:spcAft>
              <a:buSzPct val="100000"/>
              <a:buChar char="•"/>
            </a:pPr>
            <a:r>
              <a:rPr lang="en-US" sz="1400" dirty="0">
                <a:solidFill>
                  <a:schemeClr val="tx1"/>
                </a:solidFill>
              </a:rPr>
              <a:t>Diskon sebagai pilihan terakhir</a:t>
            </a:r>
            <a:endParaRPr lang="en-US" sz="1400" dirty="0"/>
          </a:p>
          <a:p>
            <a:pPr marL="342900" indent="-342900">
              <a:spcAft>
                <a:spcPts val="600"/>
              </a:spcAft>
              <a:buSzPct val="100000"/>
              <a:buChar char="•"/>
            </a:pPr>
            <a:r>
              <a:rPr lang="en-US" sz="1400" dirty="0">
                <a:solidFill>
                  <a:schemeClr val="tx1"/>
                </a:solidFill>
              </a:rPr>
              <a:t>Uji coba yang pasti habis</a:t>
            </a:r>
            <a:endParaRPr lang="en-US" sz="1400" dirty="0"/>
          </a:p>
          <a:p>
            <a:pPr marL="342900" indent="-342900">
              <a:spcAft>
                <a:spcPts val="600"/>
              </a:spcAft>
              <a:buSzPct val="100000"/>
              <a:buChar char="•"/>
            </a:pPr>
            <a:r>
              <a:rPr lang="en-US" sz="1400" dirty="0">
                <a:solidFill>
                  <a:schemeClr val="tx1"/>
                </a:solidFill>
              </a:rPr>
              <a:t>Tangga komitmen</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800"/>
                            </p:stCondLst>
                            <p:childTnLst>
                              <p:par>
                                <p:cTn id="22" presetID="10"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4" fill="hold">
                            <p:stCondLst>
                              <p:cond delay="1200"/>
                            </p:stCondLst>
                            <p:childTnLst>
                              <p:par>
                                <p:cTn id="35" presetID="10" presetClass="entr" presetSubtype="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Goal dan Indikator Keberhasilan</a:t>
            </a:r>
            <a:endParaRPr lang="en-US" sz="2800" dirty="0"/>
          </a:p>
        </p:txBody>
      </p:sp>
      <p:sp>
        <p:nvSpPr>
          <p:cNvPr id="3" name="pill"/>
          <p:cNvSpPr txBox="1"/>
          <p:nvPr/>
        </p:nvSpPr>
        <p:spPr>
          <a:xfrm>
            <a:off x="457200" y="237744"/>
            <a:ext cx="1389888"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KONSEP  ·  GOAL</a:t>
            </a:r>
            <a:endParaRPr lang="en-US" sz="1000" dirty="0"/>
          </a:p>
        </p:txBody>
      </p:sp>
      <p:sp>
        <p:nvSpPr>
          <p:cNvPr id="4" name="a1-goal"/>
          <p:cNvSpPr txBox="1"/>
          <p:nvPr/>
        </p:nvSpPr>
        <p:spPr>
          <a:xfrm>
            <a:off x="457200" y="1280160"/>
            <a:ext cx="8229600" cy="566928"/>
          </a:xfrm>
          <a:prstGeom prst="roundRect">
            <a:avLst>
              <a:gd name="adj" fmla="val 19355"/>
            </a:avLst>
          </a:prstGeom>
          <a:solidFill>
            <a:schemeClr val="accent1"/>
          </a:solidFill>
          <a:ln/>
        </p:spPr>
        <p:txBody>
          <a:bodyPr wrap="square" lIns="0" tIns="0" rIns="0" bIns="0" rtlCol="0" anchor="ctr"/>
          <a:lstStyle/>
          <a:p>
            <a:pPr marL="0" indent="0" algn="ctr">
              <a:buNone/>
            </a:pPr>
            <a:r>
              <a:rPr lang="en-US" sz="1300" b="1" kern="0" spc="200" dirty="0">
                <a:solidFill>
                  <a:schemeClr val="tx1"/>
                </a:solidFill>
              </a:rPr>
              <a:t>GOAL  </a:t>
            </a:r>
            <a:r>
              <a:rPr lang="en-US" sz="1700" b="1" dirty="0">
                <a:solidFill>
                  <a:schemeClr val="tx1"/>
                </a:solidFill>
              </a:rPr>
              <a:t>Volume penjualan non-semen naik X% dalam 3 bulan setelah pelatihan</a:t>
            </a:r>
            <a:endParaRPr lang="en-US" sz="1300" dirty="0"/>
          </a:p>
        </p:txBody>
      </p:sp>
      <p:sp>
        <p:nvSpPr>
          <p:cNvPr id="5" name="a2-line"/>
          <p:cNvSpPr/>
          <p:nvPr/>
        </p:nvSpPr>
        <p:spPr>
          <a:xfrm>
            <a:off x="1828800" y="2267712"/>
            <a:ext cx="5577840" cy="0"/>
          </a:xfrm>
          <a:prstGeom prst="line">
            <a:avLst/>
          </a:prstGeom>
          <a:noFill/>
          <a:ln w="31750">
            <a:solidFill>
              <a:schemeClr val="tx1"/>
            </a:solidFill>
            <a:prstDash val="solid"/>
          </a:ln>
        </p:spPr>
      </p:sp>
      <p:sp>
        <p:nvSpPr>
          <p:cNvPr id="6" name="a3-g"/>
          <p:cNvSpPr txBox="1"/>
          <p:nvPr/>
        </p:nvSpPr>
        <p:spPr>
          <a:xfrm>
            <a:off x="1563624" y="2048256"/>
            <a:ext cx="438912" cy="438912"/>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7" name="a3-g"/>
          <p:cNvSpPr/>
          <p:nvPr/>
        </p:nvSpPr>
        <p:spPr>
          <a:xfrm>
            <a:off x="457200" y="2606040"/>
            <a:ext cx="2651760" cy="1828800"/>
          </a:xfrm>
          <a:prstGeom prst="roundRect">
            <a:avLst>
              <a:gd name="adj" fmla="val 6000"/>
            </a:avLst>
          </a:prstGeom>
          <a:solidFill>
            <a:schemeClr val="bg2"/>
          </a:solidFill>
          <a:ln/>
        </p:spPr>
      </p:sp>
      <p:sp>
        <p:nvSpPr>
          <p:cNvPr id="8" name="a3-g"/>
          <p:cNvSpPr txBox="1"/>
          <p:nvPr/>
        </p:nvSpPr>
        <p:spPr>
          <a:xfrm>
            <a:off x="594360" y="2697480"/>
            <a:ext cx="2377440" cy="548640"/>
          </a:xfrm>
          <a:prstGeom prst="rect">
            <a:avLst/>
          </a:prstGeom>
          <a:noFill/>
          <a:ln/>
        </p:spPr>
        <p:txBody>
          <a:bodyPr wrap="square" lIns="0" tIns="0" rIns="0" bIns="0" rtlCol="0" anchor="t"/>
          <a:lstStyle/>
          <a:p>
            <a:pPr marL="0" indent="0">
              <a:buNone/>
            </a:pPr>
            <a:r>
              <a:rPr lang="en-US" sz="1100" b="1" kern="0" spc="100" dirty="0">
                <a:solidFill>
                  <a:schemeClr val="accent3"/>
                </a:solidFill>
              </a:rPr>
              <a:t>HARI PELATIHAN</a:t>
            </a:r>
            <a:endParaRPr lang="en-US" sz="1400" dirty="0"/>
          </a:p>
          <a:p>
            <a:pPr marL="0" indent="0">
              <a:buNone/>
            </a:pPr>
            <a:r>
              <a:rPr lang="en-US" sz="1600" b="1" dirty="0">
                <a:solidFill>
                  <a:schemeClr val="tx1"/>
                </a:solidFill>
              </a:rPr>
              <a:t>Kompetensi</a:t>
            </a:r>
            <a:endParaRPr lang="en-US" sz="1400" dirty="0"/>
          </a:p>
        </p:txBody>
      </p:sp>
      <p:sp>
        <p:nvSpPr>
          <p:cNvPr id="9" name="a3-g"/>
          <p:cNvSpPr txBox="1"/>
          <p:nvPr/>
        </p:nvSpPr>
        <p:spPr>
          <a:xfrm>
            <a:off x="594360" y="3273552"/>
            <a:ext cx="2423160" cy="111556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Nilai post-test pengetahuan produk ≥ 80</a:t>
            </a:r>
            <a:endParaRPr lang="en-US" sz="1300" dirty="0"/>
          </a:p>
          <a:p>
            <a:pPr marL="342900" indent="-342900">
              <a:spcAft>
                <a:spcPts val="400"/>
              </a:spcAft>
              <a:buSzPct val="100000"/>
              <a:buChar char="•"/>
            </a:pPr>
            <a:r>
              <a:rPr lang="en-US" sz="1300" dirty="0">
                <a:solidFill>
                  <a:schemeClr val="tx1"/>
                </a:solidFill>
              </a:rPr>
              <a:t>Nilai role play rata-rata ≥ 2,5</a:t>
            </a:r>
            <a:endParaRPr lang="en-US" sz="1300" dirty="0"/>
          </a:p>
          <a:p>
            <a:pPr marL="342900" indent="-342900">
              <a:spcAft>
                <a:spcPts val="400"/>
              </a:spcAft>
              <a:buSzPct val="100000"/>
              <a:buChar char="•"/>
            </a:pPr>
            <a:r>
              <a:rPr lang="en-US" sz="1300" dirty="0">
                <a:solidFill>
                  <a:schemeClr val="tx1"/>
                </a:solidFill>
              </a:rPr>
              <a:t>Setiap sales menetapkan 5 toko target</a:t>
            </a:r>
            <a:endParaRPr lang="en-US" sz="1300" dirty="0"/>
          </a:p>
        </p:txBody>
      </p:sp>
      <p:sp>
        <p:nvSpPr>
          <p:cNvPr id="10" name="a4-g"/>
          <p:cNvSpPr txBox="1"/>
          <p:nvPr/>
        </p:nvSpPr>
        <p:spPr>
          <a:xfrm>
            <a:off x="4352544" y="2048256"/>
            <a:ext cx="438912" cy="438912"/>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1" name="a4-g"/>
          <p:cNvSpPr/>
          <p:nvPr/>
        </p:nvSpPr>
        <p:spPr>
          <a:xfrm>
            <a:off x="3246120" y="2606040"/>
            <a:ext cx="2651760" cy="1828800"/>
          </a:xfrm>
          <a:prstGeom prst="roundRect">
            <a:avLst>
              <a:gd name="adj" fmla="val 6000"/>
            </a:avLst>
          </a:prstGeom>
          <a:solidFill>
            <a:schemeClr val="bg2"/>
          </a:solidFill>
          <a:ln/>
        </p:spPr>
      </p:sp>
      <p:sp>
        <p:nvSpPr>
          <p:cNvPr id="12" name="a4-g"/>
          <p:cNvSpPr txBox="1"/>
          <p:nvPr/>
        </p:nvSpPr>
        <p:spPr>
          <a:xfrm>
            <a:off x="3383280" y="2697480"/>
            <a:ext cx="2377440" cy="548640"/>
          </a:xfrm>
          <a:prstGeom prst="rect">
            <a:avLst/>
          </a:prstGeom>
          <a:noFill/>
          <a:ln/>
        </p:spPr>
        <p:txBody>
          <a:bodyPr wrap="square" lIns="0" tIns="0" rIns="0" bIns="0" rtlCol="0" anchor="t"/>
          <a:lstStyle/>
          <a:p>
            <a:pPr marL="0" indent="0">
              <a:buNone/>
            </a:pPr>
            <a:r>
              <a:rPr lang="en-US" sz="1100" b="1" kern="0" spc="100" dirty="0">
                <a:solidFill>
                  <a:schemeClr val="accent3"/>
                </a:solidFill>
              </a:rPr>
              <a:t>BULAN KE-1</a:t>
            </a:r>
            <a:endParaRPr lang="en-US" sz="1400" dirty="0"/>
          </a:p>
          <a:p>
            <a:pPr marL="0" indent="0">
              <a:buNone/>
            </a:pPr>
            <a:r>
              <a:rPr lang="en-US" sz="1600" b="1" dirty="0">
                <a:solidFill>
                  <a:schemeClr val="tx1"/>
                </a:solidFill>
              </a:rPr>
              <a:t>Perilaku lapangan</a:t>
            </a:r>
            <a:endParaRPr lang="en-US" sz="1400" dirty="0"/>
          </a:p>
        </p:txBody>
      </p:sp>
      <p:sp>
        <p:nvSpPr>
          <p:cNvPr id="13" name="a4-g"/>
          <p:cNvSpPr txBox="1"/>
          <p:nvPr/>
        </p:nvSpPr>
        <p:spPr>
          <a:xfrm>
            <a:off x="3383280" y="3273552"/>
            <a:ext cx="2423160" cy="111556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5 toko target dianalisis dan ditawari</a:t>
            </a:r>
            <a:endParaRPr lang="en-US" sz="1300" dirty="0"/>
          </a:p>
          <a:p>
            <a:pPr marL="342900" indent="-342900">
              <a:spcAft>
                <a:spcPts val="400"/>
              </a:spcAft>
              <a:buSzPct val="100000"/>
              <a:buChar char="•"/>
            </a:pPr>
            <a:r>
              <a:rPr lang="en-US" sz="1300" dirty="0">
                <a:solidFill>
                  <a:schemeClr val="tx1"/>
                </a:solidFill>
              </a:rPr>
              <a:t>Minimal X toko melakukan pembelian pertama</a:t>
            </a:r>
            <a:endParaRPr lang="en-US" sz="1300" dirty="0"/>
          </a:p>
          <a:p>
            <a:pPr marL="342900" indent="-342900">
              <a:spcAft>
                <a:spcPts val="400"/>
              </a:spcAft>
              <a:buSzPct val="100000"/>
              <a:buChar char="•"/>
            </a:pPr>
            <a:r>
              <a:rPr lang="en-US" sz="1300" dirty="0">
                <a:solidFill>
                  <a:schemeClr val="tx1"/>
                </a:solidFill>
              </a:rPr>
              <a:t>Klinik mingguan berjalan rutin</a:t>
            </a:r>
            <a:endParaRPr lang="en-US" sz="1300" dirty="0"/>
          </a:p>
        </p:txBody>
      </p:sp>
      <p:sp>
        <p:nvSpPr>
          <p:cNvPr id="14" name="a5-g"/>
          <p:cNvSpPr txBox="1"/>
          <p:nvPr/>
        </p:nvSpPr>
        <p:spPr>
          <a:xfrm>
            <a:off x="7141464" y="2048256"/>
            <a:ext cx="438912" cy="438912"/>
          </a:xfrm>
          <a:prstGeom prst="ellipse">
            <a:avLst/>
          </a:prstGeom>
          <a:solidFill>
            <a:schemeClr val="tx1"/>
          </a:solidFill>
          <a:ln/>
        </p:spPr>
        <p:txBody>
          <a:bodyPr wrap="square" lIns="0" tIns="0" rIns="0" bIns="0" rtlCol="0" anchor="ctr"/>
          <a:lstStyle/>
          <a:p>
            <a:pPr marL="0" indent="0" algn="ctr">
              <a:buNone/>
            </a:pPr>
            <a:r>
              <a:rPr lang="en-US" sz="1600" b="1" dirty="0">
                <a:solidFill>
                  <a:schemeClr val="accent1"/>
                </a:solidFill>
              </a:rPr>
              <a:t>3</a:t>
            </a:r>
            <a:endParaRPr lang="en-US" sz="1600" dirty="0"/>
          </a:p>
        </p:txBody>
      </p:sp>
      <p:sp>
        <p:nvSpPr>
          <p:cNvPr id="15" name="a5-g"/>
          <p:cNvSpPr/>
          <p:nvPr/>
        </p:nvSpPr>
        <p:spPr>
          <a:xfrm>
            <a:off x="6035040" y="2606040"/>
            <a:ext cx="2651760" cy="1828800"/>
          </a:xfrm>
          <a:prstGeom prst="roundRect">
            <a:avLst>
              <a:gd name="adj" fmla="val 6000"/>
            </a:avLst>
          </a:prstGeom>
          <a:solidFill>
            <a:schemeClr val="accent2"/>
          </a:solidFill>
          <a:ln/>
        </p:spPr>
      </p:sp>
      <p:sp>
        <p:nvSpPr>
          <p:cNvPr id="16" name="a5-g"/>
          <p:cNvSpPr txBox="1"/>
          <p:nvPr/>
        </p:nvSpPr>
        <p:spPr>
          <a:xfrm>
            <a:off x="6172200" y="2697480"/>
            <a:ext cx="2377440" cy="548640"/>
          </a:xfrm>
          <a:prstGeom prst="rect">
            <a:avLst/>
          </a:prstGeom>
          <a:noFill/>
          <a:ln/>
        </p:spPr>
        <p:txBody>
          <a:bodyPr wrap="square" lIns="0" tIns="0" rIns="0" bIns="0" rtlCol="0" anchor="t"/>
          <a:lstStyle/>
          <a:p>
            <a:pPr marL="0" indent="0">
              <a:buNone/>
            </a:pPr>
            <a:r>
              <a:rPr lang="en-US" sz="1100" b="1" kern="0" spc="100" dirty="0">
                <a:solidFill>
                  <a:schemeClr val="accent3"/>
                </a:solidFill>
              </a:rPr>
              <a:t>BULAN KE-3</a:t>
            </a:r>
            <a:endParaRPr lang="en-US" sz="1400" dirty="0"/>
          </a:p>
          <a:p>
            <a:pPr marL="0" indent="0">
              <a:buNone/>
            </a:pPr>
            <a:r>
              <a:rPr lang="en-US" sz="1600" b="1" dirty="0">
                <a:solidFill>
                  <a:schemeClr val="tx1"/>
                </a:solidFill>
              </a:rPr>
              <a:t>Hasil bisnis</a:t>
            </a:r>
            <a:endParaRPr lang="en-US" sz="1400" dirty="0"/>
          </a:p>
        </p:txBody>
      </p:sp>
      <p:sp>
        <p:nvSpPr>
          <p:cNvPr id="17" name="a5-g"/>
          <p:cNvSpPr txBox="1"/>
          <p:nvPr/>
        </p:nvSpPr>
        <p:spPr>
          <a:xfrm>
            <a:off x="6172200" y="3273552"/>
            <a:ext cx="2423160" cy="111556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Volume non-semen naik X%</a:t>
            </a:r>
            <a:endParaRPr lang="en-US" sz="1300" dirty="0"/>
          </a:p>
          <a:p>
            <a:pPr marL="342900" indent="-342900">
              <a:spcAft>
                <a:spcPts val="400"/>
              </a:spcAft>
              <a:buSzPct val="100000"/>
              <a:buChar char="•"/>
            </a:pPr>
            <a:r>
              <a:rPr lang="en-US" sz="1300" dirty="0">
                <a:solidFill>
                  <a:schemeClr val="tx1"/>
                </a:solidFill>
              </a:rPr>
              <a:t>Ada repeat order dari toko yang mencoba</a:t>
            </a:r>
            <a:endParaRPr lang="en-US" sz="1300" dirty="0"/>
          </a:p>
          <a:p>
            <a:pPr marL="342900" indent="-342900">
              <a:spcAft>
                <a:spcPts val="400"/>
              </a:spcAft>
              <a:buSzPct val="100000"/>
              <a:buChar char="•"/>
            </a:pPr>
            <a:r>
              <a:rPr lang="en-US" sz="1300" dirty="0">
                <a:solidFill>
                  <a:schemeClr val="tx1"/>
                </a:solidFill>
              </a:rPr>
              <a:t>Pelanggan toko bertahan saat semen kosong</a:t>
            </a:r>
            <a:endParaRPr lang="en-US" sz="1300" dirty="0"/>
          </a:p>
        </p:txBody>
      </p:sp>
      <p:sp>
        <p:nvSpPr>
          <p:cNvPr id="18" name="Text 16"/>
          <p:cNvSpPr txBox="1"/>
          <p:nvPr/>
        </p:nvSpPr>
        <p:spPr>
          <a:xfrm>
            <a:off x="457200" y="4498848"/>
            <a:ext cx="5486400" cy="201168"/>
          </a:xfrm>
          <a:prstGeom prst="rect">
            <a:avLst/>
          </a:prstGeom>
          <a:noFill/>
          <a:ln/>
        </p:spPr>
        <p:txBody>
          <a:bodyPr wrap="square" lIns="0" tIns="0" rIns="0" bIns="0" rtlCol="0" anchor="t"/>
          <a:lstStyle/>
          <a:p>
            <a:pPr marL="0" indent="0">
              <a:buNone/>
            </a:pPr>
            <a:r>
              <a:rPr lang="en-US" sz="1000" i="1" dirty="0">
                <a:solidFill>
                  <a:schemeClr val="accent3"/>
                </a:solidFill>
              </a:rPr>
              <a:t>*Angka X ditetapkan bersama manajemen penjualan sesuai data SID.</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par>
                          <p:cTn id="25" fill="hold">
                            <p:stCondLst>
                              <p:cond delay="1200"/>
                            </p:stCondLst>
                            <p:childTnLst>
                              <p:par>
                                <p:cTn id="26" presetID="10" presetClass="entr" presetSubtype="0"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par>
                          <p:cTn id="38" fill="hold">
                            <p:stCondLst>
                              <p:cond delay="1600"/>
                            </p:stCondLst>
                            <p:childTnLst>
                              <p:par>
                                <p:cTn id="39" presetID="10" presetClass="entr" presetSubtype="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Kerangka Konsep Pelatihan</a:t>
            </a:r>
            <a:endParaRPr lang="en-US" sz="2800" dirty="0"/>
          </a:p>
        </p:txBody>
      </p:sp>
      <p:sp>
        <p:nvSpPr>
          <p:cNvPr id="3" name="pill"/>
          <p:cNvSpPr txBox="1"/>
          <p:nvPr/>
        </p:nvSpPr>
        <p:spPr>
          <a:xfrm>
            <a:off x="457200" y="237744"/>
            <a:ext cx="1675181"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KONSEP  ·  KERANGKA</a:t>
            </a:r>
            <a:endParaRPr lang="en-US" sz="1000" dirty="0"/>
          </a:p>
        </p:txBody>
      </p:sp>
      <p:sp>
        <p:nvSpPr>
          <p:cNvPr id="4" name="a1-k"/>
          <p:cNvSpPr txBox="1"/>
          <p:nvPr/>
        </p:nvSpPr>
        <p:spPr>
          <a:xfrm>
            <a:off x="457200" y="1298448"/>
            <a:ext cx="1399032" cy="566928"/>
          </a:xfrm>
          <a:prstGeom prst="roundRect">
            <a:avLst>
              <a:gd name="adj" fmla="val 16129"/>
            </a:avLst>
          </a:prstGeom>
          <a:solidFill>
            <a:schemeClr val="tx1"/>
          </a:solidFill>
          <a:ln/>
        </p:spPr>
        <p:txBody>
          <a:bodyPr wrap="square" lIns="0" tIns="0" rIns="0" bIns="0" rtlCol="0" anchor="ctr"/>
          <a:lstStyle/>
          <a:p>
            <a:pPr marL="0" indent="0" algn="ctr">
              <a:buNone/>
            </a:pPr>
            <a:r>
              <a:rPr lang="en-US" sz="1300" b="1" kern="0" spc="100" dirty="0">
                <a:solidFill>
                  <a:schemeClr val="accent1"/>
                </a:solidFill>
              </a:rPr>
              <a:t>INPUT</a:t>
            </a:r>
            <a:endParaRPr lang="en-US" sz="1300" dirty="0"/>
          </a:p>
          <a:p>
            <a:pPr marL="0" indent="0" algn="ctr">
              <a:buNone/>
            </a:pPr>
            <a:r>
              <a:rPr lang="en-US" sz="1100" dirty="0">
                <a:solidFill>
                  <a:schemeClr val="bg1"/>
                </a:solidFill>
              </a:rPr>
              <a:t>Kondisi saat ini</a:t>
            </a:r>
            <a:endParaRPr lang="en-US" sz="1300" dirty="0"/>
          </a:p>
        </p:txBody>
      </p:sp>
      <p:sp>
        <p:nvSpPr>
          <p:cNvPr id="5" name="a1-k"/>
          <p:cNvSpPr/>
          <p:nvPr/>
        </p:nvSpPr>
        <p:spPr>
          <a:xfrm>
            <a:off x="457200" y="1938528"/>
            <a:ext cx="1399032" cy="2103120"/>
          </a:xfrm>
          <a:prstGeom prst="roundRect">
            <a:avLst>
              <a:gd name="adj" fmla="val 7843"/>
            </a:avLst>
          </a:prstGeom>
          <a:solidFill>
            <a:schemeClr val="bg2"/>
          </a:solidFill>
          <a:ln/>
        </p:spPr>
      </p:sp>
      <p:sp>
        <p:nvSpPr>
          <p:cNvPr id="6" name="a1-k"/>
          <p:cNvSpPr txBox="1"/>
          <p:nvPr/>
        </p:nvSpPr>
        <p:spPr>
          <a:xfrm>
            <a:off x="530352" y="2057400"/>
            <a:ext cx="1271016" cy="1920240"/>
          </a:xfrm>
          <a:prstGeom prst="rect">
            <a:avLst/>
          </a:prstGeom>
          <a:noFill/>
          <a:ln/>
        </p:spPr>
        <p:txBody>
          <a:bodyPr wrap="square" lIns="0" tIns="0" rIns="0" bIns="0" rtlCol="0" anchor="t"/>
          <a:lstStyle/>
          <a:p>
            <a:pPr marL="127000" indent="-127000">
              <a:spcAft>
                <a:spcPts val="800"/>
              </a:spcAft>
              <a:buSzPct val="100000"/>
              <a:buChar char="•"/>
            </a:pPr>
            <a:r>
              <a:rPr lang="en-US" sz="1200" dirty="0">
                <a:solidFill>
                  <a:schemeClr val="tx1"/>
                </a:solidFill>
              </a:rPr>
              <a:t>Stok semen terganggu</a:t>
            </a:r>
            <a:endParaRPr lang="en-US" sz="1200" dirty="0"/>
          </a:p>
          <a:p>
            <a:pPr marL="127000" indent="-127000">
              <a:spcAft>
                <a:spcPts val="800"/>
              </a:spcAft>
              <a:buSzPct val="100000"/>
              <a:buChar char="•"/>
            </a:pPr>
            <a:r>
              <a:rPr lang="en-US" sz="1200" dirty="0">
                <a:solidFill>
                  <a:schemeClr val="tx1"/>
                </a:solidFill>
              </a:rPr>
              <a:t>Sales terbiasa menjual semen</a:t>
            </a:r>
            <a:endParaRPr lang="en-US" sz="1200" dirty="0"/>
          </a:p>
          <a:p>
            <a:pPr marL="127000" indent="-127000">
              <a:spcAft>
                <a:spcPts val="800"/>
              </a:spcAft>
              <a:buSzPct val="100000"/>
              <a:buChar char="•"/>
            </a:pPr>
            <a:r>
              <a:rPr lang="en-US" sz="1200" dirty="0">
                <a:solidFill>
                  <a:schemeClr val="tx1"/>
                </a:solidFill>
              </a:rPr>
              <a:t>Toko takut produk baru tidak laku</a:t>
            </a:r>
            <a:endParaRPr lang="en-US" sz="1200" dirty="0"/>
          </a:p>
        </p:txBody>
      </p:sp>
      <p:sp>
        <p:nvSpPr>
          <p:cNvPr id="7" name="a2-k"/>
          <p:cNvSpPr/>
          <p:nvPr/>
        </p:nvSpPr>
        <p:spPr>
          <a:xfrm>
            <a:off x="1874520" y="2990088"/>
            <a:ext cx="164592" cy="914"/>
          </a:xfrm>
          <a:prstGeom prst="line">
            <a:avLst/>
          </a:prstGeom>
          <a:noFill/>
          <a:ln w="28575">
            <a:solidFill>
              <a:schemeClr val="tx1"/>
            </a:solidFill>
            <a:prstDash val="solid"/>
            <a:tailEnd type="triangle"/>
          </a:ln>
        </p:spPr>
      </p:sp>
      <p:sp>
        <p:nvSpPr>
          <p:cNvPr id="8" name="a2-k"/>
          <p:cNvSpPr txBox="1"/>
          <p:nvPr/>
        </p:nvSpPr>
        <p:spPr>
          <a:xfrm>
            <a:off x="2057400" y="1298448"/>
            <a:ext cx="1828800" cy="566928"/>
          </a:xfrm>
          <a:prstGeom prst="roundRect">
            <a:avLst>
              <a:gd name="adj" fmla="val 16129"/>
            </a:avLst>
          </a:prstGeom>
          <a:solidFill>
            <a:schemeClr val="accent1"/>
          </a:solidFill>
          <a:ln/>
        </p:spPr>
        <p:txBody>
          <a:bodyPr wrap="square" lIns="0" tIns="0" rIns="0" bIns="0" rtlCol="0" anchor="ctr"/>
          <a:lstStyle/>
          <a:p>
            <a:pPr marL="0" indent="0" algn="ctr">
              <a:buNone/>
            </a:pPr>
            <a:r>
              <a:rPr lang="en-US" sz="1300" b="1" kern="0" spc="100" dirty="0">
                <a:solidFill>
                  <a:schemeClr val="tx1"/>
                </a:solidFill>
              </a:rPr>
              <a:t>PROSES</a:t>
            </a:r>
            <a:endParaRPr lang="en-US" sz="1300" dirty="0"/>
          </a:p>
          <a:p>
            <a:pPr marL="0" indent="0" algn="ctr">
              <a:buNone/>
            </a:pPr>
            <a:r>
              <a:rPr lang="en-US" sz="1100" dirty="0">
                <a:solidFill>
                  <a:schemeClr val="tx1"/>
                </a:solidFill>
              </a:rPr>
              <a:t>Analisis + psikologi</a:t>
            </a:r>
            <a:endParaRPr lang="en-US" sz="1300" dirty="0"/>
          </a:p>
        </p:txBody>
      </p:sp>
      <p:sp>
        <p:nvSpPr>
          <p:cNvPr id="9" name="a2-k"/>
          <p:cNvSpPr/>
          <p:nvPr/>
        </p:nvSpPr>
        <p:spPr>
          <a:xfrm>
            <a:off x="2057400" y="1938528"/>
            <a:ext cx="1828800" cy="2103120"/>
          </a:xfrm>
          <a:prstGeom prst="roundRect">
            <a:avLst>
              <a:gd name="adj" fmla="val 6000"/>
            </a:avLst>
          </a:prstGeom>
          <a:solidFill>
            <a:schemeClr val="accent2"/>
          </a:solidFill>
          <a:ln/>
        </p:spPr>
      </p:sp>
      <p:sp>
        <p:nvSpPr>
          <p:cNvPr id="10" name="a2-k"/>
          <p:cNvSpPr txBox="1"/>
          <p:nvPr/>
        </p:nvSpPr>
        <p:spPr>
          <a:xfrm>
            <a:off x="2130552" y="2011680"/>
            <a:ext cx="1682496" cy="603504"/>
          </a:xfrm>
          <a:prstGeom prst="roundRect">
            <a:avLst>
              <a:gd name="adj" fmla="val 12121"/>
            </a:avLst>
          </a:prstGeom>
          <a:solidFill>
            <a:schemeClr val="tx1"/>
          </a:solidFill>
          <a:ln/>
        </p:spPr>
        <p:txBody>
          <a:bodyPr wrap="square" lIns="0" tIns="0" rIns="0" bIns="0" rtlCol="0" anchor="ctr"/>
          <a:lstStyle/>
          <a:p>
            <a:pPr marL="0" indent="0" algn="ctr">
              <a:buNone/>
            </a:pPr>
            <a:r>
              <a:rPr lang="en-US" sz="1200" b="1" dirty="0">
                <a:solidFill>
                  <a:schemeClr val="accent1"/>
                </a:solidFill>
              </a:rPr>
              <a:t>Baca Peluangnya</a:t>
            </a:r>
            <a:endParaRPr lang="en-US" sz="1200" dirty="0"/>
          </a:p>
          <a:p>
            <a:pPr marL="0" indent="0" algn="ctr">
              <a:buNone/>
            </a:pPr>
            <a:r>
              <a:rPr lang="en-US" sz="1100" dirty="0">
                <a:solidFill>
                  <a:schemeClr val="bg1"/>
                </a:solidFill>
              </a:rPr>
              <a:t>Analisis toko</a:t>
            </a:r>
            <a:endParaRPr lang="en-US" sz="1200" dirty="0"/>
          </a:p>
        </p:txBody>
      </p:sp>
      <p:sp>
        <p:nvSpPr>
          <p:cNvPr id="11" name="a2-k"/>
          <p:cNvSpPr txBox="1"/>
          <p:nvPr/>
        </p:nvSpPr>
        <p:spPr>
          <a:xfrm>
            <a:off x="2130552" y="2679192"/>
            <a:ext cx="1682496" cy="603504"/>
          </a:xfrm>
          <a:prstGeom prst="roundRect">
            <a:avLst>
              <a:gd name="adj" fmla="val 12121"/>
            </a:avLst>
          </a:prstGeom>
          <a:solidFill>
            <a:schemeClr val="tx1"/>
          </a:solidFill>
          <a:ln/>
        </p:spPr>
        <p:txBody>
          <a:bodyPr wrap="square" lIns="0" tIns="0" rIns="0" bIns="0" rtlCol="0" anchor="ctr"/>
          <a:lstStyle/>
          <a:p>
            <a:pPr marL="0" indent="0" algn="ctr">
              <a:buNone/>
            </a:pPr>
            <a:r>
              <a:rPr lang="en-US" sz="1200" b="1" dirty="0">
                <a:solidFill>
                  <a:schemeClr val="accent1"/>
                </a:solidFill>
              </a:rPr>
              <a:t>Tunjukkan Nilainya</a:t>
            </a:r>
            <a:endParaRPr lang="en-US" sz="1200" dirty="0"/>
          </a:p>
          <a:p>
            <a:pPr marL="0" indent="0" algn="ctr">
              <a:buNone/>
            </a:pPr>
            <a:r>
              <a:rPr lang="en-US" sz="1100" dirty="0">
                <a:solidFill>
                  <a:schemeClr val="bg1"/>
                </a:solidFill>
              </a:rPr>
              <a:t>Proposisi nilai</a:t>
            </a:r>
            <a:endParaRPr lang="en-US" sz="1200" dirty="0"/>
          </a:p>
        </p:txBody>
      </p:sp>
      <p:sp>
        <p:nvSpPr>
          <p:cNvPr id="12" name="a2-k"/>
          <p:cNvSpPr txBox="1"/>
          <p:nvPr/>
        </p:nvSpPr>
        <p:spPr>
          <a:xfrm>
            <a:off x="2130552" y="3346704"/>
            <a:ext cx="1682496" cy="603504"/>
          </a:xfrm>
          <a:prstGeom prst="roundRect">
            <a:avLst>
              <a:gd name="adj" fmla="val 12121"/>
            </a:avLst>
          </a:prstGeom>
          <a:solidFill>
            <a:schemeClr val="tx1"/>
          </a:solidFill>
          <a:ln/>
        </p:spPr>
        <p:txBody>
          <a:bodyPr wrap="square" lIns="0" tIns="0" rIns="0" bIns="0" rtlCol="0" anchor="ctr"/>
          <a:lstStyle/>
          <a:p>
            <a:pPr marL="0" indent="0" algn="ctr">
              <a:buNone/>
            </a:pPr>
            <a:r>
              <a:rPr lang="en-US" sz="1200" b="1" dirty="0">
                <a:solidFill>
                  <a:schemeClr val="accent1"/>
                </a:solidFill>
              </a:rPr>
              <a:t>Raih Kepercayaannya</a:t>
            </a:r>
            <a:endParaRPr lang="en-US" sz="1200" dirty="0"/>
          </a:p>
          <a:p>
            <a:pPr marL="0" indent="0" algn="ctr">
              <a:buNone/>
            </a:pPr>
            <a:r>
              <a:rPr lang="en-US" sz="1100" dirty="0">
                <a:solidFill>
                  <a:schemeClr val="bg1"/>
                </a:solidFill>
              </a:rPr>
              <a:t>Penanganan keberatan</a:t>
            </a:r>
            <a:endParaRPr lang="en-US" sz="1200" dirty="0"/>
          </a:p>
        </p:txBody>
      </p:sp>
      <p:sp>
        <p:nvSpPr>
          <p:cNvPr id="13" name="a3-k"/>
          <p:cNvSpPr/>
          <p:nvPr/>
        </p:nvSpPr>
        <p:spPr>
          <a:xfrm>
            <a:off x="3904488" y="2990088"/>
            <a:ext cx="164592" cy="914"/>
          </a:xfrm>
          <a:prstGeom prst="line">
            <a:avLst/>
          </a:prstGeom>
          <a:noFill/>
          <a:ln w="28575">
            <a:solidFill>
              <a:schemeClr val="tx1"/>
            </a:solidFill>
            <a:prstDash val="solid"/>
            <a:tailEnd type="triangle"/>
          </a:ln>
        </p:spPr>
      </p:sp>
      <p:sp>
        <p:nvSpPr>
          <p:cNvPr id="14" name="a3-k"/>
          <p:cNvSpPr txBox="1"/>
          <p:nvPr/>
        </p:nvSpPr>
        <p:spPr>
          <a:xfrm>
            <a:off x="4087368" y="1298448"/>
            <a:ext cx="1399032" cy="566928"/>
          </a:xfrm>
          <a:prstGeom prst="roundRect">
            <a:avLst>
              <a:gd name="adj" fmla="val 16129"/>
            </a:avLst>
          </a:prstGeom>
          <a:solidFill>
            <a:schemeClr val="tx1"/>
          </a:solidFill>
          <a:ln/>
        </p:spPr>
        <p:txBody>
          <a:bodyPr wrap="square" lIns="0" tIns="0" rIns="0" bIns="0" rtlCol="0" anchor="ctr"/>
          <a:lstStyle/>
          <a:p>
            <a:pPr marL="0" indent="0" algn="ctr">
              <a:buNone/>
            </a:pPr>
            <a:r>
              <a:rPr lang="en-US" sz="1300" b="1" kern="0" spc="100" dirty="0">
                <a:solidFill>
                  <a:schemeClr val="accent1"/>
                </a:solidFill>
              </a:rPr>
              <a:t>OUTPUT</a:t>
            </a:r>
            <a:endParaRPr lang="en-US" sz="1300" dirty="0"/>
          </a:p>
          <a:p>
            <a:pPr marL="0" indent="0" algn="ctr">
              <a:buNone/>
            </a:pPr>
            <a:r>
              <a:rPr lang="en-US" sz="1100" dirty="0">
                <a:solidFill>
                  <a:schemeClr val="bg1"/>
                </a:solidFill>
              </a:rPr>
              <a:t>Kompetensi sales</a:t>
            </a:r>
            <a:endParaRPr lang="en-US" sz="1300" dirty="0"/>
          </a:p>
        </p:txBody>
      </p:sp>
      <p:sp>
        <p:nvSpPr>
          <p:cNvPr id="15" name="a3-k"/>
          <p:cNvSpPr/>
          <p:nvPr/>
        </p:nvSpPr>
        <p:spPr>
          <a:xfrm>
            <a:off x="4087368" y="1938528"/>
            <a:ext cx="1399032" cy="2103120"/>
          </a:xfrm>
          <a:prstGeom prst="roundRect">
            <a:avLst>
              <a:gd name="adj" fmla="val 7843"/>
            </a:avLst>
          </a:prstGeom>
          <a:solidFill>
            <a:schemeClr val="bg2"/>
          </a:solidFill>
          <a:ln/>
        </p:spPr>
      </p:sp>
      <p:sp>
        <p:nvSpPr>
          <p:cNvPr id="16" name="a3-k"/>
          <p:cNvSpPr txBox="1"/>
          <p:nvPr/>
        </p:nvSpPr>
        <p:spPr>
          <a:xfrm>
            <a:off x="4160520" y="2057400"/>
            <a:ext cx="1271016" cy="1920240"/>
          </a:xfrm>
          <a:prstGeom prst="rect">
            <a:avLst/>
          </a:prstGeom>
          <a:noFill/>
          <a:ln/>
        </p:spPr>
        <p:txBody>
          <a:bodyPr wrap="square" lIns="0" tIns="0" rIns="0" bIns="0" rtlCol="0" anchor="t"/>
          <a:lstStyle/>
          <a:p>
            <a:pPr marL="127000" indent="-127000">
              <a:spcAft>
                <a:spcPts val="800"/>
              </a:spcAft>
              <a:buSzPct val="100000"/>
              <a:buChar char="•"/>
            </a:pPr>
            <a:r>
              <a:rPr lang="en-US" sz="1200" dirty="0">
                <a:solidFill>
                  <a:schemeClr val="tx1"/>
                </a:solidFill>
              </a:rPr>
              <a:t>Memetakan dan memprioritaskan toko</a:t>
            </a:r>
            <a:endParaRPr lang="en-US" sz="1200" dirty="0"/>
          </a:p>
          <a:p>
            <a:pPr marL="127000" indent="-127000">
              <a:spcAft>
                <a:spcPts val="800"/>
              </a:spcAft>
              <a:buSzPct val="100000"/>
              <a:buChar char="•"/>
            </a:pPr>
            <a:r>
              <a:rPr lang="en-US" sz="1200" dirty="0">
                <a:solidFill>
                  <a:schemeClr val="tx1"/>
                </a:solidFill>
              </a:rPr>
              <a:t>Menghitung untung toko</a:t>
            </a:r>
            <a:endParaRPr lang="en-US" sz="1200" dirty="0"/>
          </a:p>
          <a:p>
            <a:pPr marL="127000" indent="-127000">
              <a:spcAft>
                <a:spcPts val="800"/>
              </a:spcAft>
              <a:buSzPct val="100000"/>
              <a:buChar char="•"/>
            </a:pPr>
            <a:r>
              <a:rPr lang="en-US" sz="1200" dirty="0">
                <a:solidFill>
                  <a:schemeClr val="tx1"/>
                </a:solidFill>
              </a:rPr>
              <a:t>Menjawab keberatan sampai akarnya</a:t>
            </a:r>
            <a:endParaRPr lang="en-US" sz="1200" dirty="0"/>
          </a:p>
        </p:txBody>
      </p:sp>
      <p:sp>
        <p:nvSpPr>
          <p:cNvPr id="17" name="a4-k"/>
          <p:cNvSpPr/>
          <p:nvPr/>
        </p:nvSpPr>
        <p:spPr>
          <a:xfrm>
            <a:off x="5504688" y="2990088"/>
            <a:ext cx="164592" cy="914"/>
          </a:xfrm>
          <a:prstGeom prst="line">
            <a:avLst/>
          </a:prstGeom>
          <a:noFill/>
          <a:ln w="28575">
            <a:solidFill>
              <a:schemeClr val="tx1"/>
            </a:solidFill>
            <a:prstDash val="solid"/>
            <a:tailEnd type="triangle"/>
          </a:ln>
        </p:spPr>
      </p:sp>
      <p:sp>
        <p:nvSpPr>
          <p:cNvPr id="18" name="a4-k"/>
          <p:cNvSpPr txBox="1"/>
          <p:nvPr/>
        </p:nvSpPr>
        <p:spPr>
          <a:xfrm>
            <a:off x="5687568" y="1298448"/>
            <a:ext cx="1399032" cy="566928"/>
          </a:xfrm>
          <a:prstGeom prst="roundRect">
            <a:avLst>
              <a:gd name="adj" fmla="val 16129"/>
            </a:avLst>
          </a:prstGeom>
          <a:solidFill>
            <a:schemeClr val="tx1"/>
          </a:solidFill>
          <a:ln/>
        </p:spPr>
        <p:txBody>
          <a:bodyPr wrap="square" lIns="0" tIns="0" rIns="0" bIns="0" rtlCol="0" anchor="ctr"/>
          <a:lstStyle/>
          <a:p>
            <a:pPr marL="0" indent="0" algn="ctr">
              <a:buNone/>
            </a:pPr>
            <a:r>
              <a:rPr lang="en-US" sz="1300" b="1" kern="0" spc="100" dirty="0">
                <a:solidFill>
                  <a:schemeClr val="accent1"/>
                </a:solidFill>
              </a:rPr>
              <a:t>OUTCOME</a:t>
            </a:r>
            <a:endParaRPr lang="en-US" sz="1300" dirty="0"/>
          </a:p>
          <a:p>
            <a:pPr marL="0" indent="0" algn="ctr">
              <a:buNone/>
            </a:pPr>
            <a:r>
              <a:rPr lang="en-US" sz="1100" dirty="0">
                <a:solidFill>
                  <a:schemeClr val="bg1"/>
                </a:solidFill>
              </a:rPr>
              <a:t>Respons toko</a:t>
            </a:r>
            <a:endParaRPr lang="en-US" sz="1300" dirty="0"/>
          </a:p>
        </p:txBody>
      </p:sp>
      <p:sp>
        <p:nvSpPr>
          <p:cNvPr id="19" name="a4-k"/>
          <p:cNvSpPr/>
          <p:nvPr/>
        </p:nvSpPr>
        <p:spPr>
          <a:xfrm>
            <a:off x="5687568" y="1938528"/>
            <a:ext cx="1399032" cy="2103120"/>
          </a:xfrm>
          <a:prstGeom prst="roundRect">
            <a:avLst>
              <a:gd name="adj" fmla="val 7843"/>
            </a:avLst>
          </a:prstGeom>
          <a:solidFill>
            <a:schemeClr val="bg2"/>
          </a:solidFill>
          <a:ln/>
        </p:spPr>
      </p:sp>
      <p:sp>
        <p:nvSpPr>
          <p:cNvPr id="20" name="a4-k"/>
          <p:cNvSpPr txBox="1"/>
          <p:nvPr/>
        </p:nvSpPr>
        <p:spPr>
          <a:xfrm>
            <a:off x="5760720" y="2057400"/>
            <a:ext cx="1271016" cy="1920240"/>
          </a:xfrm>
          <a:prstGeom prst="rect">
            <a:avLst/>
          </a:prstGeom>
          <a:noFill/>
          <a:ln/>
        </p:spPr>
        <p:txBody>
          <a:bodyPr wrap="square" lIns="0" tIns="0" rIns="0" bIns="0" rtlCol="0" anchor="t"/>
          <a:lstStyle/>
          <a:p>
            <a:pPr marL="127000" indent="-127000">
              <a:spcAft>
                <a:spcPts val="800"/>
              </a:spcAft>
              <a:buSzPct val="100000"/>
              <a:buChar char="•"/>
            </a:pPr>
            <a:r>
              <a:rPr lang="en-US" sz="1200" dirty="0">
                <a:solidFill>
                  <a:schemeClr val="tx1"/>
                </a:solidFill>
              </a:rPr>
              <a:t>Toko mau uji coba</a:t>
            </a:r>
            <a:endParaRPr lang="en-US" sz="1200" dirty="0"/>
          </a:p>
          <a:p>
            <a:pPr marL="127000" indent="-127000">
              <a:spcAft>
                <a:spcPts val="800"/>
              </a:spcAft>
              <a:buSzPct val="100000"/>
              <a:buChar char="•"/>
            </a:pPr>
            <a:r>
              <a:rPr lang="en-US" sz="1200" dirty="0">
                <a:solidFill>
                  <a:schemeClr val="tx1"/>
                </a:solidFill>
              </a:rPr>
              <a:t>Produk habis dalam 2 minggu</a:t>
            </a:r>
            <a:endParaRPr lang="en-US" sz="1200" dirty="0"/>
          </a:p>
          <a:p>
            <a:pPr marL="127000" indent="-127000">
              <a:spcAft>
                <a:spcPts val="800"/>
              </a:spcAft>
              <a:buSzPct val="100000"/>
              <a:buChar char="•"/>
            </a:pPr>
            <a:r>
              <a:rPr lang="en-US" sz="1200" dirty="0">
                <a:solidFill>
                  <a:schemeClr val="tx1"/>
                </a:solidFill>
              </a:rPr>
              <a:t>Toko order ulang</a:t>
            </a:r>
            <a:endParaRPr lang="en-US" sz="1200" dirty="0"/>
          </a:p>
        </p:txBody>
      </p:sp>
      <p:sp>
        <p:nvSpPr>
          <p:cNvPr id="21" name="a5-k"/>
          <p:cNvSpPr/>
          <p:nvPr/>
        </p:nvSpPr>
        <p:spPr>
          <a:xfrm>
            <a:off x="7104888" y="2990088"/>
            <a:ext cx="164592" cy="914"/>
          </a:xfrm>
          <a:prstGeom prst="line">
            <a:avLst/>
          </a:prstGeom>
          <a:noFill/>
          <a:ln w="28575">
            <a:solidFill>
              <a:schemeClr val="tx1"/>
            </a:solidFill>
            <a:prstDash val="solid"/>
            <a:tailEnd type="triangle"/>
          </a:ln>
        </p:spPr>
      </p:sp>
      <p:sp>
        <p:nvSpPr>
          <p:cNvPr id="22" name="a5-k"/>
          <p:cNvSpPr txBox="1"/>
          <p:nvPr/>
        </p:nvSpPr>
        <p:spPr>
          <a:xfrm>
            <a:off x="7287768" y="1298448"/>
            <a:ext cx="1399032" cy="566928"/>
          </a:xfrm>
          <a:prstGeom prst="roundRect">
            <a:avLst>
              <a:gd name="adj" fmla="val 16129"/>
            </a:avLst>
          </a:prstGeom>
          <a:solidFill>
            <a:schemeClr val="tx1"/>
          </a:solidFill>
          <a:ln/>
        </p:spPr>
        <p:txBody>
          <a:bodyPr wrap="square" lIns="0" tIns="0" rIns="0" bIns="0" rtlCol="0" anchor="ctr"/>
          <a:lstStyle/>
          <a:p>
            <a:pPr marL="0" indent="0" algn="ctr">
              <a:buNone/>
            </a:pPr>
            <a:r>
              <a:rPr lang="en-US" sz="1300" b="1" kern="0" spc="100" dirty="0">
                <a:solidFill>
                  <a:schemeClr val="accent1"/>
                </a:solidFill>
              </a:rPr>
              <a:t>IMPACT</a:t>
            </a:r>
            <a:endParaRPr lang="en-US" sz="1300" dirty="0"/>
          </a:p>
          <a:p>
            <a:pPr marL="0" indent="0" algn="ctr">
              <a:buNone/>
            </a:pPr>
            <a:r>
              <a:rPr lang="en-US" sz="1100" dirty="0">
                <a:solidFill>
                  <a:schemeClr val="bg1"/>
                </a:solidFill>
              </a:rPr>
              <a:t>Dampak bisnis</a:t>
            </a:r>
            <a:endParaRPr lang="en-US" sz="1300" dirty="0"/>
          </a:p>
        </p:txBody>
      </p:sp>
      <p:sp>
        <p:nvSpPr>
          <p:cNvPr id="23" name="a5-k"/>
          <p:cNvSpPr/>
          <p:nvPr/>
        </p:nvSpPr>
        <p:spPr>
          <a:xfrm>
            <a:off x="7287768" y="1938528"/>
            <a:ext cx="1399032" cy="2103120"/>
          </a:xfrm>
          <a:prstGeom prst="roundRect">
            <a:avLst>
              <a:gd name="adj" fmla="val 7843"/>
            </a:avLst>
          </a:prstGeom>
          <a:solidFill>
            <a:schemeClr val="bg2"/>
          </a:solidFill>
          <a:ln/>
        </p:spPr>
      </p:sp>
      <p:sp>
        <p:nvSpPr>
          <p:cNvPr id="24" name="a5-k"/>
          <p:cNvSpPr txBox="1"/>
          <p:nvPr/>
        </p:nvSpPr>
        <p:spPr>
          <a:xfrm>
            <a:off x="7360920" y="2057400"/>
            <a:ext cx="1271016" cy="1920240"/>
          </a:xfrm>
          <a:prstGeom prst="rect">
            <a:avLst/>
          </a:prstGeom>
          <a:noFill/>
          <a:ln/>
        </p:spPr>
        <p:txBody>
          <a:bodyPr wrap="square" lIns="0" tIns="0" rIns="0" bIns="0" rtlCol="0" anchor="t"/>
          <a:lstStyle/>
          <a:p>
            <a:pPr marL="127000" indent="-127000">
              <a:spcAft>
                <a:spcPts val="800"/>
              </a:spcAft>
              <a:buSzPct val="100000"/>
              <a:buChar char="•"/>
            </a:pPr>
            <a:r>
              <a:rPr lang="en-US" sz="1200" dirty="0">
                <a:solidFill>
                  <a:schemeClr val="tx1"/>
                </a:solidFill>
              </a:rPr>
              <a:t>Volume non-semen naik</a:t>
            </a:r>
            <a:endParaRPr lang="en-US" sz="1200" dirty="0"/>
          </a:p>
          <a:p>
            <a:pPr marL="127000" indent="-127000">
              <a:spcAft>
                <a:spcPts val="800"/>
              </a:spcAft>
              <a:buSzPct val="100000"/>
              <a:buChar char="•"/>
            </a:pPr>
            <a:r>
              <a:rPr lang="en-US" sz="1200" dirty="0">
                <a:solidFill>
                  <a:schemeClr val="tx1"/>
                </a:solidFill>
              </a:rPr>
              <a:t>Pelanggan toko bertahan</a:t>
            </a:r>
            <a:endParaRPr lang="en-US" sz="1200" dirty="0"/>
          </a:p>
          <a:p>
            <a:pPr marL="127000" indent="-127000">
              <a:spcAft>
                <a:spcPts val="800"/>
              </a:spcAft>
              <a:buSzPct val="100000"/>
              <a:buChar char="•"/>
            </a:pPr>
            <a:r>
              <a:rPr lang="en-US" sz="1200" dirty="0">
                <a:solidFill>
                  <a:schemeClr val="tx1"/>
                </a:solidFill>
              </a:rPr>
              <a:t>Toko tumbuh, SID tumbuh</a:t>
            </a:r>
            <a:endParaRPr lang="en-US" sz="1200" dirty="0"/>
          </a:p>
        </p:txBody>
      </p:sp>
      <p:sp>
        <p:nvSpPr>
          <p:cNvPr id="25" name="a6-sup"/>
          <p:cNvSpPr txBox="1"/>
          <p:nvPr/>
        </p:nvSpPr>
        <p:spPr>
          <a:xfrm>
            <a:off x="457200" y="4160520"/>
            <a:ext cx="8229600" cy="384048"/>
          </a:xfrm>
          <a:prstGeom prst="roundRect">
            <a:avLst>
              <a:gd name="adj" fmla="val 28571"/>
            </a:avLst>
          </a:prstGeom>
          <a:solidFill>
            <a:schemeClr val="accent1"/>
          </a:solidFill>
          <a:ln/>
        </p:spPr>
        <p:txBody>
          <a:bodyPr wrap="square" lIns="0" tIns="0" rIns="0" bIns="0" rtlCol="0" anchor="ctr"/>
          <a:lstStyle/>
          <a:p>
            <a:pPr marL="0" indent="0" algn="ctr">
              <a:buNone/>
            </a:pPr>
            <a:r>
              <a:rPr lang="en-US" sz="1300" b="1" dirty="0">
                <a:solidFill>
                  <a:schemeClr val="tx1"/>
                </a:solidFill>
              </a:rPr>
              <a:t>Pendukung:  </a:t>
            </a:r>
            <a:r>
              <a:rPr lang="en-US" sz="1300" dirty="0">
                <a:solidFill>
                  <a:schemeClr val="tx1"/>
                </a:solidFill>
              </a:rPr>
              <a:t>Lembar analisis toko  ·  Klinik mingguan  ·  Pendampingan supervisor  ·  Rubrik penilaian</a:t>
            </a:r>
            <a:endParaRPr lang="en-US" sz="1300" dirty="0"/>
          </a:p>
        </p:txBody>
      </p:sp>
      <p:sp>
        <p:nvSpPr>
          <p:cNvPr id="2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400"/>
                            </p:stCondLst>
                            <p:childTnLst>
                              <p:par>
                                <p:cTn id="15" presetID="10"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par>
                          <p:cTn id="33" fill="hold">
                            <p:stCondLst>
                              <p:cond delay="800"/>
                            </p:stCondLst>
                            <p:childTnLst>
                              <p:par>
                                <p:cTn id="34" presetID="10"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par>
                          <p:cTn id="46" fill="hold">
                            <p:stCondLst>
                              <p:cond delay="1200"/>
                            </p:stCondLst>
                            <p:childTnLst>
                              <p:par>
                                <p:cTn id="47" presetID="10" presetClass="entr" presetSubtype="0" fill="hold"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par>
                          <p:cTn id="59" fill="hold">
                            <p:stCondLst>
                              <p:cond delay="1600"/>
                            </p:stCondLst>
                            <p:childTnLst>
                              <p:par>
                                <p:cTn id="60" presetID="10" presetClass="entr" presetSubtype="0" fill="hold" nodeType="after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000"/>
                            </p:stCondLst>
                            <p:childTnLst>
                              <p:par>
                                <p:cTn id="73" presetID="10" presetClass="entr" presetSubtype="0" fill="hold"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Rancangan Pelaksanaan</a:t>
            </a:r>
            <a:endParaRPr lang="en-US" sz="2800" dirty="0"/>
          </a:p>
        </p:txBody>
      </p:sp>
      <p:sp>
        <p:nvSpPr>
          <p:cNvPr id="3" name="pill"/>
          <p:cNvSpPr txBox="1"/>
          <p:nvPr/>
        </p:nvSpPr>
        <p:spPr>
          <a:xfrm>
            <a:off x="457200" y="237744"/>
            <a:ext cx="188915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KONSEP  ·  PELAKSANAAN</a:t>
            </a:r>
            <a:endParaRPr lang="en-US" sz="1000" dirty="0"/>
          </a:p>
        </p:txBody>
      </p:sp>
      <p:sp>
        <p:nvSpPr>
          <p:cNvPr id="4" name="a1-i"/>
          <p:cNvSpPr/>
          <p:nvPr/>
        </p:nvSpPr>
        <p:spPr>
          <a:xfrm>
            <a:off x="457200" y="1325880"/>
            <a:ext cx="3108960" cy="914400"/>
          </a:xfrm>
          <a:prstGeom prst="roundRect">
            <a:avLst>
              <a:gd name="adj" fmla="val 12000"/>
            </a:avLst>
          </a:prstGeom>
          <a:solidFill>
            <a:schemeClr val="bg2"/>
          </a:solidFill>
          <a:ln/>
        </p:spPr>
      </p:sp>
      <p:sp>
        <p:nvSpPr>
          <p:cNvPr id="5" name="a1-i"/>
          <p:cNvSpPr/>
          <p:nvPr/>
        </p:nvSpPr>
        <p:spPr>
          <a:xfrm>
            <a:off x="594360" y="1508760"/>
            <a:ext cx="548640" cy="548640"/>
          </a:xfrm>
          <a:prstGeom prst="ellipse">
            <a:avLst/>
          </a:prstGeom>
          <a:solidFill>
            <a:schemeClr val="accent1"/>
          </a:solidFill>
          <a:ln/>
        </p:spPr>
      </p:sp>
      <p:pic>
        <p:nvPicPr>
          <p:cNvPr id="6" name="a1-i" descr="preencoded.png"/>
          <p:cNvPicPr>
            <a:picLocks noChangeAspect="1"/>
          </p:cNvPicPr>
          <p:nvPr/>
        </p:nvPicPr>
        <p:blipFill>
          <a:blip r:embed="rId3"/>
          <a:stretch>
            <a:fillRect/>
          </a:stretch>
        </p:blipFill>
        <p:spPr>
          <a:xfrm>
            <a:off x="737006" y="1651406"/>
            <a:ext cx="263347" cy="263347"/>
          </a:xfrm>
          <a:prstGeom prst="rect">
            <a:avLst/>
          </a:prstGeom>
        </p:spPr>
      </p:pic>
      <p:sp>
        <p:nvSpPr>
          <p:cNvPr id="7" name="a1-i"/>
          <p:cNvSpPr txBox="1"/>
          <p:nvPr/>
        </p:nvSpPr>
        <p:spPr>
          <a:xfrm>
            <a:off x="1280160" y="1399032"/>
            <a:ext cx="2194560" cy="777240"/>
          </a:xfrm>
          <a:prstGeom prst="rect">
            <a:avLst/>
          </a:prstGeom>
          <a:noFill/>
          <a:ln/>
        </p:spPr>
        <p:txBody>
          <a:bodyPr wrap="square" lIns="0" tIns="0" rIns="0" bIns="0" rtlCol="0" anchor="ctr"/>
          <a:lstStyle/>
          <a:p>
            <a:pPr marL="0" indent="0">
              <a:buNone/>
            </a:pPr>
            <a:r>
              <a:rPr lang="en-US" sz="1100" b="1" kern="0" spc="100" dirty="0">
                <a:solidFill>
                  <a:schemeClr val="accent3"/>
                </a:solidFill>
              </a:rPr>
              <a:t>PESERTA</a:t>
            </a:r>
            <a:endParaRPr lang="en-US" sz="1400" dirty="0"/>
          </a:p>
          <a:p>
            <a:pPr marL="0" indent="0">
              <a:buNone/>
            </a:pPr>
            <a:r>
              <a:rPr lang="en-US" sz="1400" b="1" dirty="0">
                <a:solidFill>
                  <a:schemeClr val="tx1"/>
                </a:solidFill>
              </a:rPr>
              <a:t>Sales SID yang menangani toko bahan bangunan</a:t>
            </a:r>
            <a:endParaRPr lang="en-US" sz="1400" dirty="0"/>
          </a:p>
        </p:txBody>
      </p:sp>
      <p:sp>
        <p:nvSpPr>
          <p:cNvPr id="8" name="a2-i"/>
          <p:cNvSpPr/>
          <p:nvPr/>
        </p:nvSpPr>
        <p:spPr>
          <a:xfrm>
            <a:off x="457200" y="2377440"/>
            <a:ext cx="3108960" cy="914400"/>
          </a:xfrm>
          <a:prstGeom prst="roundRect">
            <a:avLst>
              <a:gd name="adj" fmla="val 12000"/>
            </a:avLst>
          </a:prstGeom>
          <a:solidFill>
            <a:schemeClr val="bg2"/>
          </a:solidFill>
          <a:ln/>
        </p:spPr>
      </p:sp>
      <p:sp>
        <p:nvSpPr>
          <p:cNvPr id="9" name="a2-i"/>
          <p:cNvSpPr/>
          <p:nvPr/>
        </p:nvSpPr>
        <p:spPr>
          <a:xfrm>
            <a:off x="594360" y="2560320"/>
            <a:ext cx="548640" cy="548640"/>
          </a:xfrm>
          <a:prstGeom prst="ellipse">
            <a:avLst/>
          </a:prstGeom>
          <a:solidFill>
            <a:schemeClr val="accent1"/>
          </a:solidFill>
          <a:ln/>
        </p:spPr>
      </p:sp>
      <p:pic>
        <p:nvPicPr>
          <p:cNvPr id="10" name="a2-i" descr="preencoded.png"/>
          <p:cNvPicPr>
            <a:picLocks noChangeAspect="1"/>
          </p:cNvPicPr>
          <p:nvPr/>
        </p:nvPicPr>
        <p:blipFill>
          <a:blip r:embed="rId4"/>
          <a:stretch>
            <a:fillRect/>
          </a:stretch>
        </p:blipFill>
        <p:spPr>
          <a:xfrm>
            <a:off x="737006" y="2702966"/>
            <a:ext cx="263347" cy="263347"/>
          </a:xfrm>
          <a:prstGeom prst="rect">
            <a:avLst/>
          </a:prstGeom>
        </p:spPr>
      </p:pic>
      <p:sp>
        <p:nvSpPr>
          <p:cNvPr id="11" name="a2-i"/>
          <p:cNvSpPr txBox="1"/>
          <p:nvPr/>
        </p:nvSpPr>
        <p:spPr>
          <a:xfrm>
            <a:off x="1280160" y="2450592"/>
            <a:ext cx="2194560" cy="777240"/>
          </a:xfrm>
          <a:prstGeom prst="rect">
            <a:avLst/>
          </a:prstGeom>
          <a:noFill/>
          <a:ln/>
        </p:spPr>
        <p:txBody>
          <a:bodyPr wrap="square" lIns="0" tIns="0" rIns="0" bIns="0" rtlCol="0" anchor="ctr"/>
          <a:lstStyle/>
          <a:p>
            <a:pPr marL="0" indent="0">
              <a:buNone/>
            </a:pPr>
            <a:r>
              <a:rPr lang="en-US" sz="1100" b="1" kern="0" spc="100" dirty="0">
                <a:solidFill>
                  <a:schemeClr val="accent3"/>
                </a:solidFill>
              </a:rPr>
              <a:t>FORMAT</a:t>
            </a:r>
            <a:endParaRPr lang="en-US" sz="1400" dirty="0"/>
          </a:p>
          <a:p>
            <a:pPr marL="0" indent="0">
              <a:buNone/>
            </a:pPr>
            <a:r>
              <a:rPr lang="en-US" sz="1400" b="1" dirty="0">
                <a:solidFill>
                  <a:schemeClr val="tx1"/>
                </a:solidFill>
              </a:rPr>
              <a:t>1 hari kelas + 1 bulan praktik lapangan</a:t>
            </a:r>
            <a:endParaRPr lang="en-US" sz="1400" dirty="0"/>
          </a:p>
        </p:txBody>
      </p:sp>
      <p:sp>
        <p:nvSpPr>
          <p:cNvPr id="12" name="a3-i"/>
          <p:cNvSpPr/>
          <p:nvPr/>
        </p:nvSpPr>
        <p:spPr>
          <a:xfrm>
            <a:off x="457200" y="3429000"/>
            <a:ext cx="3108960" cy="914400"/>
          </a:xfrm>
          <a:prstGeom prst="roundRect">
            <a:avLst>
              <a:gd name="adj" fmla="val 12000"/>
            </a:avLst>
          </a:prstGeom>
          <a:solidFill>
            <a:schemeClr val="bg2"/>
          </a:solidFill>
          <a:ln/>
        </p:spPr>
      </p:sp>
      <p:sp>
        <p:nvSpPr>
          <p:cNvPr id="13" name="a3-i"/>
          <p:cNvSpPr/>
          <p:nvPr/>
        </p:nvSpPr>
        <p:spPr>
          <a:xfrm>
            <a:off x="594360" y="3611880"/>
            <a:ext cx="548640" cy="548640"/>
          </a:xfrm>
          <a:prstGeom prst="ellipse">
            <a:avLst/>
          </a:prstGeom>
          <a:solidFill>
            <a:schemeClr val="accent1"/>
          </a:solidFill>
          <a:ln/>
        </p:spPr>
      </p:sp>
      <p:pic>
        <p:nvPicPr>
          <p:cNvPr id="14" name="a3-i" descr="preencoded.png"/>
          <p:cNvPicPr>
            <a:picLocks noChangeAspect="1"/>
          </p:cNvPicPr>
          <p:nvPr/>
        </p:nvPicPr>
        <p:blipFill>
          <a:blip r:embed="rId5"/>
          <a:stretch>
            <a:fillRect/>
          </a:stretch>
        </p:blipFill>
        <p:spPr>
          <a:xfrm>
            <a:off x="737006" y="3754526"/>
            <a:ext cx="263347" cy="263347"/>
          </a:xfrm>
          <a:prstGeom prst="rect">
            <a:avLst/>
          </a:prstGeom>
        </p:spPr>
      </p:pic>
      <p:sp>
        <p:nvSpPr>
          <p:cNvPr id="15" name="a3-i"/>
          <p:cNvSpPr txBox="1"/>
          <p:nvPr/>
        </p:nvSpPr>
        <p:spPr>
          <a:xfrm>
            <a:off x="1280160" y="3502152"/>
            <a:ext cx="2194560" cy="777240"/>
          </a:xfrm>
          <a:prstGeom prst="rect">
            <a:avLst/>
          </a:prstGeom>
          <a:noFill/>
          <a:ln/>
        </p:spPr>
        <p:txBody>
          <a:bodyPr wrap="square" lIns="0" tIns="0" rIns="0" bIns="0" rtlCol="0" anchor="ctr"/>
          <a:lstStyle/>
          <a:p>
            <a:pPr marL="0" indent="0">
              <a:buNone/>
            </a:pPr>
            <a:r>
              <a:rPr lang="en-US" sz="1100" b="1" kern="0" spc="100" dirty="0">
                <a:solidFill>
                  <a:schemeClr val="accent3"/>
                </a:solidFill>
              </a:rPr>
              <a:t>METODE</a:t>
            </a:r>
            <a:endParaRPr lang="en-US" sz="1400" dirty="0"/>
          </a:p>
          <a:p>
            <a:pPr marL="0" indent="0">
              <a:buNone/>
            </a:pPr>
            <a:r>
              <a:rPr lang="en-US" sz="1400" b="1" dirty="0">
                <a:solidFill>
                  <a:schemeClr val="tx1"/>
                </a:solidFill>
              </a:rPr>
              <a:t>Materi, studi kasus, role play, dan pendampingan</a:t>
            </a:r>
            <a:endParaRPr lang="en-US" sz="1400" dirty="0"/>
          </a:p>
        </p:txBody>
      </p:sp>
      <p:sp>
        <p:nvSpPr>
          <p:cNvPr id="16" name="a4-t"/>
          <p:cNvSpPr/>
          <p:nvPr/>
        </p:nvSpPr>
        <p:spPr>
          <a:xfrm>
            <a:off x="4114800" y="1554480"/>
            <a:ext cx="0" cy="2514600"/>
          </a:xfrm>
          <a:prstGeom prst="line">
            <a:avLst/>
          </a:prstGeom>
          <a:noFill/>
          <a:ln w="31750">
            <a:solidFill>
              <a:schemeClr val="tx1"/>
            </a:solidFill>
            <a:prstDash val="solid"/>
          </a:ln>
        </p:spPr>
      </p:sp>
      <p:sp>
        <p:nvSpPr>
          <p:cNvPr id="17" name="a4-t"/>
          <p:cNvSpPr/>
          <p:nvPr/>
        </p:nvSpPr>
        <p:spPr>
          <a:xfrm>
            <a:off x="3959352" y="1399032"/>
            <a:ext cx="310896" cy="310896"/>
          </a:xfrm>
          <a:prstGeom prst="ellipse">
            <a:avLst/>
          </a:prstGeom>
          <a:solidFill>
            <a:schemeClr val="accent1"/>
          </a:solidFill>
          <a:ln w="25400">
            <a:solidFill>
              <a:schemeClr val="bg1"/>
            </a:solidFill>
            <a:prstDash val="solid"/>
          </a:ln>
        </p:spPr>
      </p:sp>
      <p:sp>
        <p:nvSpPr>
          <p:cNvPr id="18" name="a4-t"/>
          <p:cNvSpPr txBox="1"/>
          <p:nvPr/>
        </p:nvSpPr>
        <p:spPr>
          <a:xfrm>
            <a:off x="4480560" y="1344168"/>
            <a:ext cx="4206240" cy="749808"/>
          </a:xfrm>
          <a:prstGeom prst="rect">
            <a:avLst/>
          </a:prstGeom>
          <a:noFill/>
          <a:ln/>
        </p:spPr>
        <p:txBody>
          <a:bodyPr wrap="square" lIns="0" tIns="0" rIns="0" bIns="0" rtlCol="0" anchor="t"/>
          <a:lstStyle/>
          <a:p>
            <a:pPr marL="0" indent="0">
              <a:buNone/>
            </a:pPr>
            <a:r>
              <a:rPr lang="en-US" sz="1200" b="1" kern="0" spc="100" dirty="0">
                <a:solidFill>
                  <a:schemeClr val="tx1"/>
                </a:solidFill>
              </a:rPr>
              <a:t>HARI 1  ·  KELAS</a:t>
            </a:r>
            <a:endParaRPr lang="en-US" sz="1400" dirty="0"/>
          </a:p>
          <a:p>
            <a:pPr marL="0" indent="0">
              <a:buNone/>
            </a:pPr>
            <a:r>
              <a:rPr lang="en-US" sz="1300" dirty="0">
                <a:solidFill>
                  <a:schemeClr val="tx2"/>
                </a:solidFill>
              </a:rPr>
              <a:t>Modul 1 (2 jam), Modul 2 (2 jam), Modul 3 (2,5 jam), role play dan rencana aksi (1 jam).</a:t>
            </a:r>
            <a:endParaRPr lang="en-US" sz="1400" dirty="0"/>
          </a:p>
        </p:txBody>
      </p:sp>
      <p:sp>
        <p:nvSpPr>
          <p:cNvPr id="19" name="a5-t"/>
          <p:cNvSpPr/>
          <p:nvPr/>
        </p:nvSpPr>
        <p:spPr>
          <a:xfrm>
            <a:off x="3959352" y="2203704"/>
            <a:ext cx="310896" cy="310896"/>
          </a:xfrm>
          <a:prstGeom prst="ellipse">
            <a:avLst/>
          </a:prstGeom>
          <a:solidFill>
            <a:schemeClr val="accent1"/>
          </a:solidFill>
          <a:ln w="25400">
            <a:solidFill>
              <a:schemeClr val="bg1"/>
            </a:solidFill>
            <a:prstDash val="solid"/>
          </a:ln>
        </p:spPr>
      </p:sp>
      <p:sp>
        <p:nvSpPr>
          <p:cNvPr id="20" name="a5-t"/>
          <p:cNvSpPr txBox="1"/>
          <p:nvPr/>
        </p:nvSpPr>
        <p:spPr>
          <a:xfrm>
            <a:off x="4480560" y="2148840"/>
            <a:ext cx="4206240" cy="749808"/>
          </a:xfrm>
          <a:prstGeom prst="rect">
            <a:avLst/>
          </a:prstGeom>
          <a:noFill/>
          <a:ln/>
        </p:spPr>
        <p:txBody>
          <a:bodyPr wrap="square" lIns="0" tIns="0" rIns="0" bIns="0" rtlCol="0" anchor="t"/>
          <a:lstStyle/>
          <a:p>
            <a:pPr marL="0" indent="0">
              <a:buNone/>
            </a:pPr>
            <a:r>
              <a:rPr lang="en-US" sz="1200" b="1" kern="0" spc="100" dirty="0">
                <a:solidFill>
                  <a:schemeClr val="tx1"/>
                </a:solidFill>
              </a:rPr>
              <a:t>MINGGU 1–4  ·  PRAKTIK</a:t>
            </a:r>
            <a:endParaRPr lang="en-US" sz="1400" dirty="0"/>
          </a:p>
          <a:p>
            <a:pPr marL="0" indent="0">
              <a:buNone/>
            </a:pPr>
            <a:r>
              <a:rPr lang="en-US" sz="1300" dirty="0">
                <a:solidFill>
                  <a:schemeClr val="tx2"/>
                </a:solidFill>
              </a:rPr>
              <a:t>Setiap sales menggarap 5 toko target, didampingi supervisor.</a:t>
            </a:r>
            <a:endParaRPr lang="en-US" sz="1400" dirty="0"/>
          </a:p>
        </p:txBody>
      </p:sp>
      <p:sp>
        <p:nvSpPr>
          <p:cNvPr id="21" name="a6-t"/>
          <p:cNvSpPr/>
          <p:nvPr/>
        </p:nvSpPr>
        <p:spPr>
          <a:xfrm>
            <a:off x="3959352" y="3008376"/>
            <a:ext cx="310896" cy="310896"/>
          </a:xfrm>
          <a:prstGeom prst="ellipse">
            <a:avLst/>
          </a:prstGeom>
          <a:solidFill>
            <a:schemeClr val="accent1"/>
          </a:solidFill>
          <a:ln w="25400">
            <a:solidFill>
              <a:schemeClr val="bg1"/>
            </a:solidFill>
            <a:prstDash val="solid"/>
          </a:ln>
        </p:spPr>
      </p:sp>
      <p:sp>
        <p:nvSpPr>
          <p:cNvPr id="22" name="a6-t"/>
          <p:cNvSpPr txBox="1"/>
          <p:nvPr/>
        </p:nvSpPr>
        <p:spPr>
          <a:xfrm>
            <a:off x="4480560" y="2953512"/>
            <a:ext cx="4206240" cy="749808"/>
          </a:xfrm>
          <a:prstGeom prst="rect">
            <a:avLst/>
          </a:prstGeom>
          <a:noFill/>
          <a:ln/>
        </p:spPr>
        <p:txBody>
          <a:bodyPr wrap="square" lIns="0" tIns="0" rIns="0" bIns="0" rtlCol="0" anchor="t"/>
          <a:lstStyle/>
          <a:p>
            <a:pPr marL="0" indent="0">
              <a:buNone/>
            </a:pPr>
            <a:r>
              <a:rPr lang="en-US" sz="1200" b="1" kern="0" spc="100" dirty="0">
                <a:solidFill>
                  <a:schemeClr val="tx1"/>
                </a:solidFill>
              </a:rPr>
              <a:t>SETIAP MINGGU  ·  KLINIK</a:t>
            </a:r>
            <a:endParaRPr lang="en-US" sz="1400" dirty="0"/>
          </a:p>
          <a:p>
            <a:pPr marL="0" indent="0">
              <a:buNone/>
            </a:pPr>
            <a:r>
              <a:rPr lang="en-US" sz="1300" dirty="0">
                <a:solidFill>
                  <a:schemeClr val="tx2"/>
                </a:solidFill>
              </a:rPr>
              <a:t>30 menit berbagi keberatan baru dan jawaban yang berhasil.</a:t>
            </a:r>
            <a:endParaRPr lang="en-US" sz="1400" dirty="0"/>
          </a:p>
        </p:txBody>
      </p:sp>
      <p:sp>
        <p:nvSpPr>
          <p:cNvPr id="23" name="a7-t"/>
          <p:cNvSpPr/>
          <p:nvPr/>
        </p:nvSpPr>
        <p:spPr>
          <a:xfrm>
            <a:off x="3959352" y="3813048"/>
            <a:ext cx="310896" cy="310896"/>
          </a:xfrm>
          <a:prstGeom prst="ellipse">
            <a:avLst/>
          </a:prstGeom>
          <a:solidFill>
            <a:schemeClr val="tx1"/>
          </a:solidFill>
          <a:ln w="25400">
            <a:solidFill>
              <a:schemeClr val="bg1"/>
            </a:solidFill>
            <a:prstDash val="solid"/>
          </a:ln>
        </p:spPr>
      </p:sp>
      <p:sp>
        <p:nvSpPr>
          <p:cNvPr id="24" name="a7-t"/>
          <p:cNvSpPr txBox="1"/>
          <p:nvPr/>
        </p:nvSpPr>
        <p:spPr>
          <a:xfrm>
            <a:off x="4480560" y="3758184"/>
            <a:ext cx="4206240" cy="749808"/>
          </a:xfrm>
          <a:prstGeom prst="rect">
            <a:avLst/>
          </a:prstGeom>
          <a:noFill/>
          <a:ln/>
        </p:spPr>
        <p:txBody>
          <a:bodyPr wrap="square" lIns="0" tIns="0" rIns="0" bIns="0" rtlCol="0" anchor="t"/>
          <a:lstStyle/>
          <a:p>
            <a:pPr marL="0" indent="0">
              <a:buNone/>
            </a:pPr>
            <a:r>
              <a:rPr lang="en-US" sz="1200" b="1" kern="0" spc="100" dirty="0">
                <a:solidFill>
                  <a:schemeClr val="tx1"/>
                </a:solidFill>
              </a:rPr>
              <a:t>BULAN 3  ·  EVALUASI</a:t>
            </a:r>
            <a:endParaRPr lang="en-US" sz="1400" dirty="0"/>
          </a:p>
          <a:p>
            <a:pPr marL="0" indent="0">
              <a:buNone/>
            </a:pPr>
            <a:r>
              <a:rPr lang="en-US" sz="1300" dirty="0">
                <a:solidFill>
                  <a:schemeClr val="tx2"/>
                </a:solidFill>
              </a:rPr>
              <a:t>Review volume non-semen dan repeat order per sales.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4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30" fill="hold">
                            <p:stCondLst>
                              <p:cond delay="800"/>
                            </p:stCondLst>
                            <p:childTnLst>
                              <p:par>
                                <p:cTn id="31" presetID="10" presetClass="entr" presetSubtype="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par>
                          <p:cTn id="53" fill="hold">
                            <p:stCondLst>
                              <p:cond delay="1600"/>
                            </p:stCondLst>
                            <p:childTnLst>
                              <p:par>
                                <p:cTn id="54" presetID="10" presetClass="entr" presetSubtype="0"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par>
                          <p:cTn id="67" fill="hold">
                            <p:stCondLst>
                              <p:cond delay="2400"/>
                            </p:stCondLst>
                            <p:childTnLst>
                              <p:par>
                                <p:cTn id="68" presetID="10" presetClass="entr" presetSubtype="0" fill="hold"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234440"/>
            <a:ext cx="2743200" cy="365760"/>
          </a:xfrm>
          <a:prstGeom prst="rect">
            <a:avLst/>
          </a:prstGeom>
          <a:noFill/>
          <a:ln/>
        </p:spPr>
        <p:txBody>
          <a:bodyPr wrap="square" lIns="0" tIns="0" rIns="0" bIns="0" rtlCol="0" anchor="t"/>
          <a:lstStyle/>
          <a:p>
            <a:pPr marL="0" indent="0">
              <a:buNone/>
            </a:pPr>
            <a:r>
              <a:rPr lang="en-US" sz="1600" b="1" kern="0" spc="300" dirty="0">
                <a:solidFill>
                  <a:schemeClr val="accent1"/>
                </a:solidFill>
              </a:rPr>
              <a:t>LAMPIRAN</a:t>
            </a:r>
            <a:endParaRPr lang="en-US" sz="1600" dirty="0"/>
          </a:p>
        </p:txBody>
      </p:sp>
      <p:sp>
        <p:nvSpPr>
          <p:cNvPr id="3" name="Text 0"/>
          <p:cNvSpPr>
            <a:spLocks noGrp="1"/>
          </p:cNvSpPr>
          <p:nvPr>
            <p:ph type="title" idx="100" hasCustomPrompt="1"/>
          </p:nvPr>
        </p:nvSpPr>
        <p:spPr>
          <a:xfrm>
            <a:off x="548640" y="1874520"/>
            <a:ext cx="4846320" cy="1188720"/>
          </a:xfrm>
          <a:prstGeom prst="rect">
            <a:avLst/>
          </a:prstGeom>
          <a:noFill/>
          <a:ln/>
        </p:spPr>
        <p:txBody>
          <a:bodyPr wrap="square" lIns="0" tIns="0" rIns="0" bIns="0" rtlCol="0" anchor="t"/>
          <a:lstStyle/>
          <a:p>
            <a:pPr marL="0" indent="0" algn="l">
              <a:buNone/>
            </a:pPr>
            <a:r>
              <a:rPr lang="en-US" sz="3600" b="1" dirty="0">
                <a:solidFill>
                  <a:schemeClr val="accent1"/>
                </a:solidFill>
              </a:rPr>
              <a:t>Materi Pelatihan</a:t>
            </a:r>
            <a:endParaRPr lang="en-US" sz="3600" dirty="0"/>
          </a:p>
        </p:txBody>
      </p:sp>
      <p:sp>
        <p:nvSpPr>
          <p:cNvPr id="4" name="Text 0"/>
          <p:cNvSpPr>
            <a:spLocks noGrp="1"/>
          </p:cNvSpPr>
          <p:nvPr>
            <p:ph type="body" idx="101" hasCustomPrompt="1"/>
          </p:nvPr>
        </p:nvSpPr>
        <p:spPr>
          <a:xfrm>
            <a:off x="548640" y="3108960"/>
            <a:ext cx="4754880" cy="731520"/>
          </a:xfrm>
          <a:prstGeom prst="rect">
            <a:avLst/>
          </a:prstGeom>
          <a:noFill/>
          <a:ln/>
        </p:spPr>
        <p:txBody>
          <a:bodyPr wrap="square" lIns="0" tIns="0" rIns="0" bIns="0" rtlCol="0" anchor="t"/>
          <a:lstStyle/>
          <a:p>
            <a:pPr marL="0" indent="0" algn="l">
              <a:buNone/>
            </a:pPr>
            <a:r>
              <a:rPr lang="en-US" sz="1800" dirty="0">
                <a:solidFill>
                  <a:schemeClr val="bg1"/>
                </a:solidFill>
              </a:rPr>
              <a:t>Modul 1–3, alat kerja, dan rubrik role play.</a:t>
            </a:r>
            <a:endParaRPr lang="en-US" sz="1800" dirty="0"/>
          </a:p>
        </p:txBody>
      </p:sp>
      <p:pic>
        <p:nvPicPr>
          <p:cNvPr id="5" name="a1-illus" descr="preencoded.png"/>
          <p:cNvPicPr>
            <a:picLocks noChangeAspect="1"/>
          </p:cNvPicPr>
          <p:nvPr/>
        </p:nvPicPr>
        <p:blipFill>
          <a:blip r:embed="rId3"/>
          <a:stretch>
            <a:fillRect/>
          </a:stretch>
        </p:blipFill>
        <p:spPr>
          <a:xfrm>
            <a:off x="5212080" y="1463040"/>
            <a:ext cx="3474720" cy="2002536"/>
          </a:xfrm>
          <a:prstGeom prst="rect">
            <a:avLst/>
          </a:prstGeom>
        </p:spPr>
      </p:pic>
      <p:sp>
        <p:nvSpPr>
          <p:cNvPr id="6" name="a2-topics"/>
          <p:cNvSpPr txBox="1"/>
          <p:nvPr/>
        </p:nvSpPr>
        <p:spPr>
          <a:xfrm>
            <a:off x="548640" y="4343400"/>
            <a:ext cx="8138160" cy="274320"/>
          </a:xfrm>
          <a:prstGeom prst="rect">
            <a:avLst/>
          </a:prstGeom>
          <a:noFill/>
          <a:ln/>
        </p:spPr>
        <p:txBody>
          <a:bodyPr wrap="square" lIns="0" tIns="0" rIns="0" bIns="0" rtlCol="0" anchor="t"/>
          <a:lstStyle/>
          <a:p>
            <a:pPr marL="0" indent="0">
              <a:buNone/>
            </a:pPr>
            <a:r>
              <a:rPr lang="en-US" sz="1200" dirty="0">
                <a:solidFill>
                  <a:srgbClr val="BBBBBB"/>
                </a:solidFill>
              </a:rPr>
              <a:t>Baca Peluangnya  ·  Tunjukkan Nilainya  ·  Raih Kepercayaannya</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Peta Perjalanan Materi</a:t>
            </a:r>
            <a:endParaRPr lang="en-US" sz="2800" dirty="0"/>
          </a:p>
        </p:txBody>
      </p:sp>
      <p:sp>
        <p:nvSpPr>
          <p:cNvPr id="3" name="pill"/>
          <p:cNvSpPr txBox="1"/>
          <p:nvPr/>
        </p:nvSpPr>
        <p:spPr>
          <a:xfrm>
            <a:off x="457200" y="237744"/>
            <a:ext cx="2031797"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LAMPIRAN  ·  PETA MATERI</a:t>
            </a:r>
            <a:endParaRPr lang="en-US" sz="1000" dirty="0"/>
          </a:p>
        </p:txBody>
      </p:sp>
      <p:pic>
        <p:nvPicPr>
          <p:cNvPr id="4" name="a1-road" descr="preencoded.png"/>
          <p:cNvPicPr>
            <a:picLocks noChangeAspect="1"/>
          </p:cNvPicPr>
          <p:nvPr/>
        </p:nvPicPr>
        <p:blipFill>
          <a:blip r:embed="rId3"/>
          <a:stretch>
            <a:fillRect/>
          </a:stretch>
        </p:blipFill>
        <p:spPr>
          <a:xfrm>
            <a:off x="457200" y="1234440"/>
            <a:ext cx="8229600" cy="3291840"/>
          </a:xfrm>
          <a:prstGeom prst="rect">
            <a:avLst/>
          </a:prstGeom>
        </p:spPr>
      </p:pic>
      <p:sp>
        <p:nvSpPr>
          <p:cNvPr id="5" name="a2-p"/>
          <p:cNvSpPr txBox="1"/>
          <p:nvPr/>
        </p:nvSpPr>
        <p:spPr>
          <a:xfrm>
            <a:off x="1837223" y="2664048"/>
            <a:ext cx="640080" cy="640080"/>
          </a:xfrm>
          <a:prstGeom prst="ellipse">
            <a:avLst/>
          </a:prstGeom>
          <a:solidFill>
            <a:schemeClr val="accent1"/>
          </a:solidFill>
          <a:ln w="38100">
            <a:solidFill>
              <a:schemeClr val="bg1"/>
            </a:solidFill>
          </a:ln>
        </p:spPr>
        <p:txBody>
          <a:bodyPr wrap="square" lIns="0" tIns="0" rIns="0" bIns="0" rtlCol="0" anchor="ctr"/>
          <a:lstStyle/>
          <a:p>
            <a:pPr marL="0" indent="0" algn="ctr">
              <a:buNone/>
            </a:pPr>
            <a:r>
              <a:rPr lang="en-US" sz="2400" b="1" dirty="0">
                <a:solidFill>
                  <a:schemeClr val="tx1"/>
                </a:solidFill>
              </a:rPr>
              <a:t>1</a:t>
            </a:r>
            <a:endParaRPr lang="en-US" sz="2400" dirty="0"/>
          </a:p>
        </p:txBody>
      </p:sp>
      <p:sp>
        <p:nvSpPr>
          <p:cNvPr id="6" name="a2-p"/>
          <p:cNvSpPr/>
          <p:nvPr/>
        </p:nvSpPr>
        <p:spPr>
          <a:xfrm>
            <a:off x="968543" y="3395568"/>
            <a:ext cx="2377440" cy="731520"/>
          </a:xfrm>
          <a:prstGeom prst="roundRect">
            <a:avLst>
              <a:gd name="adj" fmla="val 15000"/>
            </a:avLst>
          </a:prstGeom>
          <a:solidFill>
            <a:schemeClr val="bg1"/>
          </a:solidFill>
          <a:ln w="12700">
            <a:solidFill>
              <a:srgbClr val="E0E0E0"/>
            </a:solidFill>
            <a:prstDash val="solid"/>
          </a:ln>
          <a:effectLst>
            <a:outerShdw blurRad="127000" dist="25400" dir="5400000" algn="bl" rotWithShape="0">
              <a:srgbClr val="000000">
                <a:alpha val="13000"/>
              </a:srgbClr>
            </a:outerShdw>
          </a:effectLst>
        </p:spPr>
      </p:sp>
      <p:sp>
        <p:nvSpPr>
          <p:cNvPr id="7" name="a2-p"/>
          <p:cNvSpPr txBox="1"/>
          <p:nvPr/>
        </p:nvSpPr>
        <p:spPr>
          <a:xfrm>
            <a:off x="1059983" y="3468720"/>
            <a:ext cx="2194560" cy="621792"/>
          </a:xfrm>
          <a:prstGeom prst="rect">
            <a:avLst/>
          </a:prstGeom>
          <a:noFill/>
          <a:ln/>
        </p:spPr>
        <p:txBody>
          <a:bodyPr wrap="square" lIns="0" tIns="0" rIns="0" bIns="0" rtlCol="0" anchor="t"/>
          <a:lstStyle/>
          <a:p>
            <a:pPr marL="0" indent="0" algn="ctr">
              <a:buNone/>
            </a:pPr>
            <a:r>
              <a:rPr lang="en-US" sz="1500" b="1" dirty="0">
                <a:solidFill>
                  <a:schemeClr val="tx1"/>
                </a:solidFill>
              </a:rPr>
              <a:t>Modul 1 · Kenali Toko</a:t>
            </a:r>
            <a:endParaRPr lang="en-US" sz="1400" dirty="0"/>
          </a:p>
          <a:p>
            <a:pPr marL="0" indent="0" algn="ctr">
              <a:buNone/>
            </a:pPr>
            <a:r>
              <a:rPr lang="en-US" sz="1300" dirty="0">
                <a:solidFill>
                  <a:schemeClr val="tx2"/>
                </a:solidFill>
              </a:rPr>
              <a:t>Analisis dulu, baru menawarkan.</a:t>
            </a:r>
            <a:endParaRPr lang="en-US" sz="1400" dirty="0"/>
          </a:p>
        </p:txBody>
      </p:sp>
      <p:sp>
        <p:nvSpPr>
          <p:cNvPr id="8" name="a3-p"/>
          <p:cNvSpPr txBox="1"/>
          <p:nvPr/>
        </p:nvSpPr>
        <p:spPr>
          <a:xfrm>
            <a:off x="4387584" y="2907280"/>
            <a:ext cx="640080" cy="640080"/>
          </a:xfrm>
          <a:prstGeom prst="ellipse">
            <a:avLst/>
          </a:prstGeom>
          <a:solidFill>
            <a:schemeClr val="accent1"/>
          </a:solidFill>
          <a:ln w="38100">
            <a:solidFill>
              <a:schemeClr val="bg1"/>
            </a:solidFill>
          </a:ln>
        </p:spPr>
        <p:txBody>
          <a:bodyPr wrap="square" lIns="0" tIns="0" rIns="0" bIns="0" rtlCol="0" anchor="ctr"/>
          <a:lstStyle/>
          <a:p>
            <a:pPr marL="0" indent="0" algn="ctr">
              <a:buNone/>
            </a:pPr>
            <a:r>
              <a:rPr lang="en-US" sz="2400" b="1" dirty="0">
                <a:solidFill>
                  <a:schemeClr val="tx1"/>
                </a:solidFill>
              </a:rPr>
              <a:t>2</a:t>
            </a:r>
            <a:endParaRPr lang="en-US" sz="2400" dirty="0"/>
          </a:p>
        </p:txBody>
      </p:sp>
      <p:sp>
        <p:nvSpPr>
          <p:cNvPr id="9" name="a3-p"/>
          <p:cNvSpPr/>
          <p:nvPr/>
        </p:nvSpPr>
        <p:spPr>
          <a:xfrm>
            <a:off x="3518904" y="2084320"/>
            <a:ext cx="2377440" cy="731520"/>
          </a:xfrm>
          <a:prstGeom prst="roundRect">
            <a:avLst>
              <a:gd name="adj" fmla="val 15000"/>
            </a:avLst>
          </a:prstGeom>
          <a:solidFill>
            <a:schemeClr val="bg1"/>
          </a:solidFill>
          <a:ln w="12700">
            <a:solidFill>
              <a:srgbClr val="E0E0E0"/>
            </a:solidFill>
            <a:prstDash val="solid"/>
          </a:ln>
          <a:effectLst>
            <a:outerShdw blurRad="127000" dist="25400" dir="5400000" algn="bl" rotWithShape="0">
              <a:srgbClr val="000000">
                <a:alpha val="13000"/>
              </a:srgbClr>
            </a:outerShdw>
          </a:effectLst>
        </p:spPr>
      </p:sp>
      <p:sp>
        <p:nvSpPr>
          <p:cNvPr id="10" name="a3-p"/>
          <p:cNvSpPr txBox="1"/>
          <p:nvPr/>
        </p:nvSpPr>
        <p:spPr>
          <a:xfrm>
            <a:off x="3610344" y="2157472"/>
            <a:ext cx="2194560" cy="621792"/>
          </a:xfrm>
          <a:prstGeom prst="rect">
            <a:avLst/>
          </a:prstGeom>
          <a:noFill/>
          <a:ln/>
        </p:spPr>
        <p:txBody>
          <a:bodyPr wrap="square" lIns="0" tIns="0" rIns="0" bIns="0" rtlCol="0" anchor="t"/>
          <a:lstStyle/>
          <a:p>
            <a:pPr marL="0" indent="0" algn="ctr">
              <a:buNone/>
            </a:pPr>
            <a:r>
              <a:rPr lang="en-US" sz="1500" b="1" dirty="0">
                <a:solidFill>
                  <a:schemeClr val="tx1"/>
                </a:solidFill>
              </a:rPr>
              <a:t>Modul 2 · Bahasa Untung</a:t>
            </a:r>
            <a:endParaRPr lang="en-US" sz="1400" dirty="0"/>
          </a:p>
          <a:p>
            <a:pPr marL="0" indent="0" algn="ctr">
              <a:buNone/>
            </a:pPr>
            <a:r>
              <a:rPr lang="en-US" sz="1300" dirty="0">
                <a:solidFill>
                  <a:schemeClr val="tx2"/>
                </a:solidFill>
              </a:rPr>
              <a:t>Tawarkan dengan hitungan, bukan spesifikasi.</a:t>
            </a:r>
            <a:endParaRPr lang="en-US" sz="1400" dirty="0"/>
          </a:p>
        </p:txBody>
      </p:sp>
      <p:sp>
        <p:nvSpPr>
          <p:cNvPr id="11" name="a4-p"/>
          <p:cNvSpPr txBox="1"/>
          <p:nvPr/>
        </p:nvSpPr>
        <p:spPr>
          <a:xfrm>
            <a:off x="6831919" y="2422094"/>
            <a:ext cx="640080" cy="640080"/>
          </a:xfrm>
          <a:prstGeom prst="ellipse">
            <a:avLst/>
          </a:prstGeom>
          <a:solidFill>
            <a:schemeClr val="accent1"/>
          </a:solidFill>
          <a:ln w="38100">
            <a:solidFill>
              <a:schemeClr val="bg1"/>
            </a:solidFill>
          </a:ln>
        </p:spPr>
        <p:txBody>
          <a:bodyPr wrap="square" lIns="0" tIns="0" rIns="0" bIns="0" rtlCol="0" anchor="ctr"/>
          <a:lstStyle/>
          <a:p>
            <a:pPr marL="0" indent="0" algn="ctr">
              <a:buNone/>
            </a:pPr>
            <a:r>
              <a:rPr lang="en-US" sz="2400" b="1" dirty="0">
                <a:solidFill>
                  <a:schemeClr val="tx1"/>
                </a:solidFill>
              </a:rPr>
              <a:t>3</a:t>
            </a:r>
            <a:endParaRPr lang="en-US" sz="2400" dirty="0"/>
          </a:p>
        </p:txBody>
      </p:sp>
      <p:sp>
        <p:nvSpPr>
          <p:cNvPr id="12" name="a4-p"/>
          <p:cNvSpPr/>
          <p:nvPr/>
        </p:nvSpPr>
        <p:spPr>
          <a:xfrm>
            <a:off x="5963239" y="3153614"/>
            <a:ext cx="2377440" cy="731520"/>
          </a:xfrm>
          <a:prstGeom prst="roundRect">
            <a:avLst>
              <a:gd name="adj" fmla="val 15000"/>
            </a:avLst>
          </a:prstGeom>
          <a:solidFill>
            <a:schemeClr val="bg1"/>
          </a:solidFill>
          <a:ln w="12700">
            <a:solidFill>
              <a:srgbClr val="E0E0E0"/>
            </a:solidFill>
            <a:prstDash val="solid"/>
          </a:ln>
          <a:effectLst>
            <a:outerShdw blurRad="127000" dist="25400" dir="5400000" algn="bl" rotWithShape="0">
              <a:srgbClr val="000000">
                <a:alpha val="13000"/>
              </a:srgbClr>
            </a:outerShdw>
          </a:effectLst>
        </p:spPr>
      </p:sp>
      <p:sp>
        <p:nvSpPr>
          <p:cNvPr id="13" name="a4-p"/>
          <p:cNvSpPr txBox="1"/>
          <p:nvPr/>
        </p:nvSpPr>
        <p:spPr>
          <a:xfrm>
            <a:off x="6054679" y="3226766"/>
            <a:ext cx="2194560" cy="621792"/>
          </a:xfrm>
          <a:prstGeom prst="rect">
            <a:avLst/>
          </a:prstGeom>
          <a:noFill/>
          <a:ln/>
        </p:spPr>
        <p:txBody>
          <a:bodyPr wrap="square" lIns="0" tIns="0" rIns="0" bIns="0" rtlCol="0" anchor="t"/>
          <a:lstStyle/>
          <a:p>
            <a:pPr marL="0" indent="0" algn="ctr">
              <a:buNone/>
            </a:pPr>
            <a:r>
              <a:rPr lang="en-US" sz="1500" b="1" dirty="0">
                <a:solidFill>
                  <a:schemeClr val="tx1"/>
                </a:solidFill>
              </a:rPr>
              <a:t>Modul 3 · Jawab Keberatan</a:t>
            </a:r>
            <a:endParaRPr lang="en-US" sz="1400" dirty="0"/>
          </a:p>
          <a:p>
            <a:pPr marL="0" indent="0" algn="ctr">
              <a:buNone/>
            </a:pPr>
            <a:r>
              <a:rPr lang="en-US" sz="1300" dirty="0">
                <a:solidFill>
                  <a:schemeClr val="tx2"/>
                </a:solidFill>
              </a:rPr>
              <a:t>Ubah “takut nggak laku” jadi “coba dulu”.</a:t>
            </a:r>
            <a:endParaRPr lang="en-US" sz="1400" dirty="0"/>
          </a:p>
        </p:txBody>
      </p:sp>
      <p:sp>
        <p:nvSpPr>
          <p:cNvPr id="14" name="a5-fin"/>
          <p:cNvSpPr/>
          <p:nvPr/>
        </p:nvSpPr>
        <p:spPr>
          <a:xfrm>
            <a:off x="7863840" y="1728216"/>
            <a:ext cx="822960" cy="822960"/>
          </a:xfrm>
          <a:prstGeom prst="ellipse">
            <a:avLst/>
          </a:prstGeom>
          <a:solidFill>
            <a:schemeClr val="tx1"/>
          </a:solidFill>
          <a:ln/>
        </p:spPr>
      </p:sp>
      <p:pic>
        <p:nvPicPr>
          <p:cNvPr id="15" name="a5-fin" descr="preencoded.png"/>
          <p:cNvPicPr>
            <a:picLocks noChangeAspect="1"/>
          </p:cNvPicPr>
          <p:nvPr/>
        </p:nvPicPr>
        <p:blipFill>
          <a:blip r:embed="rId4"/>
          <a:stretch>
            <a:fillRect/>
          </a:stretch>
        </p:blipFill>
        <p:spPr>
          <a:xfrm>
            <a:off x="8077810" y="1942186"/>
            <a:ext cx="395021" cy="395021"/>
          </a:xfrm>
          <a:prstGeom prst="rect">
            <a:avLst/>
          </a:prstGeom>
        </p:spPr>
      </p:pic>
      <p:sp>
        <p:nvSpPr>
          <p:cNvPr id="16" name="a5-fin"/>
          <p:cNvSpPr/>
          <p:nvPr/>
        </p:nvSpPr>
        <p:spPr>
          <a:xfrm>
            <a:off x="5897880" y="1234440"/>
            <a:ext cx="1874520" cy="731520"/>
          </a:xfrm>
          <a:prstGeom prst="roundRect">
            <a:avLst>
              <a:gd name="adj" fmla="val 15000"/>
            </a:avLst>
          </a:prstGeom>
          <a:solidFill>
            <a:schemeClr val="accent1"/>
          </a:solidFill>
          <a:ln/>
        </p:spPr>
      </p:sp>
      <p:sp>
        <p:nvSpPr>
          <p:cNvPr id="17" name="a5-fin"/>
          <p:cNvSpPr txBox="1"/>
          <p:nvPr/>
        </p:nvSpPr>
        <p:spPr>
          <a:xfrm>
            <a:off x="5943600" y="1307592"/>
            <a:ext cx="1783080" cy="621792"/>
          </a:xfrm>
          <a:prstGeom prst="rect">
            <a:avLst/>
          </a:prstGeom>
          <a:noFill/>
          <a:ln/>
        </p:spPr>
        <p:txBody>
          <a:bodyPr wrap="square" lIns="0" tIns="0" rIns="0" bIns="0" rtlCol="0" anchor="t"/>
          <a:lstStyle/>
          <a:p>
            <a:pPr marL="0" indent="0" algn="ctr">
              <a:buNone/>
            </a:pPr>
            <a:r>
              <a:rPr lang="en-US" sz="1500" b="1" dirty="0">
                <a:solidFill>
                  <a:schemeClr val="tx1"/>
                </a:solidFill>
              </a:rPr>
              <a:t>Garis Finis</a:t>
            </a:r>
            <a:endParaRPr lang="en-US" sz="1400" dirty="0"/>
          </a:p>
          <a:p>
            <a:pPr marL="0" indent="0" algn="ctr">
              <a:buNone/>
            </a:pPr>
            <a:r>
              <a:rPr lang="en-US" sz="1300" dirty="0">
                <a:solidFill>
                  <a:schemeClr val="tx1"/>
                </a:solidFill>
              </a:rPr>
              <a:t>Toko mencoba, lalu order lagi.</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800"/>
                            </p:stCondLst>
                            <p:childTnLst>
                              <p:par>
                                <p:cTn id="19" presetID="10"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1200"/>
                            </p:stCondLst>
                            <p:childTnLst>
                              <p:par>
                                <p:cTn id="29" presetID="10" presetClass="entr" presetSubtype="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par>
                          <p:cTn id="38" fill="hold">
                            <p:stCondLst>
                              <p:cond delay="1600"/>
                            </p:stCondLst>
                            <p:childTnLst>
                              <p:par>
                                <p:cTn id="39" presetID="10" presetClass="entr" presetSubtype="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Apa Isi Kepala Pemilik Toko?</a:t>
            </a:r>
            <a:endParaRPr lang="en-US" sz="2800" dirty="0"/>
          </a:p>
        </p:txBody>
      </p:sp>
      <p:sp>
        <p:nvSpPr>
          <p:cNvPr id="3" name="pill"/>
          <p:cNvSpPr txBox="1"/>
          <p:nvPr/>
        </p:nvSpPr>
        <p:spPr>
          <a:xfrm>
            <a:off x="457200" y="237744"/>
            <a:ext cx="231709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DASAR  ·  CARA BERPIKIR TOKO</a:t>
            </a:r>
            <a:endParaRPr lang="en-US" sz="1000" dirty="0"/>
          </a:p>
        </p:txBody>
      </p:sp>
      <p:pic>
        <p:nvPicPr>
          <p:cNvPr id="4" name="a1-own" descr="preencoded.png"/>
          <p:cNvPicPr>
            <a:picLocks noChangeAspect="1"/>
          </p:cNvPicPr>
          <p:nvPr/>
        </p:nvPicPr>
        <p:blipFill>
          <a:blip r:embed="rId3"/>
          <a:stretch>
            <a:fillRect/>
          </a:stretch>
        </p:blipFill>
        <p:spPr>
          <a:xfrm>
            <a:off x="3520440" y="1280160"/>
            <a:ext cx="2103120" cy="2633472"/>
          </a:xfrm>
          <a:prstGeom prst="rect">
            <a:avLst/>
          </a:prstGeom>
        </p:spPr>
      </p:pic>
      <p:sp>
        <p:nvSpPr>
          <p:cNvPr id="5" name="a2-q"/>
          <p:cNvSpPr/>
          <p:nvPr/>
        </p:nvSpPr>
        <p:spPr>
          <a:xfrm>
            <a:off x="457200" y="1417320"/>
            <a:ext cx="2743200" cy="868680"/>
          </a:xfrm>
          <a:prstGeom prst="roundRect">
            <a:avLst>
              <a:gd name="adj" fmla="val 31579"/>
            </a:avLst>
          </a:prstGeom>
          <a:solidFill>
            <a:schemeClr val="accent2"/>
          </a:solidFill>
          <a:ln/>
        </p:spPr>
      </p:sp>
      <p:sp>
        <p:nvSpPr>
          <p:cNvPr id="6" name="a2-q"/>
          <p:cNvSpPr/>
          <p:nvPr/>
        </p:nvSpPr>
        <p:spPr>
          <a:xfrm>
            <a:off x="594360" y="1581912"/>
            <a:ext cx="548640" cy="548640"/>
          </a:xfrm>
          <a:prstGeom prst="ellipse">
            <a:avLst/>
          </a:prstGeom>
          <a:solidFill>
            <a:schemeClr val="accent1"/>
          </a:solidFill>
          <a:ln/>
        </p:spPr>
      </p:sp>
      <p:pic>
        <p:nvPicPr>
          <p:cNvPr id="7" name="a2-q" descr="preencoded.png"/>
          <p:cNvPicPr>
            <a:picLocks noChangeAspect="1"/>
          </p:cNvPicPr>
          <p:nvPr/>
        </p:nvPicPr>
        <p:blipFill>
          <a:blip r:embed="rId4"/>
          <a:stretch>
            <a:fillRect/>
          </a:stretch>
        </p:blipFill>
        <p:spPr>
          <a:xfrm>
            <a:off x="737006" y="1724558"/>
            <a:ext cx="263347" cy="263347"/>
          </a:xfrm>
          <a:prstGeom prst="rect">
            <a:avLst/>
          </a:prstGeom>
        </p:spPr>
      </p:pic>
      <p:sp>
        <p:nvSpPr>
          <p:cNvPr id="8" name="a2-q"/>
          <p:cNvSpPr txBox="1"/>
          <p:nvPr/>
        </p:nvSpPr>
        <p:spPr>
          <a:xfrm>
            <a:off x="1280160" y="1417320"/>
            <a:ext cx="1828800" cy="868680"/>
          </a:xfrm>
          <a:prstGeom prst="rect">
            <a:avLst/>
          </a:prstGeom>
          <a:noFill/>
          <a:ln/>
        </p:spPr>
        <p:txBody>
          <a:bodyPr wrap="square" lIns="0" tIns="0" rIns="0" bIns="0" rtlCol="0" anchor="ctr"/>
          <a:lstStyle/>
          <a:p>
            <a:pPr marL="0" indent="0">
              <a:buNone/>
            </a:pPr>
            <a:r>
              <a:rPr lang="en-US" sz="1500" b="1" dirty="0">
                <a:solidFill>
                  <a:schemeClr val="tx1"/>
                </a:solidFill>
              </a:rPr>
              <a:t>“Laku nggak ya di toko saya?”</a:t>
            </a:r>
            <a:endParaRPr lang="en-US" sz="1500" dirty="0"/>
          </a:p>
        </p:txBody>
      </p:sp>
      <p:sp>
        <p:nvSpPr>
          <p:cNvPr id="9" name="a3-q"/>
          <p:cNvSpPr/>
          <p:nvPr/>
        </p:nvSpPr>
        <p:spPr>
          <a:xfrm>
            <a:off x="5943600" y="1417320"/>
            <a:ext cx="2743200" cy="868680"/>
          </a:xfrm>
          <a:prstGeom prst="roundRect">
            <a:avLst>
              <a:gd name="adj" fmla="val 31579"/>
            </a:avLst>
          </a:prstGeom>
          <a:solidFill>
            <a:schemeClr val="accent2"/>
          </a:solidFill>
          <a:ln/>
        </p:spPr>
      </p:sp>
      <p:sp>
        <p:nvSpPr>
          <p:cNvPr id="10" name="a3-q"/>
          <p:cNvSpPr/>
          <p:nvPr/>
        </p:nvSpPr>
        <p:spPr>
          <a:xfrm>
            <a:off x="6080760" y="1581912"/>
            <a:ext cx="548640" cy="548640"/>
          </a:xfrm>
          <a:prstGeom prst="ellipse">
            <a:avLst/>
          </a:prstGeom>
          <a:solidFill>
            <a:schemeClr val="accent1"/>
          </a:solidFill>
          <a:ln/>
        </p:spPr>
      </p:sp>
      <p:pic>
        <p:nvPicPr>
          <p:cNvPr id="11" name="a3-q" descr="preencoded.png"/>
          <p:cNvPicPr>
            <a:picLocks noChangeAspect="1"/>
          </p:cNvPicPr>
          <p:nvPr/>
        </p:nvPicPr>
        <p:blipFill>
          <a:blip r:embed="rId5"/>
          <a:stretch>
            <a:fillRect/>
          </a:stretch>
        </p:blipFill>
        <p:spPr>
          <a:xfrm>
            <a:off x="6223406" y="1724558"/>
            <a:ext cx="263347" cy="263347"/>
          </a:xfrm>
          <a:prstGeom prst="rect">
            <a:avLst/>
          </a:prstGeom>
        </p:spPr>
      </p:pic>
      <p:sp>
        <p:nvSpPr>
          <p:cNvPr id="12" name="a3-q"/>
          <p:cNvSpPr txBox="1"/>
          <p:nvPr/>
        </p:nvSpPr>
        <p:spPr>
          <a:xfrm>
            <a:off x="6766560" y="1417320"/>
            <a:ext cx="1828800" cy="868680"/>
          </a:xfrm>
          <a:prstGeom prst="rect">
            <a:avLst/>
          </a:prstGeom>
          <a:noFill/>
          <a:ln/>
        </p:spPr>
        <p:txBody>
          <a:bodyPr wrap="square" lIns="0" tIns="0" rIns="0" bIns="0" rtlCol="0" anchor="ctr"/>
          <a:lstStyle/>
          <a:p>
            <a:pPr marL="0" indent="0">
              <a:buNone/>
            </a:pPr>
            <a:r>
              <a:rPr lang="en-US" sz="1500" b="1" dirty="0">
                <a:solidFill>
                  <a:schemeClr val="tx1"/>
                </a:solidFill>
              </a:rPr>
              <a:t>“Untungnya berapa?”</a:t>
            </a:r>
            <a:endParaRPr lang="en-US" sz="1500" dirty="0"/>
          </a:p>
        </p:txBody>
      </p:sp>
      <p:sp>
        <p:nvSpPr>
          <p:cNvPr id="13" name="a4-q"/>
          <p:cNvSpPr/>
          <p:nvPr/>
        </p:nvSpPr>
        <p:spPr>
          <a:xfrm>
            <a:off x="457200" y="2606040"/>
            <a:ext cx="2743200" cy="868680"/>
          </a:xfrm>
          <a:prstGeom prst="roundRect">
            <a:avLst>
              <a:gd name="adj" fmla="val 31579"/>
            </a:avLst>
          </a:prstGeom>
          <a:solidFill>
            <a:schemeClr val="accent2"/>
          </a:solidFill>
          <a:ln/>
        </p:spPr>
      </p:sp>
      <p:sp>
        <p:nvSpPr>
          <p:cNvPr id="14" name="a4-q"/>
          <p:cNvSpPr/>
          <p:nvPr/>
        </p:nvSpPr>
        <p:spPr>
          <a:xfrm>
            <a:off x="594360" y="2770632"/>
            <a:ext cx="548640" cy="548640"/>
          </a:xfrm>
          <a:prstGeom prst="ellipse">
            <a:avLst/>
          </a:prstGeom>
          <a:solidFill>
            <a:schemeClr val="accent1"/>
          </a:solidFill>
          <a:ln/>
        </p:spPr>
      </p:sp>
      <p:pic>
        <p:nvPicPr>
          <p:cNvPr id="15" name="a4-q" descr="preencoded.png"/>
          <p:cNvPicPr>
            <a:picLocks noChangeAspect="1"/>
          </p:cNvPicPr>
          <p:nvPr/>
        </p:nvPicPr>
        <p:blipFill>
          <a:blip r:embed="rId6"/>
          <a:stretch>
            <a:fillRect/>
          </a:stretch>
        </p:blipFill>
        <p:spPr>
          <a:xfrm>
            <a:off x="737006" y="2913278"/>
            <a:ext cx="263347" cy="263347"/>
          </a:xfrm>
          <a:prstGeom prst="rect">
            <a:avLst/>
          </a:prstGeom>
        </p:spPr>
      </p:pic>
      <p:sp>
        <p:nvSpPr>
          <p:cNvPr id="16" name="a4-q"/>
          <p:cNvSpPr txBox="1"/>
          <p:nvPr/>
        </p:nvSpPr>
        <p:spPr>
          <a:xfrm>
            <a:off x="1280160" y="2606040"/>
            <a:ext cx="1828800" cy="868680"/>
          </a:xfrm>
          <a:prstGeom prst="rect">
            <a:avLst/>
          </a:prstGeom>
          <a:noFill/>
          <a:ln/>
        </p:spPr>
        <p:txBody>
          <a:bodyPr wrap="square" lIns="0" tIns="0" rIns="0" bIns="0" rtlCol="0" anchor="ctr"/>
          <a:lstStyle/>
          <a:p>
            <a:pPr marL="0" indent="0">
              <a:buNone/>
            </a:pPr>
            <a:r>
              <a:rPr lang="en-US" sz="1500" b="1" dirty="0">
                <a:solidFill>
                  <a:schemeClr val="tx1"/>
                </a:solidFill>
              </a:rPr>
              <a:t>“Modal saya ketahan berapa lama?”</a:t>
            </a:r>
            <a:endParaRPr lang="en-US" sz="1500" dirty="0"/>
          </a:p>
        </p:txBody>
      </p:sp>
      <p:sp>
        <p:nvSpPr>
          <p:cNvPr id="17" name="a5-q"/>
          <p:cNvSpPr/>
          <p:nvPr/>
        </p:nvSpPr>
        <p:spPr>
          <a:xfrm>
            <a:off x="5943600" y="2606040"/>
            <a:ext cx="2743200" cy="868680"/>
          </a:xfrm>
          <a:prstGeom prst="roundRect">
            <a:avLst>
              <a:gd name="adj" fmla="val 31579"/>
            </a:avLst>
          </a:prstGeom>
          <a:solidFill>
            <a:schemeClr val="accent2"/>
          </a:solidFill>
          <a:ln/>
        </p:spPr>
      </p:sp>
      <p:sp>
        <p:nvSpPr>
          <p:cNvPr id="18" name="a5-q"/>
          <p:cNvSpPr/>
          <p:nvPr/>
        </p:nvSpPr>
        <p:spPr>
          <a:xfrm>
            <a:off x="6080760" y="2770632"/>
            <a:ext cx="548640" cy="548640"/>
          </a:xfrm>
          <a:prstGeom prst="ellipse">
            <a:avLst/>
          </a:prstGeom>
          <a:solidFill>
            <a:schemeClr val="accent1"/>
          </a:solidFill>
          <a:ln/>
        </p:spPr>
      </p:sp>
      <p:pic>
        <p:nvPicPr>
          <p:cNvPr id="19" name="a5-q" descr="preencoded.png"/>
          <p:cNvPicPr>
            <a:picLocks noChangeAspect="1"/>
          </p:cNvPicPr>
          <p:nvPr/>
        </p:nvPicPr>
        <p:blipFill>
          <a:blip r:embed="rId7"/>
          <a:stretch>
            <a:fillRect/>
          </a:stretch>
        </p:blipFill>
        <p:spPr>
          <a:xfrm>
            <a:off x="6223406" y="2913278"/>
            <a:ext cx="263347" cy="263347"/>
          </a:xfrm>
          <a:prstGeom prst="rect">
            <a:avLst/>
          </a:prstGeom>
        </p:spPr>
      </p:pic>
      <p:sp>
        <p:nvSpPr>
          <p:cNvPr id="20" name="a5-q"/>
          <p:cNvSpPr txBox="1"/>
          <p:nvPr/>
        </p:nvSpPr>
        <p:spPr>
          <a:xfrm>
            <a:off x="6766560" y="2606040"/>
            <a:ext cx="1828800" cy="868680"/>
          </a:xfrm>
          <a:prstGeom prst="rect">
            <a:avLst/>
          </a:prstGeom>
          <a:noFill/>
          <a:ln/>
        </p:spPr>
        <p:txBody>
          <a:bodyPr wrap="square" lIns="0" tIns="0" rIns="0" bIns="0" rtlCol="0" anchor="ctr"/>
          <a:lstStyle/>
          <a:p>
            <a:pPr marL="0" indent="0">
              <a:buNone/>
            </a:pPr>
            <a:r>
              <a:rPr lang="en-US" sz="1500" b="1" dirty="0">
                <a:solidFill>
                  <a:schemeClr val="tx1"/>
                </a:solidFill>
              </a:rPr>
              <a:t>“Kalau nggak laku, risikonya apa?”</a:t>
            </a:r>
            <a:endParaRPr lang="en-US" sz="1500" dirty="0"/>
          </a:p>
        </p:txBody>
      </p:sp>
      <p:sp>
        <p:nvSpPr>
          <p:cNvPr id="21" name="a6-call"/>
          <p:cNvSpPr txBox="1"/>
          <p:nvPr/>
        </p:nvSpPr>
        <p:spPr>
          <a:xfrm>
            <a:off x="457200" y="4023360"/>
            <a:ext cx="8229600" cy="548640"/>
          </a:xfrm>
          <a:prstGeom prst="roundRect">
            <a:avLst>
              <a:gd name="adj" fmla="val 20000"/>
            </a:avLst>
          </a:prstGeom>
          <a:solidFill>
            <a:schemeClr val="tx1"/>
          </a:solidFill>
          <a:ln/>
        </p:spPr>
        <p:txBody>
          <a:bodyPr wrap="square" lIns="0" tIns="0" rIns="0" bIns="0" rtlCol="0" anchor="ctr"/>
          <a:lstStyle/>
          <a:p>
            <a:pPr marL="0" indent="0" algn="ctr">
              <a:buNone/>
            </a:pPr>
            <a:r>
              <a:rPr lang="en-US" sz="1500" dirty="0">
                <a:solidFill>
                  <a:schemeClr val="bg1"/>
                </a:solidFill>
              </a:rPr>
              <a:t>Toko membeli untuk dijual lagi. </a:t>
            </a:r>
            <a:r>
              <a:rPr lang="en-US" sz="1500" b="1" dirty="0">
                <a:solidFill>
                  <a:schemeClr val="accent1"/>
                </a:solidFill>
              </a:rPr>
              <a:t>Bicaralah dengan bahasa bisnis mereka: laku, untung, modal, risiko.</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800"/>
                            </p:stCondLst>
                            <p:childTnLst>
                              <p:par>
                                <p:cTn id="22" presetID="10"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4" fill="hold">
                            <p:stCondLst>
                              <p:cond delay="1200"/>
                            </p:stCondLst>
                            <p:childTnLst>
                              <p:par>
                                <p:cTn id="35" presetID="10" presetClass="entr" presetSubtype="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par>
                          <p:cTn id="47" fill="hold">
                            <p:stCondLst>
                              <p:cond delay="1600"/>
                            </p:stCondLst>
                            <p:childTnLst>
                              <p:par>
                                <p:cTn id="48" presetID="10" presetClass="entr" presetSubtype="0"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6 Prinsip Psikologi di Balik Keputusan Toko</a:t>
            </a:r>
            <a:endParaRPr lang="en-US" sz="2800" dirty="0"/>
          </a:p>
        </p:txBody>
      </p:sp>
      <p:sp>
        <p:nvSpPr>
          <p:cNvPr id="3" name="pill"/>
          <p:cNvSpPr txBox="1"/>
          <p:nvPr/>
        </p:nvSpPr>
        <p:spPr>
          <a:xfrm>
            <a:off x="457200" y="237744"/>
            <a:ext cx="231709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DASAR  ·  PSIKOLOGI KONSUMEN</a:t>
            </a:r>
            <a:endParaRPr lang="en-US" sz="1000" dirty="0"/>
          </a:p>
        </p:txBody>
      </p:sp>
      <p:sp>
        <p:nvSpPr>
          <p:cNvPr id="4" name="a1-p"/>
          <p:cNvSpPr/>
          <p:nvPr/>
        </p:nvSpPr>
        <p:spPr>
          <a:xfrm>
            <a:off x="457200" y="1298448"/>
            <a:ext cx="2651760" cy="1481328"/>
          </a:xfrm>
          <a:prstGeom prst="roundRect">
            <a:avLst>
              <a:gd name="adj" fmla="val 7407"/>
            </a:avLst>
          </a:prstGeom>
          <a:solidFill>
            <a:schemeClr val="bg2"/>
          </a:solidFill>
          <a:ln/>
        </p:spPr>
      </p:sp>
      <p:sp>
        <p:nvSpPr>
          <p:cNvPr id="5" name="a1-p"/>
          <p:cNvSpPr/>
          <p:nvPr/>
        </p:nvSpPr>
        <p:spPr>
          <a:xfrm>
            <a:off x="594360" y="1435608"/>
            <a:ext cx="457200" cy="457200"/>
          </a:xfrm>
          <a:prstGeom prst="ellipse">
            <a:avLst/>
          </a:prstGeom>
          <a:solidFill>
            <a:schemeClr val="accent1"/>
          </a:solidFill>
          <a:ln/>
        </p:spPr>
      </p:sp>
      <p:pic>
        <p:nvPicPr>
          <p:cNvPr id="6" name="a1-p" descr="preencoded.png"/>
          <p:cNvPicPr>
            <a:picLocks noChangeAspect="1"/>
          </p:cNvPicPr>
          <p:nvPr/>
        </p:nvPicPr>
        <p:blipFill>
          <a:blip r:embed="rId3"/>
          <a:stretch>
            <a:fillRect/>
          </a:stretch>
        </p:blipFill>
        <p:spPr>
          <a:xfrm>
            <a:off x="713232" y="1554480"/>
            <a:ext cx="219456" cy="219456"/>
          </a:xfrm>
          <a:prstGeom prst="rect">
            <a:avLst/>
          </a:prstGeom>
        </p:spPr>
      </p:pic>
      <p:sp>
        <p:nvSpPr>
          <p:cNvPr id="7" name="a1-p"/>
          <p:cNvSpPr txBox="1"/>
          <p:nvPr/>
        </p:nvSpPr>
        <p:spPr>
          <a:xfrm>
            <a:off x="1170432" y="1408176"/>
            <a:ext cx="1874520" cy="530352"/>
          </a:xfrm>
          <a:prstGeom prst="rect">
            <a:avLst/>
          </a:prstGeom>
          <a:noFill/>
          <a:ln/>
        </p:spPr>
        <p:txBody>
          <a:bodyPr wrap="square" lIns="0" tIns="0" rIns="0" bIns="0" rtlCol="0" anchor="ctr"/>
          <a:lstStyle/>
          <a:p>
            <a:pPr marL="0" indent="0">
              <a:buNone/>
            </a:pPr>
            <a:r>
              <a:rPr lang="en-US" sz="1500" b="1" dirty="0">
                <a:solidFill>
                  <a:schemeClr val="tx1"/>
                </a:solidFill>
              </a:rPr>
              <a:t>Takut Rugi</a:t>
            </a:r>
            <a:endParaRPr lang="en-US" sz="1400" dirty="0"/>
          </a:p>
          <a:p>
            <a:pPr marL="0" indent="0">
              <a:buNone/>
            </a:pPr>
            <a:r>
              <a:rPr lang="en-US" sz="1100" i="1" dirty="0">
                <a:solidFill>
                  <a:schemeClr val="accent3"/>
                </a:solidFill>
              </a:rPr>
              <a:t>Loss Aversion</a:t>
            </a:r>
            <a:endParaRPr lang="en-US" sz="1400" dirty="0"/>
          </a:p>
        </p:txBody>
      </p:sp>
      <p:sp>
        <p:nvSpPr>
          <p:cNvPr id="8" name="a1-p"/>
          <p:cNvSpPr txBox="1"/>
          <p:nvPr/>
        </p:nvSpPr>
        <p:spPr>
          <a:xfrm>
            <a:off x="594360" y="1984248"/>
            <a:ext cx="2395728" cy="438912"/>
          </a:xfrm>
          <a:prstGeom prst="rect">
            <a:avLst/>
          </a:prstGeom>
          <a:noFill/>
          <a:ln/>
        </p:spPr>
        <p:txBody>
          <a:bodyPr wrap="square" lIns="0" tIns="0" rIns="0" bIns="0" rtlCol="0" anchor="t"/>
          <a:lstStyle/>
          <a:p>
            <a:pPr marL="0" indent="0">
              <a:buNone/>
            </a:pPr>
            <a:r>
              <a:rPr lang="en-US" sz="1200" dirty="0">
                <a:solidFill>
                  <a:schemeClr val="tx1"/>
                </a:solidFill>
              </a:rPr>
              <a:t>Rasa takut kehilangan lebih kuat dari keinginan untung.</a:t>
            </a:r>
            <a:endParaRPr lang="en-US" sz="1200" dirty="0"/>
          </a:p>
        </p:txBody>
      </p:sp>
      <p:sp>
        <p:nvSpPr>
          <p:cNvPr id="9" name="a1-p"/>
          <p:cNvSpPr/>
          <p:nvPr/>
        </p:nvSpPr>
        <p:spPr>
          <a:xfrm>
            <a:off x="566928" y="2414016"/>
            <a:ext cx="2432304" cy="292608"/>
          </a:xfrm>
          <a:prstGeom prst="roundRect">
            <a:avLst>
              <a:gd name="adj" fmla="val 18750"/>
            </a:avLst>
          </a:prstGeom>
          <a:solidFill>
            <a:schemeClr val="accent1"/>
          </a:solidFill>
          <a:ln/>
        </p:spPr>
      </p:sp>
      <p:sp>
        <p:nvSpPr>
          <p:cNvPr id="10" name="a1-p"/>
          <p:cNvSpPr txBox="1"/>
          <p:nvPr/>
        </p:nvSpPr>
        <p:spPr>
          <a:xfrm>
            <a:off x="658368" y="2414016"/>
            <a:ext cx="2286000" cy="292608"/>
          </a:xfrm>
          <a:prstGeom prst="rect">
            <a:avLst/>
          </a:prstGeom>
          <a:noFill/>
          <a:ln/>
        </p:spPr>
        <p:txBody>
          <a:bodyPr wrap="square" lIns="0" tIns="0" rIns="0" bIns="0" rtlCol="0" anchor="ctr"/>
          <a:lstStyle/>
          <a:p>
            <a:pPr marL="0" indent="0">
              <a:buNone/>
            </a:pPr>
            <a:r>
              <a:rPr lang="en-US" sz="1200" b="1" dirty="0">
                <a:solidFill>
                  <a:schemeClr val="tx1"/>
                </a:solidFill>
              </a:rPr>
              <a:t>Pakai: </a:t>
            </a:r>
            <a:r>
              <a:rPr lang="en-US" sz="1200" dirty="0">
                <a:solidFill>
                  <a:schemeClr val="tx1"/>
                </a:solidFill>
              </a:rPr>
              <a:t>Keranjang belanja yang hilang</a:t>
            </a:r>
            <a:endParaRPr lang="en-US" sz="1200" dirty="0"/>
          </a:p>
        </p:txBody>
      </p:sp>
      <p:sp>
        <p:nvSpPr>
          <p:cNvPr id="11" name="a2-p"/>
          <p:cNvSpPr/>
          <p:nvPr/>
        </p:nvSpPr>
        <p:spPr>
          <a:xfrm>
            <a:off x="3246120" y="1298448"/>
            <a:ext cx="2651760" cy="1481328"/>
          </a:xfrm>
          <a:prstGeom prst="roundRect">
            <a:avLst>
              <a:gd name="adj" fmla="val 7407"/>
            </a:avLst>
          </a:prstGeom>
          <a:solidFill>
            <a:schemeClr val="bg2"/>
          </a:solidFill>
          <a:ln/>
        </p:spPr>
      </p:sp>
      <p:sp>
        <p:nvSpPr>
          <p:cNvPr id="12" name="a2-p"/>
          <p:cNvSpPr/>
          <p:nvPr/>
        </p:nvSpPr>
        <p:spPr>
          <a:xfrm>
            <a:off x="3383280" y="1435608"/>
            <a:ext cx="457200" cy="457200"/>
          </a:xfrm>
          <a:prstGeom prst="ellipse">
            <a:avLst/>
          </a:prstGeom>
          <a:solidFill>
            <a:schemeClr val="accent1"/>
          </a:solidFill>
          <a:ln/>
        </p:spPr>
      </p:sp>
      <p:pic>
        <p:nvPicPr>
          <p:cNvPr id="13" name="a2-p" descr="preencoded.png"/>
          <p:cNvPicPr>
            <a:picLocks noChangeAspect="1"/>
          </p:cNvPicPr>
          <p:nvPr/>
        </p:nvPicPr>
        <p:blipFill>
          <a:blip r:embed="rId4"/>
          <a:stretch>
            <a:fillRect/>
          </a:stretch>
        </p:blipFill>
        <p:spPr>
          <a:xfrm>
            <a:off x="3502152" y="1554480"/>
            <a:ext cx="219456" cy="219456"/>
          </a:xfrm>
          <a:prstGeom prst="rect">
            <a:avLst/>
          </a:prstGeom>
        </p:spPr>
      </p:pic>
      <p:sp>
        <p:nvSpPr>
          <p:cNvPr id="14" name="a2-p"/>
          <p:cNvSpPr txBox="1"/>
          <p:nvPr/>
        </p:nvSpPr>
        <p:spPr>
          <a:xfrm>
            <a:off x="3959352" y="1408176"/>
            <a:ext cx="1874520" cy="530352"/>
          </a:xfrm>
          <a:prstGeom prst="rect">
            <a:avLst/>
          </a:prstGeom>
          <a:noFill/>
          <a:ln/>
        </p:spPr>
        <p:txBody>
          <a:bodyPr wrap="square" lIns="0" tIns="0" rIns="0" bIns="0" rtlCol="0" anchor="ctr"/>
          <a:lstStyle/>
          <a:p>
            <a:pPr marL="0" indent="0">
              <a:buNone/>
            </a:pPr>
            <a:r>
              <a:rPr lang="en-US" sz="1500" b="1" dirty="0">
                <a:solidFill>
                  <a:schemeClr val="tx1"/>
                </a:solidFill>
              </a:rPr>
              <a:t>Bukti Sosial</a:t>
            </a:r>
            <a:endParaRPr lang="en-US" sz="1400" dirty="0"/>
          </a:p>
          <a:p>
            <a:pPr marL="0" indent="0">
              <a:buNone/>
            </a:pPr>
            <a:r>
              <a:rPr lang="en-US" sz="1100" i="1" dirty="0">
                <a:solidFill>
                  <a:schemeClr val="accent3"/>
                </a:solidFill>
              </a:rPr>
              <a:t>Social Proof</a:t>
            </a:r>
            <a:endParaRPr lang="en-US" sz="1400" dirty="0"/>
          </a:p>
        </p:txBody>
      </p:sp>
      <p:sp>
        <p:nvSpPr>
          <p:cNvPr id="15" name="a2-p"/>
          <p:cNvSpPr txBox="1"/>
          <p:nvPr/>
        </p:nvSpPr>
        <p:spPr>
          <a:xfrm>
            <a:off x="3383280" y="1984248"/>
            <a:ext cx="2395728" cy="438912"/>
          </a:xfrm>
          <a:prstGeom prst="rect">
            <a:avLst/>
          </a:prstGeom>
          <a:noFill/>
          <a:ln/>
        </p:spPr>
        <p:txBody>
          <a:bodyPr wrap="square" lIns="0" tIns="0" rIns="0" bIns="0" rtlCol="0" anchor="t"/>
          <a:lstStyle/>
          <a:p>
            <a:pPr marL="0" indent="0">
              <a:buNone/>
            </a:pPr>
            <a:r>
              <a:rPr lang="en-US" sz="1200" dirty="0">
                <a:solidFill>
                  <a:schemeClr val="tx1"/>
                </a:solidFill>
              </a:rPr>
              <a:t>Orang cenderung mengikuti yang sudah dilakukan orang lain.</a:t>
            </a:r>
            <a:endParaRPr lang="en-US" sz="1200" dirty="0"/>
          </a:p>
        </p:txBody>
      </p:sp>
      <p:sp>
        <p:nvSpPr>
          <p:cNvPr id="16" name="a2-p"/>
          <p:cNvSpPr/>
          <p:nvPr/>
        </p:nvSpPr>
        <p:spPr>
          <a:xfrm>
            <a:off x="3355848" y="2414016"/>
            <a:ext cx="2432304" cy="292608"/>
          </a:xfrm>
          <a:prstGeom prst="roundRect">
            <a:avLst>
              <a:gd name="adj" fmla="val 18750"/>
            </a:avLst>
          </a:prstGeom>
          <a:solidFill>
            <a:schemeClr val="accent1"/>
          </a:solidFill>
          <a:ln/>
        </p:spPr>
      </p:sp>
      <p:sp>
        <p:nvSpPr>
          <p:cNvPr id="17" name="a2-p"/>
          <p:cNvSpPr txBox="1"/>
          <p:nvPr/>
        </p:nvSpPr>
        <p:spPr>
          <a:xfrm>
            <a:off x="3447288" y="2414016"/>
            <a:ext cx="2286000" cy="292608"/>
          </a:xfrm>
          <a:prstGeom prst="rect">
            <a:avLst/>
          </a:prstGeom>
          <a:noFill/>
          <a:ln/>
        </p:spPr>
        <p:txBody>
          <a:bodyPr wrap="square" lIns="0" tIns="0" rIns="0" bIns="0" rtlCol="0" anchor="ctr"/>
          <a:lstStyle/>
          <a:p>
            <a:pPr marL="0" indent="0">
              <a:buNone/>
            </a:pPr>
            <a:r>
              <a:rPr lang="en-US" sz="1200" b="1" dirty="0">
                <a:solidFill>
                  <a:schemeClr val="tx1"/>
                </a:solidFill>
              </a:rPr>
              <a:t>Pakai: </a:t>
            </a:r>
            <a:r>
              <a:rPr lang="en-US" sz="1200" dirty="0">
                <a:solidFill>
                  <a:schemeClr val="tx1"/>
                </a:solidFill>
              </a:rPr>
              <a:t>Cerita toko percontohan</a:t>
            </a:r>
            <a:endParaRPr lang="en-US" sz="1200" dirty="0"/>
          </a:p>
        </p:txBody>
      </p:sp>
      <p:sp>
        <p:nvSpPr>
          <p:cNvPr id="18" name="a3-p"/>
          <p:cNvSpPr/>
          <p:nvPr/>
        </p:nvSpPr>
        <p:spPr>
          <a:xfrm>
            <a:off x="6035040" y="1298448"/>
            <a:ext cx="2651760" cy="1481328"/>
          </a:xfrm>
          <a:prstGeom prst="roundRect">
            <a:avLst>
              <a:gd name="adj" fmla="val 7407"/>
            </a:avLst>
          </a:prstGeom>
          <a:solidFill>
            <a:schemeClr val="bg2"/>
          </a:solidFill>
          <a:ln/>
        </p:spPr>
      </p:sp>
      <p:sp>
        <p:nvSpPr>
          <p:cNvPr id="19" name="a3-p"/>
          <p:cNvSpPr/>
          <p:nvPr/>
        </p:nvSpPr>
        <p:spPr>
          <a:xfrm>
            <a:off x="6172200" y="1435608"/>
            <a:ext cx="457200" cy="457200"/>
          </a:xfrm>
          <a:prstGeom prst="ellipse">
            <a:avLst/>
          </a:prstGeom>
          <a:solidFill>
            <a:schemeClr val="accent1"/>
          </a:solidFill>
          <a:ln/>
        </p:spPr>
      </p:sp>
      <p:pic>
        <p:nvPicPr>
          <p:cNvPr id="20" name="a3-p" descr="preencoded.png"/>
          <p:cNvPicPr>
            <a:picLocks noChangeAspect="1"/>
          </p:cNvPicPr>
          <p:nvPr/>
        </p:nvPicPr>
        <p:blipFill>
          <a:blip r:embed="rId5"/>
          <a:stretch>
            <a:fillRect/>
          </a:stretch>
        </p:blipFill>
        <p:spPr>
          <a:xfrm>
            <a:off x="6291072" y="1554480"/>
            <a:ext cx="219456" cy="219456"/>
          </a:xfrm>
          <a:prstGeom prst="rect">
            <a:avLst/>
          </a:prstGeom>
        </p:spPr>
      </p:pic>
      <p:sp>
        <p:nvSpPr>
          <p:cNvPr id="21" name="a3-p"/>
          <p:cNvSpPr txBox="1"/>
          <p:nvPr/>
        </p:nvSpPr>
        <p:spPr>
          <a:xfrm>
            <a:off x="6748272" y="1408176"/>
            <a:ext cx="1874520" cy="530352"/>
          </a:xfrm>
          <a:prstGeom prst="rect">
            <a:avLst/>
          </a:prstGeom>
          <a:noFill/>
          <a:ln/>
        </p:spPr>
        <p:txBody>
          <a:bodyPr wrap="square" lIns="0" tIns="0" rIns="0" bIns="0" rtlCol="0" anchor="ctr"/>
          <a:lstStyle/>
          <a:p>
            <a:pPr marL="0" indent="0">
              <a:buNone/>
            </a:pPr>
            <a:r>
              <a:rPr lang="en-US" sz="1500" b="1" dirty="0">
                <a:solidFill>
                  <a:schemeClr val="tx1"/>
                </a:solidFill>
              </a:rPr>
              <a:t>Komitmen Bertahap</a:t>
            </a:r>
            <a:endParaRPr lang="en-US" sz="1400" dirty="0"/>
          </a:p>
          <a:p>
            <a:pPr marL="0" indent="0">
              <a:buNone/>
            </a:pPr>
            <a:r>
              <a:rPr lang="en-US" sz="1100" i="1" dirty="0">
                <a:solidFill>
                  <a:schemeClr val="accent3"/>
                </a:solidFill>
              </a:rPr>
              <a:t>Commitment</a:t>
            </a:r>
            <a:endParaRPr lang="en-US" sz="1400" dirty="0"/>
          </a:p>
        </p:txBody>
      </p:sp>
      <p:sp>
        <p:nvSpPr>
          <p:cNvPr id="22" name="a3-p"/>
          <p:cNvSpPr txBox="1"/>
          <p:nvPr/>
        </p:nvSpPr>
        <p:spPr>
          <a:xfrm>
            <a:off x="6172200" y="1984248"/>
            <a:ext cx="2395728" cy="438912"/>
          </a:xfrm>
          <a:prstGeom prst="rect">
            <a:avLst/>
          </a:prstGeom>
          <a:noFill/>
          <a:ln/>
        </p:spPr>
        <p:txBody>
          <a:bodyPr wrap="square" lIns="0" tIns="0" rIns="0" bIns="0" rtlCol="0" anchor="t"/>
          <a:lstStyle/>
          <a:p>
            <a:pPr marL="0" indent="0">
              <a:buNone/>
            </a:pPr>
            <a:r>
              <a:rPr lang="en-US" sz="1200" dirty="0">
                <a:solidFill>
                  <a:schemeClr val="tx1"/>
                </a:solidFill>
              </a:rPr>
              <a:t>Setelah langkah kecil, orang cenderung konsisten.</a:t>
            </a:r>
            <a:endParaRPr lang="en-US" sz="1200" dirty="0"/>
          </a:p>
        </p:txBody>
      </p:sp>
      <p:sp>
        <p:nvSpPr>
          <p:cNvPr id="23" name="a3-p"/>
          <p:cNvSpPr/>
          <p:nvPr/>
        </p:nvSpPr>
        <p:spPr>
          <a:xfrm>
            <a:off x="6144768" y="2414016"/>
            <a:ext cx="2432304" cy="292608"/>
          </a:xfrm>
          <a:prstGeom prst="roundRect">
            <a:avLst>
              <a:gd name="adj" fmla="val 18750"/>
            </a:avLst>
          </a:prstGeom>
          <a:solidFill>
            <a:schemeClr val="accent1"/>
          </a:solidFill>
          <a:ln/>
        </p:spPr>
      </p:sp>
      <p:sp>
        <p:nvSpPr>
          <p:cNvPr id="24" name="a3-p"/>
          <p:cNvSpPr txBox="1"/>
          <p:nvPr/>
        </p:nvSpPr>
        <p:spPr>
          <a:xfrm>
            <a:off x="6236208" y="2414016"/>
            <a:ext cx="2286000" cy="292608"/>
          </a:xfrm>
          <a:prstGeom prst="rect">
            <a:avLst/>
          </a:prstGeom>
          <a:noFill/>
          <a:ln/>
        </p:spPr>
        <p:txBody>
          <a:bodyPr wrap="square" lIns="0" tIns="0" rIns="0" bIns="0" rtlCol="0" anchor="ctr"/>
          <a:lstStyle/>
          <a:p>
            <a:pPr marL="0" indent="0">
              <a:buNone/>
            </a:pPr>
            <a:r>
              <a:rPr lang="en-US" sz="1200" b="1" dirty="0">
                <a:solidFill>
                  <a:schemeClr val="tx1"/>
                </a:solidFill>
              </a:rPr>
              <a:t>Pakai: </a:t>
            </a:r>
            <a:r>
              <a:rPr lang="en-US" sz="1200" dirty="0">
                <a:solidFill>
                  <a:schemeClr val="tx1"/>
                </a:solidFill>
              </a:rPr>
              <a:t>Tangga komitmen</a:t>
            </a:r>
            <a:endParaRPr lang="en-US" sz="1200" dirty="0"/>
          </a:p>
        </p:txBody>
      </p:sp>
      <p:sp>
        <p:nvSpPr>
          <p:cNvPr id="25" name="a4-p"/>
          <p:cNvSpPr/>
          <p:nvPr/>
        </p:nvSpPr>
        <p:spPr>
          <a:xfrm>
            <a:off x="457200" y="2898648"/>
            <a:ext cx="2651760" cy="1481328"/>
          </a:xfrm>
          <a:prstGeom prst="roundRect">
            <a:avLst>
              <a:gd name="adj" fmla="val 7407"/>
            </a:avLst>
          </a:prstGeom>
          <a:solidFill>
            <a:schemeClr val="bg2"/>
          </a:solidFill>
          <a:ln/>
        </p:spPr>
      </p:sp>
      <p:sp>
        <p:nvSpPr>
          <p:cNvPr id="26" name="a4-p"/>
          <p:cNvSpPr/>
          <p:nvPr/>
        </p:nvSpPr>
        <p:spPr>
          <a:xfrm>
            <a:off x="594360" y="3035808"/>
            <a:ext cx="457200" cy="457200"/>
          </a:xfrm>
          <a:prstGeom prst="ellipse">
            <a:avLst/>
          </a:prstGeom>
          <a:solidFill>
            <a:schemeClr val="accent1"/>
          </a:solidFill>
          <a:ln/>
        </p:spPr>
      </p:sp>
      <p:pic>
        <p:nvPicPr>
          <p:cNvPr id="27" name="a4-p" descr="preencoded.png"/>
          <p:cNvPicPr>
            <a:picLocks noChangeAspect="1"/>
          </p:cNvPicPr>
          <p:nvPr/>
        </p:nvPicPr>
        <p:blipFill>
          <a:blip r:embed="rId6"/>
          <a:stretch>
            <a:fillRect/>
          </a:stretch>
        </p:blipFill>
        <p:spPr>
          <a:xfrm>
            <a:off x="713232" y="3154680"/>
            <a:ext cx="219456" cy="219456"/>
          </a:xfrm>
          <a:prstGeom prst="rect">
            <a:avLst/>
          </a:prstGeom>
        </p:spPr>
      </p:pic>
      <p:sp>
        <p:nvSpPr>
          <p:cNvPr id="28" name="a4-p"/>
          <p:cNvSpPr txBox="1"/>
          <p:nvPr/>
        </p:nvSpPr>
        <p:spPr>
          <a:xfrm>
            <a:off x="1170432" y="3008376"/>
            <a:ext cx="1874520" cy="530352"/>
          </a:xfrm>
          <a:prstGeom prst="rect">
            <a:avLst/>
          </a:prstGeom>
          <a:noFill/>
          <a:ln/>
        </p:spPr>
        <p:txBody>
          <a:bodyPr wrap="square" lIns="0" tIns="0" rIns="0" bIns="0" rtlCol="0" anchor="ctr"/>
          <a:lstStyle/>
          <a:p>
            <a:pPr marL="0" indent="0">
              <a:buNone/>
            </a:pPr>
            <a:r>
              <a:rPr lang="en-US" sz="1500" b="1" dirty="0">
                <a:solidFill>
                  <a:schemeClr val="tx1"/>
                </a:solidFill>
              </a:rPr>
              <a:t>Rasa Aman</a:t>
            </a:r>
            <a:endParaRPr lang="en-US" sz="1400" dirty="0"/>
          </a:p>
          <a:p>
            <a:pPr marL="0" indent="0">
              <a:buNone/>
            </a:pPr>
            <a:r>
              <a:rPr lang="en-US" sz="1100" i="1" dirty="0">
                <a:solidFill>
                  <a:schemeClr val="accent3"/>
                </a:solidFill>
              </a:rPr>
              <a:t>Risk Reduction</a:t>
            </a:r>
            <a:endParaRPr lang="en-US" sz="1400" dirty="0"/>
          </a:p>
        </p:txBody>
      </p:sp>
      <p:sp>
        <p:nvSpPr>
          <p:cNvPr id="29" name="a4-p"/>
          <p:cNvSpPr txBox="1"/>
          <p:nvPr/>
        </p:nvSpPr>
        <p:spPr>
          <a:xfrm>
            <a:off x="594360" y="3584448"/>
            <a:ext cx="2395728" cy="438912"/>
          </a:xfrm>
          <a:prstGeom prst="rect">
            <a:avLst/>
          </a:prstGeom>
          <a:noFill/>
          <a:ln/>
        </p:spPr>
        <p:txBody>
          <a:bodyPr wrap="square" lIns="0" tIns="0" rIns="0" bIns="0" rtlCol="0" anchor="t"/>
          <a:lstStyle/>
          <a:p>
            <a:pPr marL="0" indent="0">
              <a:buNone/>
            </a:pPr>
            <a:r>
              <a:rPr lang="en-US" sz="1200" dirty="0">
                <a:solidFill>
                  <a:schemeClr val="tx1"/>
                </a:solidFill>
              </a:rPr>
              <a:t>Keraguan turun saat risikonya terasa kecil.</a:t>
            </a:r>
            <a:endParaRPr lang="en-US" sz="1200" dirty="0"/>
          </a:p>
        </p:txBody>
      </p:sp>
      <p:sp>
        <p:nvSpPr>
          <p:cNvPr id="30" name="a4-p"/>
          <p:cNvSpPr/>
          <p:nvPr/>
        </p:nvSpPr>
        <p:spPr>
          <a:xfrm>
            <a:off x="566928" y="4014216"/>
            <a:ext cx="2432304" cy="292608"/>
          </a:xfrm>
          <a:prstGeom prst="roundRect">
            <a:avLst>
              <a:gd name="adj" fmla="val 18750"/>
            </a:avLst>
          </a:prstGeom>
          <a:solidFill>
            <a:schemeClr val="accent1"/>
          </a:solidFill>
          <a:ln/>
        </p:spPr>
      </p:sp>
      <p:sp>
        <p:nvSpPr>
          <p:cNvPr id="31" name="a4-p"/>
          <p:cNvSpPr txBox="1"/>
          <p:nvPr/>
        </p:nvSpPr>
        <p:spPr>
          <a:xfrm>
            <a:off x="658368" y="4014216"/>
            <a:ext cx="2286000" cy="292608"/>
          </a:xfrm>
          <a:prstGeom prst="rect">
            <a:avLst/>
          </a:prstGeom>
          <a:noFill/>
          <a:ln/>
        </p:spPr>
        <p:txBody>
          <a:bodyPr wrap="square" lIns="0" tIns="0" rIns="0" bIns="0" rtlCol="0" anchor="ctr"/>
          <a:lstStyle/>
          <a:p>
            <a:pPr marL="0" indent="0">
              <a:buNone/>
            </a:pPr>
            <a:r>
              <a:rPr lang="en-US" sz="1200" b="1" dirty="0">
                <a:solidFill>
                  <a:schemeClr val="tx1"/>
                </a:solidFill>
              </a:rPr>
              <a:t>Pakai: </a:t>
            </a:r>
            <a:r>
              <a:rPr lang="en-US" sz="1200" dirty="0">
                <a:solidFill>
                  <a:schemeClr val="tx1"/>
                </a:solidFill>
              </a:rPr>
              <a:t>Uji coba terhitung, modal nol</a:t>
            </a:r>
            <a:endParaRPr lang="en-US" sz="1200" dirty="0"/>
          </a:p>
        </p:txBody>
      </p:sp>
      <p:sp>
        <p:nvSpPr>
          <p:cNvPr id="32" name="a5-p"/>
          <p:cNvSpPr/>
          <p:nvPr/>
        </p:nvSpPr>
        <p:spPr>
          <a:xfrm>
            <a:off x="3246120" y="2898648"/>
            <a:ext cx="2651760" cy="1481328"/>
          </a:xfrm>
          <a:prstGeom prst="roundRect">
            <a:avLst>
              <a:gd name="adj" fmla="val 7407"/>
            </a:avLst>
          </a:prstGeom>
          <a:solidFill>
            <a:schemeClr val="bg2"/>
          </a:solidFill>
          <a:ln/>
        </p:spPr>
      </p:sp>
      <p:sp>
        <p:nvSpPr>
          <p:cNvPr id="33" name="a5-p"/>
          <p:cNvSpPr/>
          <p:nvPr/>
        </p:nvSpPr>
        <p:spPr>
          <a:xfrm>
            <a:off x="3383280" y="3035808"/>
            <a:ext cx="457200" cy="457200"/>
          </a:xfrm>
          <a:prstGeom prst="ellipse">
            <a:avLst/>
          </a:prstGeom>
          <a:solidFill>
            <a:schemeClr val="accent1"/>
          </a:solidFill>
          <a:ln/>
        </p:spPr>
      </p:sp>
      <p:pic>
        <p:nvPicPr>
          <p:cNvPr id="34" name="a5-p" descr="preencoded.png"/>
          <p:cNvPicPr>
            <a:picLocks noChangeAspect="1"/>
          </p:cNvPicPr>
          <p:nvPr/>
        </p:nvPicPr>
        <p:blipFill>
          <a:blip r:embed="rId7"/>
          <a:stretch>
            <a:fillRect/>
          </a:stretch>
        </p:blipFill>
        <p:spPr>
          <a:xfrm>
            <a:off x="3502152" y="3154680"/>
            <a:ext cx="219456" cy="219456"/>
          </a:xfrm>
          <a:prstGeom prst="rect">
            <a:avLst/>
          </a:prstGeom>
        </p:spPr>
      </p:pic>
      <p:sp>
        <p:nvSpPr>
          <p:cNvPr id="35" name="a5-p"/>
          <p:cNvSpPr txBox="1"/>
          <p:nvPr/>
        </p:nvSpPr>
        <p:spPr>
          <a:xfrm>
            <a:off x="3959352" y="3008376"/>
            <a:ext cx="1874520" cy="530352"/>
          </a:xfrm>
          <a:prstGeom prst="rect">
            <a:avLst/>
          </a:prstGeom>
          <a:noFill/>
          <a:ln/>
        </p:spPr>
        <p:txBody>
          <a:bodyPr wrap="square" lIns="0" tIns="0" rIns="0" bIns="0" rtlCol="0" anchor="ctr"/>
          <a:lstStyle/>
          <a:p>
            <a:pPr marL="0" indent="0">
              <a:buNone/>
            </a:pPr>
            <a:r>
              <a:rPr lang="en-US" sz="1500" b="1" dirty="0">
                <a:solidFill>
                  <a:schemeClr val="tx1"/>
                </a:solidFill>
              </a:rPr>
              <a:t>Timbal Balik</a:t>
            </a:r>
            <a:endParaRPr lang="en-US" sz="1400" dirty="0"/>
          </a:p>
          <a:p>
            <a:pPr marL="0" indent="0">
              <a:buNone/>
            </a:pPr>
            <a:r>
              <a:rPr lang="en-US" sz="1100" i="1" dirty="0">
                <a:solidFill>
                  <a:schemeClr val="accent3"/>
                </a:solidFill>
              </a:rPr>
              <a:t>Reciprocity</a:t>
            </a:r>
            <a:endParaRPr lang="en-US" sz="1400" dirty="0"/>
          </a:p>
        </p:txBody>
      </p:sp>
      <p:sp>
        <p:nvSpPr>
          <p:cNvPr id="36" name="a5-p"/>
          <p:cNvSpPr txBox="1"/>
          <p:nvPr/>
        </p:nvSpPr>
        <p:spPr>
          <a:xfrm>
            <a:off x="3383280" y="3584448"/>
            <a:ext cx="2395728" cy="438912"/>
          </a:xfrm>
          <a:prstGeom prst="rect">
            <a:avLst/>
          </a:prstGeom>
          <a:noFill/>
          <a:ln/>
        </p:spPr>
        <p:txBody>
          <a:bodyPr wrap="square" lIns="0" tIns="0" rIns="0" bIns="0" rtlCol="0" anchor="t"/>
          <a:lstStyle/>
          <a:p>
            <a:pPr marL="0" indent="0">
              <a:buNone/>
            </a:pPr>
            <a:r>
              <a:rPr lang="en-US" sz="1200" dirty="0">
                <a:solidFill>
                  <a:schemeClr val="tx1"/>
                </a:solidFill>
              </a:rPr>
              <a:t>Orang terdorong membalas bantuan yang diterima.</a:t>
            </a:r>
            <a:endParaRPr lang="en-US" sz="1200" dirty="0"/>
          </a:p>
        </p:txBody>
      </p:sp>
      <p:sp>
        <p:nvSpPr>
          <p:cNvPr id="37" name="a5-p"/>
          <p:cNvSpPr/>
          <p:nvPr/>
        </p:nvSpPr>
        <p:spPr>
          <a:xfrm>
            <a:off x="3355848" y="4014216"/>
            <a:ext cx="2432304" cy="292608"/>
          </a:xfrm>
          <a:prstGeom prst="roundRect">
            <a:avLst>
              <a:gd name="adj" fmla="val 18750"/>
            </a:avLst>
          </a:prstGeom>
          <a:solidFill>
            <a:schemeClr val="accent1"/>
          </a:solidFill>
          <a:ln/>
        </p:spPr>
      </p:sp>
      <p:sp>
        <p:nvSpPr>
          <p:cNvPr id="38" name="a5-p"/>
          <p:cNvSpPr txBox="1"/>
          <p:nvPr/>
        </p:nvSpPr>
        <p:spPr>
          <a:xfrm>
            <a:off x="3447288" y="4014216"/>
            <a:ext cx="2286000" cy="292608"/>
          </a:xfrm>
          <a:prstGeom prst="rect">
            <a:avLst/>
          </a:prstGeom>
          <a:noFill/>
          <a:ln/>
        </p:spPr>
        <p:txBody>
          <a:bodyPr wrap="square" lIns="0" tIns="0" rIns="0" bIns="0" rtlCol="0" anchor="ctr"/>
          <a:lstStyle/>
          <a:p>
            <a:pPr marL="0" indent="0">
              <a:buNone/>
            </a:pPr>
            <a:r>
              <a:rPr lang="en-US" sz="1200" b="1" dirty="0">
                <a:solidFill>
                  <a:schemeClr val="tx1"/>
                </a:solidFill>
              </a:rPr>
              <a:t>Pakai: </a:t>
            </a:r>
            <a:r>
              <a:rPr lang="en-US" sz="1200" dirty="0">
                <a:solidFill>
                  <a:schemeClr val="tx1"/>
                </a:solidFill>
              </a:rPr>
              <a:t>Bantu toko menjual</a:t>
            </a:r>
            <a:endParaRPr lang="en-US" sz="1200" dirty="0"/>
          </a:p>
        </p:txBody>
      </p:sp>
      <p:sp>
        <p:nvSpPr>
          <p:cNvPr id="39" name="a6-p"/>
          <p:cNvSpPr/>
          <p:nvPr/>
        </p:nvSpPr>
        <p:spPr>
          <a:xfrm>
            <a:off x="6035040" y="2898648"/>
            <a:ext cx="2651760" cy="1481328"/>
          </a:xfrm>
          <a:prstGeom prst="roundRect">
            <a:avLst>
              <a:gd name="adj" fmla="val 7407"/>
            </a:avLst>
          </a:prstGeom>
          <a:solidFill>
            <a:schemeClr val="bg2"/>
          </a:solidFill>
          <a:ln/>
        </p:spPr>
      </p:sp>
      <p:sp>
        <p:nvSpPr>
          <p:cNvPr id="40" name="a6-p"/>
          <p:cNvSpPr/>
          <p:nvPr/>
        </p:nvSpPr>
        <p:spPr>
          <a:xfrm>
            <a:off x="6172200" y="3035808"/>
            <a:ext cx="457200" cy="457200"/>
          </a:xfrm>
          <a:prstGeom prst="ellipse">
            <a:avLst/>
          </a:prstGeom>
          <a:solidFill>
            <a:schemeClr val="accent1"/>
          </a:solidFill>
          <a:ln/>
        </p:spPr>
      </p:sp>
      <p:pic>
        <p:nvPicPr>
          <p:cNvPr id="41" name="a6-p" descr="preencoded.png"/>
          <p:cNvPicPr>
            <a:picLocks noChangeAspect="1"/>
          </p:cNvPicPr>
          <p:nvPr/>
        </p:nvPicPr>
        <p:blipFill>
          <a:blip r:embed="rId8"/>
          <a:stretch>
            <a:fillRect/>
          </a:stretch>
        </p:blipFill>
        <p:spPr>
          <a:xfrm>
            <a:off x="6291072" y="3154680"/>
            <a:ext cx="219456" cy="219456"/>
          </a:xfrm>
          <a:prstGeom prst="rect">
            <a:avLst/>
          </a:prstGeom>
        </p:spPr>
      </p:pic>
      <p:sp>
        <p:nvSpPr>
          <p:cNvPr id="42" name="a6-p"/>
          <p:cNvSpPr txBox="1"/>
          <p:nvPr/>
        </p:nvSpPr>
        <p:spPr>
          <a:xfrm>
            <a:off x="6748272" y="3008376"/>
            <a:ext cx="1874520" cy="530352"/>
          </a:xfrm>
          <a:prstGeom prst="rect">
            <a:avLst/>
          </a:prstGeom>
          <a:noFill/>
          <a:ln/>
        </p:spPr>
        <p:txBody>
          <a:bodyPr wrap="square" lIns="0" tIns="0" rIns="0" bIns="0" rtlCol="0" anchor="ctr"/>
          <a:lstStyle/>
          <a:p>
            <a:pPr marL="0" indent="0">
              <a:buNone/>
            </a:pPr>
            <a:r>
              <a:rPr lang="en-US" sz="1500" b="1" dirty="0">
                <a:solidFill>
                  <a:schemeClr val="tx1"/>
                </a:solidFill>
              </a:rPr>
              <a:t>Kepercayaan</a:t>
            </a:r>
            <a:endParaRPr lang="en-US" sz="1400" dirty="0"/>
          </a:p>
          <a:p>
            <a:pPr marL="0" indent="0">
              <a:buNone/>
            </a:pPr>
            <a:r>
              <a:rPr lang="en-US" sz="1100" i="1" dirty="0">
                <a:solidFill>
                  <a:schemeClr val="accent3"/>
                </a:solidFill>
              </a:rPr>
              <a:t>Liking &amp; Trust</a:t>
            </a:r>
            <a:endParaRPr lang="en-US" sz="1400" dirty="0"/>
          </a:p>
        </p:txBody>
      </p:sp>
      <p:sp>
        <p:nvSpPr>
          <p:cNvPr id="43" name="a6-p"/>
          <p:cNvSpPr txBox="1"/>
          <p:nvPr/>
        </p:nvSpPr>
        <p:spPr>
          <a:xfrm>
            <a:off x="6172200" y="3584448"/>
            <a:ext cx="2395728" cy="438912"/>
          </a:xfrm>
          <a:prstGeom prst="rect">
            <a:avLst/>
          </a:prstGeom>
          <a:noFill/>
          <a:ln/>
        </p:spPr>
        <p:txBody>
          <a:bodyPr wrap="square" lIns="0" tIns="0" rIns="0" bIns="0" rtlCol="0" anchor="t"/>
          <a:lstStyle/>
          <a:p>
            <a:pPr marL="0" indent="0">
              <a:buNone/>
            </a:pPr>
            <a:r>
              <a:rPr lang="en-US" sz="1200" dirty="0">
                <a:solidFill>
                  <a:schemeClr val="tx1"/>
                </a:solidFill>
              </a:rPr>
              <a:t>Orang membeli dari yang ia percaya.</a:t>
            </a:r>
            <a:endParaRPr lang="en-US" sz="1200" dirty="0"/>
          </a:p>
        </p:txBody>
      </p:sp>
      <p:sp>
        <p:nvSpPr>
          <p:cNvPr id="44" name="a6-p"/>
          <p:cNvSpPr/>
          <p:nvPr/>
        </p:nvSpPr>
        <p:spPr>
          <a:xfrm>
            <a:off x="6144768" y="4014216"/>
            <a:ext cx="2432304" cy="292608"/>
          </a:xfrm>
          <a:prstGeom prst="roundRect">
            <a:avLst>
              <a:gd name="adj" fmla="val 18750"/>
            </a:avLst>
          </a:prstGeom>
          <a:solidFill>
            <a:schemeClr val="accent1"/>
          </a:solidFill>
          <a:ln/>
        </p:spPr>
      </p:sp>
      <p:sp>
        <p:nvSpPr>
          <p:cNvPr id="45" name="a6-p"/>
          <p:cNvSpPr txBox="1"/>
          <p:nvPr/>
        </p:nvSpPr>
        <p:spPr>
          <a:xfrm>
            <a:off x="6236208" y="4014216"/>
            <a:ext cx="2286000" cy="292608"/>
          </a:xfrm>
          <a:prstGeom prst="rect">
            <a:avLst/>
          </a:prstGeom>
          <a:noFill/>
          <a:ln/>
        </p:spPr>
        <p:txBody>
          <a:bodyPr wrap="square" lIns="0" tIns="0" rIns="0" bIns="0" rtlCol="0" anchor="ctr"/>
          <a:lstStyle/>
          <a:p>
            <a:pPr marL="0" indent="0">
              <a:buNone/>
            </a:pPr>
            <a:r>
              <a:rPr lang="en-US" sz="1200" b="1" dirty="0">
                <a:solidFill>
                  <a:schemeClr val="tx1"/>
                </a:solidFill>
              </a:rPr>
              <a:t>Pakai: </a:t>
            </a:r>
            <a:r>
              <a:rPr lang="en-US" sz="1200" dirty="0">
                <a:solidFill>
                  <a:schemeClr val="tx1"/>
                </a:solidFill>
              </a:rPr>
              <a:t>Kunjungan rutin, tepati janji</a:t>
            </a:r>
            <a:endParaRPr lang="en-US" sz="1200" dirty="0"/>
          </a:p>
        </p:txBody>
      </p:sp>
      <p:sp>
        <p:nvSpPr>
          <p:cNvPr id="4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400"/>
                            </p:stCondLst>
                            <p:childTnLst>
                              <p:par>
                                <p:cTn id="27" presetID="10"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par>
                          <p:cTn id="48" fill="hold">
                            <p:stCondLst>
                              <p:cond delay="800"/>
                            </p:stCondLst>
                            <p:childTnLst>
                              <p:par>
                                <p:cTn id="49" presetID="10" presetClass="entr" presetSubtype="0" fill="hold"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par>
                          <p:cTn id="70" fill="hold">
                            <p:stCondLst>
                              <p:cond delay="1200"/>
                            </p:stCondLst>
                            <p:childTnLst>
                              <p:par>
                                <p:cTn id="71" presetID="10" presetClass="entr" presetSubtype="0" fill="hold"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childTnLst>
                          </p:cTn>
                        </p:par>
                        <p:par>
                          <p:cTn id="92" fill="hold">
                            <p:stCondLst>
                              <p:cond delay="1600"/>
                            </p:stCondLst>
                            <p:childTnLst>
                              <p:par>
                                <p:cTn id="93" presetID="10" presetClass="entr" presetSubtype="0" fill="hold" nodeType="after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500"/>
                                        <p:tgtEl>
                                          <p:spTgt spid="32"/>
                                        </p:tgtEl>
                                      </p:cBhvr>
                                    </p:animEffect>
                                  </p:childTnLst>
                                </p:cTn>
                              </p:par>
                              <p:par>
                                <p:cTn id="96" presetID="10" presetClass="entr" presetSubtype="0" fill="hold"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par>
                                <p:cTn id="102" presetID="10" presetClass="entr" presetSubtype="0" fill="hold"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500"/>
                                        <p:tgtEl>
                                          <p:spTgt spid="35"/>
                                        </p:tgtEl>
                                      </p:cBhvr>
                                    </p:animEffect>
                                  </p:childTnLst>
                                </p:cTn>
                              </p:par>
                              <p:par>
                                <p:cTn id="105" presetID="10" presetClass="entr" presetSubtype="0" fill="hold"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500"/>
                                        <p:tgtEl>
                                          <p:spTgt spid="36"/>
                                        </p:tgtEl>
                                      </p:cBhvr>
                                    </p:animEffect>
                                  </p:childTnLst>
                                </p:cTn>
                              </p:par>
                              <p:par>
                                <p:cTn id="108" presetID="10" presetClass="entr" presetSubtype="0" fill="hold" nodeType="with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500"/>
                                        <p:tgtEl>
                                          <p:spTgt spid="37"/>
                                        </p:tgtEl>
                                      </p:cBhvr>
                                    </p:animEffect>
                                  </p:childTnLst>
                                </p:cTn>
                              </p:par>
                              <p:par>
                                <p:cTn id="111" presetID="10" presetClass="entr" presetSubtype="0" fill="hold"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500"/>
                                        <p:tgtEl>
                                          <p:spTgt spid="38"/>
                                        </p:tgtEl>
                                      </p:cBhvr>
                                    </p:animEffect>
                                  </p:childTnLst>
                                </p:cTn>
                              </p:par>
                            </p:childTnLst>
                          </p:cTn>
                        </p:par>
                        <p:par>
                          <p:cTn id="114" fill="hold">
                            <p:stCondLst>
                              <p:cond delay="2000"/>
                            </p:stCondLst>
                            <p:childTnLst>
                              <p:par>
                                <p:cTn id="115" presetID="10" presetClass="entr" presetSubtype="0" fill="hold" nodeType="after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500"/>
                                        <p:tgtEl>
                                          <p:spTgt spid="39"/>
                                        </p:tgtEl>
                                      </p:cBhvr>
                                    </p:animEffect>
                                  </p:childTnLst>
                                </p:cTn>
                              </p:par>
                              <p:par>
                                <p:cTn id="118" presetID="10" presetClass="entr" presetSubtype="0" fill="hold"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500"/>
                                        <p:tgtEl>
                                          <p:spTgt spid="40"/>
                                        </p:tgtEl>
                                      </p:cBhvr>
                                    </p:animEffect>
                                  </p:childTnLst>
                                </p:cTn>
                              </p:par>
                              <p:par>
                                <p:cTn id="121" presetID="10" presetClass="entr" presetSubtype="0" fill="hold" nodeType="with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500"/>
                                        <p:tgtEl>
                                          <p:spTgt spid="41"/>
                                        </p:tgtEl>
                                      </p:cBhvr>
                                    </p:animEffect>
                                  </p:childTnLst>
                                </p:cTn>
                              </p:par>
                              <p:par>
                                <p:cTn id="124" presetID="10" presetClass="entr" presetSubtype="0" fill="hold" nodeType="with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500"/>
                                        <p:tgtEl>
                                          <p:spTgt spid="42"/>
                                        </p:tgtEl>
                                      </p:cBhvr>
                                    </p:animEffect>
                                  </p:childTnLst>
                                </p:cTn>
                              </p:par>
                              <p:par>
                                <p:cTn id="127" presetID="10" presetClass="entr" presetSubtype="0" fill="hold" nodeType="withEffect">
                                  <p:stCondLst>
                                    <p:cond delay="0"/>
                                  </p:stCondLst>
                                  <p:childTnLst>
                                    <p:set>
                                      <p:cBhvr>
                                        <p:cTn id="128" dur="1" fill="hold">
                                          <p:stCondLst>
                                            <p:cond delay="0"/>
                                          </p:stCondLst>
                                        </p:cTn>
                                        <p:tgtEl>
                                          <p:spTgt spid="43"/>
                                        </p:tgtEl>
                                        <p:attrNameLst>
                                          <p:attrName>style.visibility</p:attrName>
                                        </p:attrNameLst>
                                      </p:cBhvr>
                                      <p:to>
                                        <p:strVal val="visible"/>
                                      </p:to>
                                    </p:set>
                                    <p:animEffect transition="in" filter="fade">
                                      <p:cBhvr>
                                        <p:cTn id="129" dur="500"/>
                                        <p:tgtEl>
                                          <p:spTgt spid="43"/>
                                        </p:tgtEl>
                                      </p:cBhvr>
                                    </p:animEffect>
                                  </p:childTnLst>
                                </p:cTn>
                              </p:par>
                              <p:par>
                                <p:cTn id="130" presetID="10" presetClass="entr" presetSubtype="0" fill="hold" nodeType="withEffect">
                                  <p:stCondLst>
                                    <p:cond delay="0"/>
                                  </p:stCondLst>
                                  <p:childTnLst>
                                    <p:set>
                                      <p:cBhvr>
                                        <p:cTn id="131" dur="1" fill="hold">
                                          <p:stCondLst>
                                            <p:cond delay="0"/>
                                          </p:stCondLst>
                                        </p:cTn>
                                        <p:tgtEl>
                                          <p:spTgt spid="44"/>
                                        </p:tgtEl>
                                        <p:attrNameLst>
                                          <p:attrName>style.visibility</p:attrName>
                                        </p:attrNameLst>
                                      </p:cBhvr>
                                      <p:to>
                                        <p:strVal val="visible"/>
                                      </p:to>
                                    </p:set>
                                    <p:animEffect transition="in" filter="fade">
                                      <p:cBhvr>
                                        <p:cTn id="132" dur="500"/>
                                        <p:tgtEl>
                                          <p:spTgt spid="44"/>
                                        </p:tgtEl>
                                      </p:cBhvr>
                                    </p:animEffect>
                                  </p:childTnLst>
                                </p:cTn>
                              </p:par>
                              <p:par>
                                <p:cTn id="133" presetID="10" presetClass="entr" presetSubtype="0" fill="hold" nodeType="withEffect">
                                  <p:stCondLst>
                                    <p:cond delay="0"/>
                                  </p:stCondLst>
                                  <p:childTnLst>
                                    <p:set>
                                      <p:cBhvr>
                                        <p:cTn id="134" dur="1" fill="hold">
                                          <p:stCondLst>
                                            <p:cond delay="0"/>
                                          </p:stCondLst>
                                        </p:cTn>
                                        <p:tgtEl>
                                          <p:spTgt spid="45"/>
                                        </p:tgtEl>
                                        <p:attrNameLst>
                                          <p:attrName>style.visibility</p:attrName>
                                        </p:attrNameLst>
                                      </p:cBhvr>
                                      <p:to>
                                        <p:strVal val="visible"/>
                                      </p:to>
                                    </p:set>
                                    <p:animEffect transition="in" filter="fade">
                                      <p:cBhvr>
                                        <p:cTn id="13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502920"/>
            <a:ext cx="2286000" cy="1188720"/>
          </a:xfrm>
          <a:prstGeom prst="rect">
            <a:avLst/>
          </a:prstGeom>
          <a:noFill/>
          <a:ln/>
        </p:spPr>
        <p:txBody>
          <a:bodyPr wrap="square" lIns="0" tIns="0" rIns="0" bIns="0" rtlCol="0" anchor="ctr"/>
          <a:lstStyle/>
          <a:p>
            <a:pPr marL="0" indent="0">
              <a:buNone/>
            </a:pPr>
            <a:r>
              <a:rPr lang="en-US" sz="8800" b="1" dirty="0">
                <a:solidFill>
                  <a:schemeClr val="accent1"/>
                </a:solidFill>
                <a:latin typeface="Arial" pitchFamily="34" charset="0"/>
                <a:ea typeface="Arial" pitchFamily="34" charset="-122"/>
                <a:cs typeface="Arial" pitchFamily="34" charset="-120"/>
              </a:rPr>
              <a:t>01</a:t>
            </a:r>
            <a:endParaRPr lang="en-US" sz="8800" dirty="0"/>
          </a:p>
        </p:txBody>
      </p:sp>
      <p:sp>
        <p:nvSpPr>
          <p:cNvPr id="3" name="Text 0"/>
          <p:cNvSpPr>
            <a:spLocks noGrp="1"/>
          </p:cNvSpPr>
          <p:nvPr>
            <p:ph type="title" idx="100" hasCustomPrompt="1"/>
          </p:nvPr>
        </p:nvSpPr>
        <p:spPr>
          <a:xfrm>
            <a:off x="548640" y="1874520"/>
            <a:ext cx="4846320" cy="1188720"/>
          </a:xfrm>
          <a:prstGeom prst="rect">
            <a:avLst/>
          </a:prstGeom>
          <a:noFill/>
          <a:ln/>
        </p:spPr>
        <p:txBody>
          <a:bodyPr wrap="square" lIns="0" tIns="0" rIns="0" bIns="0" rtlCol="0" anchor="t"/>
          <a:lstStyle/>
          <a:p>
            <a:pPr marL="0" indent="0" algn="l">
              <a:buNone/>
            </a:pPr>
            <a:r>
              <a:rPr lang="en-US" sz="3600" b="1" dirty="0">
                <a:solidFill>
                  <a:schemeClr val="accent1"/>
                </a:solidFill>
              </a:rPr>
              <a:t>Kenali Toko Sebelum Menawarkan</a:t>
            </a:r>
            <a:endParaRPr lang="en-US" sz="3600" dirty="0"/>
          </a:p>
        </p:txBody>
      </p:sp>
      <p:sp>
        <p:nvSpPr>
          <p:cNvPr id="4" name="Text 0"/>
          <p:cNvSpPr>
            <a:spLocks noGrp="1"/>
          </p:cNvSpPr>
          <p:nvPr>
            <p:ph type="body" idx="101" hasCustomPrompt="1"/>
          </p:nvPr>
        </p:nvSpPr>
        <p:spPr>
          <a:xfrm>
            <a:off x="548640" y="3108960"/>
            <a:ext cx="4754880" cy="731520"/>
          </a:xfrm>
          <a:prstGeom prst="rect">
            <a:avLst/>
          </a:prstGeom>
          <a:noFill/>
          <a:ln/>
        </p:spPr>
        <p:txBody>
          <a:bodyPr wrap="square" lIns="0" tIns="0" rIns="0" bIns="0" rtlCol="0" anchor="t"/>
          <a:lstStyle/>
          <a:p>
            <a:pPr marL="0" indent="0" algn="l">
              <a:buNone/>
            </a:pPr>
            <a:r>
              <a:rPr lang="en-US" sz="1800" dirty="0">
                <a:solidFill>
                  <a:schemeClr val="bg1"/>
                </a:solidFill>
              </a:rPr>
              <a:t>Toko yang berbeda butuh tawaran yang berbeda.</a:t>
            </a:r>
            <a:endParaRPr lang="en-US" sz="1800" dirty="0"/>
          </a:p>
        </p:txBody>
      </p:sp>
      <p:pic>
        <p:nvPicPr>
          <p:cNvPr id="5" name="a1-illus" descr="preencoded.png"/>
          <p:cNvPicPr>
            <a:picLocks noChangeAspect="1"/>
          </p:cNvPicPr>
          <p:nvPr/>
        </p:nvPicPr>
        <p:blipFill>
          <a:blip r:embed="rId3"/>
          <a:stretch>
            <a:fillRect/>
          </a:stretch>
        </p:blipFill>
        <p:spPr>
          <a:xfrm>
            <a:off x="5440680" y="1051560"/>
            <a:ext cx="3291840" cy="2761488"/>
          </a:xfrm>
          <a:prstGeom prst="rect">
            <a:avLst/>
          </a:prstGeom>
        </p:spPr>
      </p:pic>
      <p:sp>
        <p:nvSpPr>
          <p:cNvPr id="6" name="a2-topics"/>
          <p:cNvSpPr txBox="1"/>
          <p:nvPr/>
        </p:nvSpPr>
        <p:spPr>
          <a:xfrm>
            <a:off x="548640" y="4343400"/>
            <a:ext cx="8138160" cy="274320"/>
          </a:xfrm>
          <a:prstGeom prst="rect">
            <a:avLst/>
          </a:prstGeom>
          <a:noFill/>
          <a:ln/>
        </p:spPr>
        <p:txBody>
          <a:bodyPr wrap="square" lIns="0" tIns="0" rIns="0" bIns="0" rtlCol="0" anchor="t"/>
          <a:lstStyle/>
          <a:p>
            <a:pPr marL="0" indent="0">
              <a:buNone/>
            </a:pPr>
            <a:r>
              <a:rPr lang="en-US" sz="1200" dirty="0">
                <a:solidFill>
                  <a:srgbClr val="BBBBBB"/>
                </a:solidFill>
              </a:rPr>
              <a:t>Prioritas toko  ·  Pengambil keputusan  ·  Sinyal toko  ·  Pangsa SID  ·  Kompetitor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Pilih Medan: Potensi × Hubungan</a:t>
            </a:r>
            <a:endParaRPr lang="en-US" sz="2800" dirty="0"/>
          </a:p>
        </p:txBody>
      </p:sp>
      <p:sp>
        <p:nvSpPr>
          <p:cNvPr id="3" name="pill"/>
          <p:cNvSpPr txBox="1"/>
          <p:nvPr/>
        </p:nvSpPr>
        <p:spPr>
          <a:xfrm>
            <a:off x="457200" y="237744"/>
            <a:ext cx="231709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1.1  ·  PRIORITAS TOKO</a:t>
            </a:r>
            <a:endParaRPr lang="en-US" sz="1000" dirty="0"/>
          </a:p>
        </p:txBody>
      </p:sp>
      <p:sp>
        <p:nvSpPr>
          <p:cNvPr id="4" name="a2-q"/>
          <p:cNvSpPr/>
          <p:nvPr/>
        </p:nvSpPr>
        <p:spPr>
          <a:xfrm>
            <a:off x="1005840" y="1325880"/>
            <a:ext cx="2194560" cy="1417320"/>
          </a:xfrm>
          <a:prstGeom prst="roundRect">
            <a:avLst>
              <a:gd name="adj" fmla="val 7742"/>
            </a:avLst>
          </a:prstGeom>
          <a:solidFill>
            <a:schemeClr val="accent1"/>
          </a:solidFill>
          <a:ln/>
        </p:spPr>
      </p:sp>
      <p:pic>
        <p:nvPicPr>
          <p:cNvPr id="5" name="a2-q" descr="preencoded.png"/>
          <p:cNvPicPr>
            <a:picLocks noChangeAspect="1"/>
          </p:cNvPicPr>
          <p:nvPr/>
        </p:nvPicPr>
        <p:blipFill>
          <a:blip r:embed="rId3"/>
          <a:stretch>
            <a:fillRect/>
          </a:stretch>
        </p:blipFill>
        <p:spPr>
          <a:xfrm>
            <a:off x="1170432" y="1508760"/>
            <a:ext cx="329184" cy="329184"/>
          </a:xfrm>
          <a:prstGeom prst="rect">
            <a:avLst/>
          </a:prstGeom>
        </p:spPr>
      </p:pic>
      <p:sp>
        <p:nvSpPr>
          <p:cNvPr id="6" name="a2-q"/>
          <p:cNvSpPr txBox="1"/>
          <p:nvPr/>
        </p:nvSpPr>
        <p:spPr>
          <a:xfrm>
            <a:off x="1600200" y="1490472"/>
            <a:ext cx="1508760" cy="365760"/>
          </a:xfrm>
          <a:prstGeom prst="rect">
            <a:avLst/>
          </a:prstGeom>
          <a:noFill/>
          <a:ln/>
        </p:spPr>
        <p:txBody>
          <a:bodyPr wrap="square" lIns="0" tIns="0" rIns="0" bIns="0" rtlCol="0" anchor="ctr"/>
          <a:lstStyle/>
          <a:p>
            <a:pPr marL="0" indent="0">
              <a:buNone/>
            </a:pPr>
            <a:r>
              <a:rPr lang="en-US" sz="1400" b="1" kern="0" spc="50" dirty="0">
                <a:solidFill>
                  <a:schemeClr val="tx1"/>
                </a:solidFill>
              </a:rPr>
              <a:t>PRIORITAS 1</a:t>
            </a:r>
            <a:endParaRPr lang="en-US" sz="1400" dirty="0"/>
          </a:p>
        </p:txBody>
      </p:sp>
      <p:sp>
        <p:nvSpPr>
          <p:cNvPr id="7" name="a2-q"/>
          <p:cNvSpPr txBox="1"/>
          <p:nvPr/>
        </p:nvSpPr>
        <p:spPr>
          <a:xfrm>
            <a:off x="1170432" y="1965960"/>
            <a:ext cx="1865376" cy="685800"/>
          </a:xfrm>
          <a:prstGeom prst="rect">
            <a:avLst/>
          </a:prstGeom>
          <a:noFill/>
          <a:ln/>
        </p:spPr>
        <p:txBody>
          <a:bodyPr wrap="square" lIns="0" tIns="0" rIns="0" bIns="0" rtlCol="0" anchor="t"/>
          <a:lstStyle/>
          <a:p>
            <a:pPr marL="0" indent="0">
              <a:buNone/>
            </a:pPr>
            <a:r>
              <a:rPr lang="en-US" sz="1400" dirty="0">
                <a:solidFill>
                  <a:schemeClr val="tx1"/>
                </a:solidFill>
              </a:rPr>
              <a:t>Langsung tawarkan 2–3 produk sekaligus.</a:t>
            </a:r>
            <a:endParaRPr lang="en-US" sz="1400" dirty="0"/>
          </a:p>
        </p:txBody>
      </p:sp>
      <p:sp>
        <p:nvSpPr>
          <p:cNvPr id="8" name="a3-q"/>
          <p:cNvSpPr/>
          <p:nvPr/>
        </p:nvSpPr>
        <p:spPr>
          <a:xfrm>
            <a:off x="3291840" y="1325880"/>
            <a:ext cx="2194560" cy="1417320"/>
          </a:xfrm>
          <a:prstGeom prst="roundRect">
            <a:avLst>
              <a:gd name="adj" fmla="val 7742"/>
            </a:avLst>
          </a:prstGeom>
          <a:solidFill>
            <a:schemeClr val="tx1"/>
          </a:solidFill>
          <a:ln/>
        </p:spPr>
      </p:sp>
      <p:pic>
        <p:nvPicPr>
          <p:cNvPr id="9" name="a3-q" descr="preencoded.png"/>
          <p:cNvPicPr>
            <a:picLocks noChangeAspect="1"/>
          </p:cNvPicPr>
          <p:nvPr/>
        </p:nvPicPr>
        <p:blipFill>
          <a:blip r:embed="rId4"/>
          <a:stretch>
            <a:fillRect/>
          </a:stretch>
        </p:blipFill>
        <p:spPr>
          <a:xfrm>
            <a:off x="3456432" y="1508760"/>
            <a:ext cx="329184" cy="329184"/>
          </a:xfrm>
          <a:prstGeom prst="rect">
            <a:avLst/>
          </a:prstGeom>
        </p:spPr>
      </p:pic>
      <p:sp>
        <p:nvSpPr>
          <p:cNvPr id="10" name="a3-q"/>
          <p:cNvSpPr txBox="1"/>
          <p:nvPr/>
        </p:nvSpPr>
        <p:spPr>
          <a:xfrm>
            <a:off x="3886200" y="1490472"/>
            <a:ext cx="1508760" cy="365760"/>
          </a:xfrm>
          <a:prstGeom prst="rect">
            <a:avLst/>
          </a:prstGeom>
          <a:noFill/>
          <a:ln/>
        </p:spPr>
        <p:txBody>
          <a:bodyPr wrap="square" lIns="0" tIns="0" rIns="0" bIns="0" rtlCol="0" anchor="ctr"/>
          <a:lstStyle/>
          <a:p>
            <a:pPr marL="0" indent="0">
              <a:buNone/>
            </a:pPr>
            <a:r>
              <a:rPr lang="en-US" sz="1400" b="1" kern="0" spc="50" dirty="0">
                <a:solidFill>
                  <a:schemeClr val="bg1"/>
                </a:solidFill>
              </a:rPr>
              <a:t>PRIORITAS 2</a:t>
            </a:r>
            <a:endParaRPr lang="en-US" sz="1400" dirty="0"/>
          </a:p>
        </p:txBody>
      </p:sp>
      <p:sp>
        <p:nvSpPr>
          <p:cNvPr id="11" name="a3-q"/>
          <p:cNvSpPr txBox="1"/>
          <p:nvPr/>
        </p:nvSpPr>
        <p:spPr>
          <a:xfrm>
            <a:off x="3456432" y="1965960"/>
            <a:ext cx="1865376" cy="685800"/>
          </a:xfrm>
          <a:prstGeom prst="rect">
            <a:avLst/>
          </a:prstGeom>
          <a:noFill/>
          <a:ln/>
        </p:spPr>
        <p:txBody>
          <a:bodyPr wrap="square" lIns="0" tIns="0" rIns="0" bIns="0" rtlCol="0" anchor="t"/>
          <a:lstStyle/>
          <a:p>
            <a:pPr marL="0" indent="0">
              <a:buNone/>
            </a:pPr>
            <a:r>
              <a:rPr lang="en-US" sz="1400" dirty="0">
                <a:solidFill>
                  <a:schemeClr val="bg1"/>
                </a:solidFill>
              </a:rPr>
              <a:t>Bangun kepercayaan dulu, baru menawarkan.</a:t>
            </a:r>
            <a:endParaRPr lang="en-US" sz="1400" dirty="0"/>
          </a:p>
        </p:txBody>
      </p:sp>
      <p:sp>
        <p:nvSpPr>
          <p:cNvPr id="12" name="a4-q"/>
          <p:cNvSpPr/>
          <p:nvPr/>
        </p:nvSpPr>
        <p:spPr>
          <a:xfrm>
            <a:off x="1005840" y="2834640"/>
            <a:ext cx="2194560" cy="1417320"/>
          </a:xfrm>
          <a:prstGeom prst="roundRect">
            <a:avLst>
              <a:gd name="adj" fmla="val 7742"/>
            </a:avLst>
          </a:prstGeom>
          <a:solidFill>
            <a:schemeClr val="accent2"/>
          </a:solidFill>
          <a:ln/>
        </p:spPr>
      </p:sp>
      <p:pic>
        <p:nvPicPr>
          <p:cNvPr id="13" name="a4-q" descr="preencoded.png"/>
          <p:cNvPicPr>
            <a:picLocks noChangeAspect="1"/>
          </p:cNvPicPr>
          <p:nvPr/>
        </p:nvPicPr>
        <p:blipFill>
          <a:blip r:embed="rId5"/>
          <a:stretch>
            <a:fillRect/>
          </a:stretch>
        </p:blipFill>
        <p:spPr>
          <a:xfrm>
            <a:off x="1170432" y="3017520"/>
            <a:ext cx="329184" cy="329184"/>
          </a:xfrm>
          <a:prstGeom prst="rect">
            <a:avLst/>
          </a:prstGeom>
        </p:spPr>
      </p:pic>
      <p:sp>
        <p:nvSpPr>
          <p:cNvPr id="14" name="a4-q"/>
          <p:cNvSpPr txBox="1"/>
          <p:nvPr/>
        </p:nvSpPr>
        <p:spPr>
          <a:xfrm>
            <a:off x="1600200" y="2999232"/>
            <a:ext cx="1508760" cy="365760"/>
          </a:xfrm>
          <a:prstGeom prst="rect">
            <a:avLst/>
          </a:prstGeom>
          <a:noFill/>
          <a:ln/>
        </p:spPr>
        <p:txBody>
          <a:bodyPr wrap="square" lIns="0" tIns="0" rIns="0" bIns="0" rtlCol="0" anchor="ctr"/>
          <a:lstStyle/>
          <a:p>
            <a:pPr marL="0" indent="0">
              <a:buNone/>
            </a:pPr>
            <a:r>
              <a:rPr lang="en-US" sz="1400" b="1" kern="0" spc="50" dirty="0">
                <a:solidFill>
                  <a:schemeClr val="tx1"/>
                </a:solidFill>
              </a:rPr>
              <a:t>TOKO PERCONTOHAN</a:t>
            </a:r>
            <a:endParaRPr lang="en-US" sz="1400" dirty="0"/>
          </a:p>
        </p:txBody>
      </p:sp>
      <p:sp>
        <p:nvSpPr>
          <p:cNvPr id="15" name="a4-q"/>
          <p:cNvSpPr txBox="1"/>
          <p:nvPr/>
        </p:nvSpPr>
        <p:spPr>
          <a:xfrm>
            <a:off x="1170432" y="3474720"/>
            <a:ext cx="1865376" cy="685800"/>
          </a:xfrm>
          <a:prstGeom prst="rect">
            <a:avLst/>
          </a:prstGeom>
          <a:noFill/>
          <a:ln/>
        </p:spPr>
        <p:txBody>
          <a:bodyPr wrap="square" lIns="0" tIns="0" rIns="0" bIns="0" rtlCol="0" anchor="t"/>
          <a:lstStyle/>
          <a:p>
            <a:pPr marL="0" indent="0">
              <a:buNone/>
            </a:pPr>
            <a:r>
              <a:rPr lang="en-US" sz="1400" dirty="0">
                <a:solidFill>
                  <a:schemeClr val="tx1"/>
                </a:solidFill>
              </a:rPr>
              <a:t>Ajak mencoba duluan, jadikan bukti untuk toko lain.</a:t>
            </a:r>
            <a:endParaRPr lang="en-US" sz="1400" dirty="0"/>
          </a:p>
        </p:txBody>
      </p:sp>
      <p:sp>
        <p:nvSpPr>
          <p:cNvPr id="16" name="a5-q"/>
          <p:cNvSpPr/>
          <p:nvPr/>
        </p:nvSpPr>
        <p:spPr>
          <a:xfrm>
            <a:off x="3291840" y="2834640"/>
            <a:ext cx="2194560" cy="1417320"/>
          </a:xfrm>
          <a:prstGeom prst="roundRect">
            <a:avLst>
              <a:gd name="adj" fmla="val 7742"/>
            </a:avLst>
          </a:prstGeom>
          <a:solidFill>
            <a:schemeClr val="bg2"/>
          </a:solidFill>
          <a:ln/>
        </p:spPr>
      </p:sp>
      <p:pic>
        <p:nvPicPr>
          <p:cNvPr id="17" name="a5-q" descr="preencoded.png"/>
          <p:cNvPicPr>
            <a:picLocks noChangeAspect="1"/>
          </p:cNvPicPr>
          <p:nvPr/>
        </p:nvPicPr>
        <p:blipFill>
          <a:blip r:embed="rId6"/>
          <a:stretch>
            <a:fillRect/>
          </a:stretch>
        </p:blipFill>
        <p:spPr>
          <a:xfrm>
            <a:off x="3456432" y="3017520"/>
            <a:ext cx="329184" cy="329184"/>
          </a:xfrm>
          <a:prstGeom prst="rect">
            <a:avLst/>
          </a:prstGeom>
        </p:spPr>
      </p:pic>
      <p:sp>
        <p:nvSpPr>
          <p:cNvPr id="18" name="a5-q"/>
          <p:cNvSpPr txBox="1"/>
          <p:nvPr/>
        </p:nvSpPr>
        <p:spPr>
          <a:xfrm>
            <a:off x="3886200" y="2999232"/>
            <a:ext cx="1508760" cy="365760"/>
          </a:xfrm>
          <a:prstGeom prst="rect">
            <a:avLst/>
          </a:prstGeom>
          <a:noFill/>
          <a:ln/>
        </p:spPr>
        <p:txBody>
          <a:bodyPr wrap="square" lIns="0" tIns="0" rIns="0" bIns="0" rtlCol="0" anchor="ctr"/>
          <a:lstStyle/>
          <a:p>
            <a:pPr marL="0" indent="0">
              <a:buNone/>
            </a:pPr>
            <a:r>
              <a:rPr lang="en-US" sz="1400" b="1" kern="0" spc="50" dirty="0">
                <a:solidFill>
                  <a:schemeClr val="tx1"/>
                </a:solidFill>
              </a:rPr>
              <a:t>PRIORITAS RENDAH</a:t>
            </a:r>
            <a:endParaRPr lang="en-US" sz="1400" dirty="0"/>
          </a:p>
        </p:txBody>
      </p:sp>
      <p:sp>
        <p:nvSpPr>
          <p:cNvPr id="19" name="a5-q"/>
          <p:cNvSpPr txBox="1"/>
          <p:nvPr/>
        </p:nvSpPr>
        <p:spPr>
          <a:xfrm>
            <a:off x="3456432" y="3474720"/>
            <a:ext cx="1865376" cy="685800"/>
          </a:xfrm>
          <a:prstGeom prst="rect">
            <a:avLst/>
          </a:prstGeom>
          <a:noFill/>
          <a:ln/>
        </p:spPr>
        <p:txBody>
          <a:bodyPr wrap="square" lIns="0" tIns="0" rIns="0" bIns="0" rtlCol="0" anchor="t"/>
          <a:lstStyle/>
          <a:p>
            <a:pPr marL="0" indent="0">
              <a:buNone/>
            </a:pPr>
            <a:r>
              <a:rPr lang="en-US" sz="1400" dirty="0">
                <a:solidFill>
                  <a:schemeClr val="tx1"/>
                </a:solidFill>
              </a:rPr>
              <a:t>Cukup kunjungan rutin.</a:t>
            </a:r>
            <a:endParaRPr lang="en-US" sz="1400" dirty="0"/>
          </a:p>
        </p:txBody>
      </p:sp>
      <p:sp>
        <p:nvSpPr>
          <p:cNvPr id="20" name="a1-ax"/>
          <p:cNvSpPr txBox="1"/>
          <p:nvPr/>
        </p:nvSpPr>
        <p:spPr>
          <a:xfrm rot="16200000">
            <a:off x="-114300" y="1897380"/>
            <a:ext cx="1417320" cy="274320"/>
          </a:xfrm>
          <a:prstGeom prst="rect">
            <a:avLst/>
          </a:prstGeom>
          <a:noFill/>
          <a:ln/>
        </p:spPr>
        <p:txBody>
          <a:bodyPr wrap="square" lIns="0" tIns="0" rIns="0" bIns="0" rtlCol="0" anchor="ctr"/>
          <a:lstStyle/>
          <a:p>
            <a:pPr marL="0" indent="0" algn="ctr">
              <a:buNone/>
            </a:pPr>
            <a:r>
              <a:rPr lang="en-US" sz="1200" b="1" dirty="0">
                <a:solidFill>
                  <a:schemeClr val="accent3"/>
                </a:solidFill>
              </a:rPr>
              <a:t>Potensi besar</a:t>
            </a:r>
            <a:endParaRPr lang="en-US" sz="1200" dirty="0"/>
          </a:p>
        </p:txBody>
      </p:sp>
      <p:sp>
        <p:nvSpPr>
          <p:cNvPr id="21" name="a1-ax"/>
          <p:cNvSpPr txBox="1"/>
          <p:nvPr/>
        </p:nvSpPr>
        <p:spPr>
          <a:xfrm rot="16200000">
            <a:off x="-114300" y="3406140"/>
            <a:ext cx="1417320" cy="274320"/>
          </a:xfrm>
          <a:prstGeom prst="rect">
            <a:avLst/>
          </a:prstGeom>
          <a:noFill/>
          <a:ln/>
        </p:spPr>
        <p:txBody>
          <a:bodyPr wrap="square" lIns="0" tIns="0" rIns="0" bIns="0" rtlCol="0" anchor="ctr"/>
          <a:lstStyle/>
          <a:p>
            <a:pPr marL="0" indent="0" algn="ctr">
              <a:buNone/>
            </a:pPr>
            <a:r>
              <a:rPr lang="en-US" sz="1200" b="1" dirty="0">
                <a:solidFill>
                  <a:schemeClr val="accent3"/>
                </a:solidFill>
              </a:rPr>
              <a:t>Potensi kecil</a:t>
            </a:r>
            <a:endParaRPr lang="en-US" sz="1200" dirty="0"/>
          </a:p>
        </p:txBody>
      </p:sp>
      <p:sp>
        <p:nvSpPr>
          <p:cNvPr id="22" name="a1-ax"/>
          <p:cNvSpPr txBox="1"/>
          <p:nvPr/>
        </p:nvSpPr>
        <p:spPr>
          <a:xfrm>
            <a:off x="1005840" y="4315968"/>
            <a:ext cx="2194560" cy="256032"/>
          </a:xfrm>
          <a:prstGeom prst="rect">
            <a:avLst/>
          </a:prstGeom>
          <a:noFill/>
          <a:ln/>
        </p:spPr>
        <p:txBody>
          <a:bodyPr wrap="square" lIns="0" tIns="0" rIns="0" bIns="0" rtlCol="0" anchor="t"/>
          <a:lstStyle/>
          <a:p>
            <a:pPr marL="0" indent="0" algn="ctr">
              <a:buNone/>
            </a:pPr>
            <a:r>
              <a:rPr lang="en-US" sz="1200" b="1" dirty="0">
                <a:solidFill>
                  <a:schemeClr val="accent3"/>
                </a:solidFill>
              </a:rPr>
              <a:t>Hubungan kuat</a:t>
            </a:r>
            <a:endParaRPr lang="en-US" sz="1200" dirty="0"/>
          </a:p>
        </p:txBody>
      </p:sp>
      <p:sp>
        <p:nvSpPr>
          <p:cNvPr id="23" name="a1-ax"/>
          <p:cNvSpPr txBox="1"/>
          <p:nvPr/>
        </p:nvSpPr>
        <p:spPr>
          <a:xfrm>
            <a:off x="3291840" y="4315968"/>
            <a:ext cx="2194560" cy="256032"/>
          </a:xfrm>
          <a:prstGeom prst="rect">
            <a:avLst/>
          </a:prstGeom>
          <a:noFill/>
          <a:ln/>
        </p:spPr>
        <p:txBody>
          <a:bodyPr wrap="square" lIns="0" tIns="0" rIns="0" bIns="0" rtlCol="0" anchor="t"/>
          <a:lstStyle/>
          <a:p>
            <a:pPr marL="0" indent="0" algn="ctr">
              <a:buNone/>
            </a:pPr>
            <a:r>
              <a:rPr lang="en-US" sz="1200" b="1" dirty="0">
                <a:solidFill>
                  <a:schemeClr val="accent3"/>
                </a:solidFill>
              </a:rPr>
              <a:t>Hubungan lemah</a:t>
            </a:r>
            <a:endParaRPr lang="en-US" sz="1200" dirty="0"/>
          </a:p>
        </p:txBody>
      </p:sp>
      <p:sp>
        <p:nvSpPr>
          <p:cNvPr id="24" name="a6-ins"/>
          <p:cNvSpPr/>
          <p:nvPr/>
        </p:nvSpPr>
        <p:spPr>
          <a:xfrm>
            <a:off x="5760720" y="1325880"/>
            <a:ext cx="2926080" cy="2926080"/>
          </a:xfrm>
          <a:prstGeom prst="roundRect">
            <a:avLst>
              <a:gd name="adj" fmla="val 3750"/>
            </a:avLst>
          </a:prstGeom>
          <a:solidFill>
            <a:schemeClr val="bg1"/>
          </a:solidFill>
          <a:ln w="12700">
            <a:solidFill>
              <a:srgbClr val="E0E0E0"/>
            </a:solidFill>
            <a:prstDash val="solid"/>
          </a:ln>
          <a:effectLst>
            <a:outerShdw blurRad="127000" dist="25400" dir="5400000" algn="bl" rotWithShape="0">
              <a:srgbClr val="000000">
                <a:alpha val="13000"/>
              </a:srgbClr>
            </a:outerShdw>
          </a:effectLst>
        </p:spPr>
      </p:sp>
      <p:sp>
        <p:nvSpPr>
          <p:cNvPr id="25" name="a6-ins"/>
          <p:cNvSpPr/>
          <p:nvPr/>
        </p:nvSpPr>
        <p:spPr>
          <a:xfrm>
            <a:off x="5943600" y="1508760"/>
            <a:ext cx="548640" cy="548640"/>
          </a:xfrm>
          <a:prstGeom prst="ellipse">
            <a:avLst/>
          </a:prstGeom>
          <a:solidFill>
            <a:schemeClr val="accent1"/>
          </a:solidFill>
          <a:ln/>
        </p:spPr>
      </p:sp>
      <p:pic>
        <p:nvPicPr>
          <p:cNvPr id="26" name="a6-ins" descr="preencoded.png"/>
          <p:cNvPicPr>
            <a:picLocks noChangeAspect="1"/>
          </p:cNvPicPr>
          <p:nvPr/>
        </p:nvPicPr>
        <p:blipFill>
          <a:blip r:embed="rId7"/>
          <a:stretch>
            <a:fillRect/>
          </a:stretch>
        </p:blipFill>
        <p:spPr>
          <a:xfrm>
            <a:off x="6086246" y="1651406"/>
            <a:ext cx="263347" cy="263347"/>
          </a:xfrm>
          <a:prstGeom prst="rect">
            <a:avLst/>
          </a:prstGeom>
        </p:spPr>
      </p:pic>
      <p:sp>
        <p:nvSpPr>
          <p:cNvPr id="27" name="a6-ins"/>
          <p:cNvSpPr txBox="1"/>
          <p:nvPr/>
        </p:nvSpPr>
        <p:spPr>
          <a:xfrm>
            <a:off x="6629400" y="1508760"/>
            <a:ext cx="1828800" cy="548640"/>
          </a:xfrm>
          <a:prstGeom prst="rect">
            <a:avLst/>
          </a:prstGeom>
          <a:noFill/>
          <a:ln/>
        </p:spPr>
        <p:txBody>
          <a:bodyPr wrap="square" lIns="0" tIns="0" rIns="0" bIns="0" rtlCol="0" anchor="ctr"/>
          <a:lstStyle/>
          <a:p>
            <a:pPr marL="0" indent="0">
              <a:buNone/>
            </a:pPr>
            <a:r>
              <a:rPr lang="en-US" sz="1300" b="1" kern="0" spc="100" dirty="0">
                <a:solidFill>
                  <a:schemeClr val="accent3"/>
                </a:solidFill>
              </a:rPr>
              <a:t>INSIGHT</a:t>
            </a:r>
            <a:endParaRPr lang="en-US" sz="1300" dirty="0"/>
          </a:p>
        </p:txBody>
      </p:sp>
      <p:sp>
        <p:nvSpPr>
          <p:cNvPr id="28" name="a6-ins"/>
          <p:cNvSpPr txBox="1"/>
          <p:nvPr/>
        </p:nvSpPr>
        <p:spPr>
          <a:xfrm>
            <a:off x="5943600" y="2194560"/>
            <a:ext cx="2560320" cy="1188720"/>
          </a:xfrm>
          <a:prstGeom prst="rect">
            <a:avLst/>
          </a:prstGeom>
          <a:noFill/>
          <a:ln/>
        </p:spPr>
        <p:txBody>
          <a:bodyPr wrap="square" lIns="0" tIns="0" rIns="0" bIns="0" rtlCol="0" anchor="t"/>
          <a:lstStyle/>
          <a:p>
            <a:pPr marL="0" indent="0">
              <a:buNone/>
            </a:pPr>
            <a:r>
              <a:rPr lang="en-US" sz="1600" b="1" dirty="0">
                <a:solidFill>
                  <a:schemeClr val="tx1"/>
                </a:solidFill>
              </a:rPr>
              <a:t>Toko percontohan yang sukses menjual adalah jawaban terkuat untuk keberatan toko besar.</a:t>
            </a:r>
            <a:endParaRPr lang="en-US" sz="1600" dirty="0"/>
          </a:p>
        </p:txBody>
      </p:sp>
      <p:sp>
        <p:nvSpPr>
          <p:cNvPr id="29" name="a6-ins"/>
          <p:cNvSpPr txBox="1"/>
          <p:nvPr/>
        </p:nvSpPr>
        <p:spPr>
          <a:xfrm>
            <a:off x="5943600" y="3429000"/>
            <a:ext cx="2560320" cy="685800"/>
          </a:xfrm>
          <a:prstGeom prst="rect">
            <a:avLst/>
          </a:prstGeom>
          <a:noFill/>
          <a:ln/>
        </p:spPr>
        <p:txBody>
          <a:bodyPr wrap="square" lIns="0" tIns="0" rIns="0" bIns="0" rtlCol="0" anchor="t"/>
          <a:lstStyle/>
          <a:p>
            <a:pPr marL="0" indent="0">
              <a:buNone/>
            </a:pPr>
            <a:r>
              <a:rPr lang="en-US" sz="1400" dirty="0">
                <a:solidFill>
                  <a:schemeClr val="tx2"/>
                </a:solidFill>
              </a:rPr>
              <a:t>Toko kecil berhasil → jadi bukti → toko besar lebih yakin.</a:t>
            </a:r>
            <a:endParaRPr lang="en-US" sz="1400" dirty="0"/>
          </a:p>
        </p:txBody>
      </p:sp>
      <p:sp>
        <p:nvSpPr>
          <p:cNvPr id="30"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par>
                          <p:cTn id="17" fill="hold">
                            <p:stCondLst>
                              <p:cond delay="400"/>
                            </p:stCondLst>
                            <p:childTnLst>
                              <p:par>
                                <p:cTn id="18" presetID="10" presetClass="entr" presetSubtype="0"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par>
                                <p:cTn id="21" presetID="10"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par>
                          <p:cTn id="30" fill="hold">
                            <p:stCondLst>
                              <p:cond delay="800"/>
                            </p:stCondLst>
                            <p:childTnLst>
                              <p:par>
                                <p:cTn id="31" presetID="10" presetClass="entr" presetSubtype="0"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47" presetID="10" presetClass="entr" presetSubtype="0"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0" presetID="10" presetClass="entr" presetSubtype="0" fill="hold"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56" fill="hold">
                            <p:stCondLst>
                              <p:cond delay="1600"/>
                            </p:stCondLst>
                            <p:childTnLst>
                              <p:par>
                                <p:cTn id="57" presetID="10" presetClass="entr" presetSubtype="0" fill="hold"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par>
                                <p:cTn id="60" presetID="10" presetClass="entr" presetSubtype="0" fill="hold"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10" presetClass="entr" presetSubtype="0" fill="hold"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childTnLst>
                                </p:cTn>
                              </p:par>
                              <p:par>
                                <p:cTn id="66" presetID="10" presetClass="entr" presetSubtype="0" fill="hold"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childTnLst>
                          </p:cTn>
                        </p:par>
                        <p:par>
                          <p:cTn id="69" fill="hold">
                            <p:stCondLst>
                              <p:cond delay="2000"/>
                            </p:stCondLst>
                            <p:childTnLst>
                              <p:par>
                                <p:cTn id="70" presetID="10" presetClass="entr" presetSubtype="0" fill="hold"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Siapa yang Sebenarnya Memutuskan?</a:t>
            </a:r>
            <a:endParaRPr lang="en-US" sz="2800" dirty="0"/>
          </a:p>
        </p:txBody>
      </p:sp>
      <p:sp>
        <p:nvSpPr>
          <p:cNvPr id="3" name="pill"/>
          <p:cNvSpPr txBox="1"/>
          <p:nvPr/>
        </p:nvSpPr>
        <p:spPr>
          <a:xfrm>
            <a:off x="457200" y="237744"/>
            <a:ext cx="2673706"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1.2  ·  PENGAMBIL KEPUTUSAN</a:t>
            </a:r>
            <a:endParaRPr lang="en-US" sz="1000" dirty="0"/>
          </a:p>
        </p:txBody>
      </p:sp>
      <p:sp>
        <p:nvSpPr>
          <p:cNvPr id="4" name="a1-c"/>
          <p:cNvSpPr/>
          <p:nvPr/>
        </p:nvSpPr>
        <p:spPr>
          <a:xfrm>
            <a:off x="457200" y="1691640"/>
            <a:ext cx="2560320" cy="2148840"/>
          </a:xfrm>
          <a:prstGeom prst="roundRect">
            <a:avLst>
              <a:gd name="adj" fmla="val 5106"/>
            </a:avLst>
          </a:prstGeom>
          <a:solidFill>
            <a:schemeClr val="bg2"/>
          </a:solidFill>
          <a:ln/>
        </p:spPr>
      </p:sp>
      <p:sp>
        <p:nvSpPr>
          <p:cNvPr id="5" name="a1-c"/>
          <p:cNvSpPr/>
          <p:nvPr/>
        </p:nvSpPr>
        <p:spPr>
          <a:xfrm>
            <a:off x="1371600" y="1280160"/>
            <a:ext cx="731520" cy="731520"/>
          </a:xfrm>
          <a:prstGeom prst="ellipse">
            <a:avLst/>
          </a:prstGeom>
          <a:solidFill>
            <a:schemeClr val="accent1"/>
          </a:solidFill>
          <a:ln/>
        </p:spPr>
      </p:sp>
      <p:pic>
        <p:nvPicPr>
          <p:cNvPr id="6" name="a1-c" descr="preencoded.png"/>
          <p:cNvPicPr>
            <a:picLocks noChangeAspect="1"/>
          </p:cNvPicPr>
          <p:nvPr/>
        </p:nvPicPr>
        <p:blipFill>
          <a:blip r:embed="rId3"/>
          <a:stretch>
            <a:fillRect/>
          </a:stretch>
        </p:blipFill>
        <p:spPr>
          <a:xfrm>
            <a:off x="1561795" y="1470355"/>
            <a:ext cx="351130" cy="351130"/>
          </a:xfrm>
          <a:prstGeom prst="rect">
            <a:avLst/>
          </a:prstGeom>
        </p:spPr>
      </p:pic>
      <p:sp>
        <p:nvSpPr>
          <p:cNvPr id="7" name="a1-c"/>
          <p:cNvSpPr txBox="1"/>
          <p:nvPr/>
        </p:nvSpPr>
        <p:spPr>
          <a:xfrm>
            <a:off x="594360" y="2103120"/>
            <a:ext cx="2286000" cy="320040"/>
          </a:xfrm>
          <a:prstGeom prst="rect">
            <a:avLst/>
          </a:prstGeom>
          <a:noFill/>
          <a:ln/>
        </p:spPr>
        <p:txBody>
          <a:bodyPr wrap="square" lIns="0" tIns="0" rIns="0" bIns="0" rtlCol="0" anchor="t"/>
          <a:lstStyle/>
          <a:p>
            <a:pPr marL="0" indent="0" algn="ctr">
              <a:buNone/>
            </a:pPr>
            <a:r>
              <a:rPr lang="en-US" sz="1600" b="1" dirty="0">
                <a:solidFill>
                  <a:schemeClr val="tx1"/>
                </a:solidFill>
              </a:rPr>
              <a:t>Kepala Gudang / Pelayan</a:t>
            </a:r>
            <a:endParaRPr lang="en-US" sz="1600" dirty="0"/>
          </a:p>
        </p:txBody>
      </p:sp>
      <p:sp>
        <p:nvSpPr>
          <p:cNvPr id="8" name="a1-c"/>
          <p:cNvSpPr txBox="1"/>
          <p:nvPr/>
        </p:nvSpPr>
        <p:spPr>
          <a:xfrm>
            <a:off x="640080" y="2487168"/>
            <a:ext cx="2194560" cy="1325880"/>
          </a:xfrm>
          <a:prstGeom prst="rect">
            <a:avLst/>
          </a:prstGeom>
          <a:noFill/>
          <a:ln/>
        </p:spPr>
        <p:txBody>
          <a:bodyPr wrap="square" lIns="0" tIns="0" rIns="0" bIns="0" rtlCol="0" anchor="t"/>
          <a:lstStyle/>
          <a:p>
            <a:pPr marL="0" indent="0">
              <a:spcAft>
                <a:spcPts val="300"/>
              </a:spcAft>
              <a:buNone/>
            </a:pPr>
            <a:r>
              <a:rPr lang="en-US" sz="1100" b="1" dirty="0">
                <a:solidFill>
                  <a:schemeClr val="accent3"/>
                </a:solidFill>
              </a:rPr>
              <a:t>Yang dia pikirkan</a:t>
            </a:r>
            <a:endParaRPr lang="en-US" sz="1400" dirty="0"/>
          </a:p>
          <a:p>
            <a:pPr marL="0" indent="0">
              <a:spcAft>
                <a:spcPts val="300"/>
              </a:spcAft>
              <a:buNone/>
            </a:pPr>
            <a:r>
              <a:rPr lang="en-US" sz="1400" dirty="0">
                <a:solidFill>
                  <a:schemeClr val="tx1"/>
                </a:solidFill>
              </a:rPr>
              <a:t>Barang apa yang sering dicari pembeli.</a:t>
            </a:r>
            <a:endParaRPr lang="en-US" sz="1400" dirty="0"/>
          </a:p>
          <a:p>
            <a:pPr marL="0" indent="0">
              <a:spcAft>
                <a:spcPts val="300"/>
              </a:spcAft>
              <a:buNone/>
            </a:pPr>
            <a:r>
              <a:rPr lang="en-US" sz="1100" b="1" dirty="0">
                <a:solidFill>
                  <a:schemeClr val="accent3"/>
                </a:solidFill>
              </a:rPr>
              <a:t>Yang kita lakukan</a:t>
            </a:r>
            <a:endParaRPr lang="en-US" sz="1400" dirty="0"/>
          </a:p>
          <a:p>
            <a:pPr marL="0" indent="0">
              <a:spcAft>
                <a:spcPts val="300"/>
              </a:spcAft>
              <a:buNone/>
            </a:pPr>
            <a:r>
              <a:rPr lang="en-US" sz="1400" b="1" dirty="0">
                <a:solidFill>
                  <a:schemeClr val="tx1"/>
                </a:solidFill>
              </a:rPr>
              <a:t>Gali informasi permintaan dari mereka.</a:t>
            </a:r>
            <a:endParaRPr lang="en-US" sz="1400" dirty="0"/>
          </a:p>
        </p:txBody>
      </p:sp>
      <p:sp>
        <p:nvSpPr>
          <p:cNvPr id="9" name="a4-flow"/>
          <p:cNvSpPr txBox="1"/>
          <p:nvPr/>
        </p:nvSpPr>
        <p:spPr>
          <a:xfrm>
            <a:off x="457200" y="4023360"/>
            <a:ext cx="2560320" cy="411480"/>
          </a:xfrm>
          <a:prstGeom prst="roundRect">
            <a:avLst>
              <a:gd name="adj" fmla="val 44444"/>
            </a:avLst>
          </a:prstGeom>
          <a:solidFill>
            <a:schemeClr val="tx1"/>
          </a:solidFill>
          <a:ln/>
        </p:spPr>
        <p:txBody>
          <a:bodyPr wrap="square" lIns="0" tIns="0" rIns="0" bIns="0" rtlCol="0" anchor="ctr"/>
          <a:lstStyle/>
          <a:p>
            <a:pPr marL="0" indent="0" algn="ctr">
              <a:buNone/>
            </a:pPr>
            <a:r>
              <a:rPr lang="en-US" sz="1400" b="1" dirty="0">
                <a:solidFill>
                  <a:schemeClr val="bg1"/>
                </a:solidFill>
              </a:rPr>
              <a:t>Info dari gudang</a:t>
            </a:r>
            <a:endParaRPr lang="en-US" sz="1400" dirty="0"/>
          </a:p>
        </p:txBody>
      </p:sp>
      <p:sp>
        <p:nvSpPr>
          <p:cNvPr id="10" name="a4-flow"/>
          <p:cNvSpPr/>
          <p:nvPr/>
        </p:nvSpPr>
        <p:spPr>
          <a:xfrm>
            <a:off x="3044952" y="4229100"/>
            <a:ext cx="219456" cy="914"/>
          </a:xfrm>
          <a:prstGeom prst="line">
            <a:avLst/>
          </a:prstGeom>
          <a:noFill/>
          <a:ln w="28575">
            <a:solidFill>
              <a:schemeClr val="tx1"/>
            </a:solidFill>
            <a:prstDash val="solid"/>
            <a:tailEnd type="triangle"/>
          </a:ln>
        </p:spPr>
      </p:sp>
      <p:sp>
        <p:nvSpPr>
          <p:cNvPr id="11" name="a2-c"/>
          <p:cNvSpPr/>
          <p:nvPr/>
        </p:nvSpPr>
        <p:spPr>
          <a:xfrm>
            <a:off x="3291840" y="1691640"/>
            <a:ext cx="2560320" cy="2148840"/>
          </a:xfrm>
          <a:prstGeom prst="roundRect">
            <a:avLst>
              <a:gd name="adj" fmla="val 5106"/>
            </a:avLst>
          </a:prstGeom>
          <a:solidFill>
            <a:schemeClr val="bg2"/>
          </a:solidFill>
          <a:ln/>
        </p:spPr>
      </p:sp>
      <p:sp>
        <p:nvSpPr>
          <p:cNvPr id="12" name="a2-c"/>
          <p:cNvSpPr/>
          <p:nvPr/>
        </p:nvSpPr>
        <p:spPr>
          <a:xfrm>
            <a:off x="4206240" y="1280160"/>
            <a:ext cx="731520" cy="731520"/>
          </a:xfrm>
          <a:prstGeom prst="ellipse">
            <a:avLst/>
          </a:prstGeom>
          <a:solidFill>
            <a:schemeClr val="accent1"/>
          </a:solidFill>
          <a:ln/>
        </p:spPr>
      </p:sp>
      <p:pic>
        <p:nvPicPr>
          <p:cNvPr id="13" name="a2-c" descr="preencoded.png"/>
          <p:cNvPicPr>
            <a:picLocks noChangeAspect="1"/>
          </p:cNvPicPr>
          <p:nvPr/>
        </p:nvPicPr>
        <p:blipFill>
          <a:blip r:embed="rId4"/>
          <a:stretch>
            <a:fillRect/>
          </a:stretch>
        </p:blipFill>
        <p:spPr>
          <a:xfrm>
            <a:off x="4396435" y="1470355"/>
            <a:ext cx="351130" cy="351130"/>
          </a:xfrm>
          <a:prstGeom prst="rect">
            <a:avLst/>
          </a:prstGeom>
        </p:spPr>
      </p:pic>
      <p:sp>
        <p:nvSpPr>
          <p:cNvPr id="14" name="a2-c"/>
          <p:cNvSpPr txBox="1"/>
          <p:nvPr/>
        </p:nvSpPr>
        <p:spPr>
          <a:xfrm>
            <a:off x="3429000" y="2103120"/>
            <a:ext cx="2286000" cy="320040"/>
          </a:xfrm>
          <a:prstGeom prst="rect">
            <a:avLst/>
          </a:prstGeom>
          <a:noFill/>
          <a:ln/>
        </p:spPr>
        <p:txBody>
          <a:bodyPr wrap="square" lIns="0" tIns="0" rIns="0" bIns="0" rtlCol="0" anchor="t"/>
          <a:lstStyle/>
          <a:p>
            <a:pPr marL="0" indent="0" algn="ctr">
              <a:buNone/>
            </a:pPr>
            <a:r>
              <a:rPr lang="en-US" sz="1600" b="1" dirty="0">
                <a:solidFill>
                  <a:schemeClr val="tx1"/>
                </a:solidFill>
              </a:rPr>
              <a:t>Pemilik Toko</a:t>
            </a:r>
            <a:endParaRPr lang="en-US" sz="1600" dirty="0"/>
          </a:p>
        </p:txBody>
      </p:sp>
      <p:sp>
        <p:nvSpPr>
          <p:cNvPr id="15" name="a2-c"/>
          <p:cNvSpPr txBox="1"/>
          <p:nvPr/>
        </p:nvSpPr>
        <p:spPr>
          <a:xfrm>
            <a:off x="3474720" y="2487168"/>
            <a:ext cx="2194560" cy="1325880"/>
          </a:xfrm>
          <a:prstGeom prst="rect">
            <a:avLst/>
          </a:prstGeom>
          <a:noFill/>
          <a:ln/>
        </p:spPr>
        <p:txBody>
          <a:bodyPr wrap="square" lIns="0" tIns="0" rIns="0" bIns="0" rtlCol="0" anchor="t"/>
          <a:lstStyle/>
          <a:p>
            <a:pPr marL="0" indent="0">
              <a:spcAft>
                <a:spcPts val="300"/>
              </a:spcAft>
              <a:buNone/>
            </a:pPr>
            <a:r>
              <a:rPr lang="en-US" sz="1100" b="1" dirty="0">
                <a:solidFill>
                  <a:schemeClr val="accent3"/>
                </a:solidFill>
              </a:rPr>
              <a:t>Yang dia pikirkan</a:t>
            </a:r>
            <a:endParaRPr lang="en-US" sz="1400" dirty="0"/>
          </a:p>
          <a:p>
            <a:pPr marL="0" indent="0">
              <a:spcAft>
                <a:spcPts val="300"/>
              </a:spcAft>
              <a:buNone/>
            </a:pPr>
            <a:r>
              <a:rPr lang="en-US" sz="1400" dirty="0">
                <a:solidFill>
                  <a:schemeClr val="tx1"/>
                </a:solidFill>
              </a:rPr>
              <a:t>Apakah barang baru ini cocok untuk tokonya.</a:t>
            </a:r>
            <a:endParaRPr lang="en-US" sz="1400" dirty="0"/>
          </a:p>
          <a:p>
            <a:pPr marL="0" indent="0">
              <a:spcAft>
                <a:spcPts val="300"/>
              </a:spcAft>
              <a:buNone/>
            </a:pPr>
            <a:r>
              <a:rPr lang="en-US" sz="1100" b="1" dirty="0">
                <a:solidFill>
                  <a:schemeClr val="accent3"/>
                </a:solidFill>
              </a:rPr>
              <a:t>Yang kita lakukan</a:t>
            </a:r>
            <a:endParaRPr lang="en-US" sz="1400" dirty="0"/>
          </a:p>
          <a:p>
            <a:pPr marL="0" indent="0">
              <a:spcAft>
                <a:spcPts val="300"/>
              </a:spcAft>
              <a:buNone/>
            </a:pPr>
            <a:r>
              <a:rPr lang="en-US" sz="1400" b="1" dirty="0">
                <a:solidFill>
                  <a:schemeClr val="tx1"/>
                </a:solidFill>
              </a:rPr>
              <a:t>Ajukan tawaran dan minta keputusan.</a:t>
            </a:r>
            <a:endParaRPr lang="en-US" sz="1400" dirty="0"/>
          </a:p>
        </p:txBody>
      </p:sp>
      <p:sp>
        <p:nvSpPr>
          <p:cNvPr id="16" name="a4-flow"/>
          <p:cNvSpPr txBox="1"/>
          <p:nvPr/>
        </p:nvSpPr>
        <p:spPr>
          <a:xfrm>
            <a:off x="3291840" y="4023360"/>
            <a:ext cx="2560320" cy="411480"/>
          </a:xfrm>
          <a:prstGeom prst="roundRect">
            <a:avLst>
              <a:gd name="adj" fmla="val 44444"/>
            </a:avLst>
          </a:prstGeom>
          <a:solidFill>
            <a:schemeClr val="accent1"/>
          </a:solidFill>
          <a:ln/>
        </p:spPr>
        <p:txBody>
          <a:bodyPr wrap="square" lIns="0" tIns="0" rIns="0" bIns="0" rtlCol="0" anchor="ctr"/>
          <a:lstStyle/>
          <a:p>
            <a:pPr marL="0" indent="0" algn="ctr">
              <a:buNone/>
            </a:pPr>
            <a:r>
              <a:rPr lang="en-US" sz="1400" b="1" dirty="0">
                <a:solidFill>
                  <a:schemeClr val="tx1"/>
                </a:solidFill>
              </a:rPr>
              <a:t>Keputusan dari pemilik</a:t>
            </a:r>
            <a:endParaRPr lang="en-US" sz="1400" dirty="0"/>
          </a:p>
        </p:txBody>
      </p:sp>
      <p:sp>
        <p:nvSpPr>
          <p:cNvPr id="17" name="a4-flow"/>
          <p:cNvSpPr/>
          <p:nvPr/>
        </p:nvSpPr>
        <p:spPr>
          <a:xfrm>
            <a:off x="5879592" y="4229100"/>
            <a:ext cx="219456" cy="914"/>
          </a:xfrm>
          <a:prstGeom prst="line">
            <a:avLst/>
          </a:prstGeom>
          <a:noFill/>
          <a:ln w="28575">
            <a:solidFill>
              <a:schemeClr val="tx1"/>
            </a:solidFill>
            <a:prstDash val="solid"/>
            <a:tailEnd type="triangle"/>
          </a:ln>
        </p:spPr>
      </p:sp>
      <p:sp>
        <p:nvSpPr>
          <p:cNvPr id="18" name="a3-c"/>
          <p:cNvSpPr/>
          <p:nvPr/>
        </p:nvSpPr>
        <p:spPr>
          <a:xfrm>
            <a:off x="6126480" y="1691640"/>
            <a:ext cx="2560320" cy="2148840"/>
          </a:xfrm>
          <a:prstGeom prst="roundRect">
            <a:avLst>
              <a:gd name="adj" fmla="val 5106"/>
            </a:avLst>
          </a:prstGeom>
          <a:solidFill>
            <a:schemeClr val="bg2"/>
          </a:solidFill>
          <a:ln/>
        </p:spPr>
      </p:sp>
      <p:sp>
        <p:nvSpPr>
          <p:cNvPr id="19" name="a3-c"/>
          <p:cNvSpPr/>
          <p:nvPr/>
        </p:nvSpPr>
        <p:spPr>
          <a:xfrm>
            <a:off x="7040880" y="1280160"/>
            <a:ext cx="731520" cy="731520"/>
          </a:xfrm>
          <a:prstGeom prst="ellipse">
            <a:avLst/>
          </a:prstGeom>
          <a:solidFill>
            <a:schemeClr val="accent1"/>
          </a:solidFill>
          <a:ln/>
        </p:spPr>
      </p:sp>
      <p:pic>
        <p:nvPicPr>
          <p:cNvPr id="20" name="a3-c" descr="preencoded.png"/>
          <p:cNvPicPr>
            <a:picLocks noChangeAspect="1"/>
          </p:cNvPicPr>
          <p:nvPr/>
        </p:nvPicPr>
        <p:blipFill>
          <a:blip r:embed="rId5"/>
          <a:stretch>
            <a:fillRect/>
          </a:stretch>
        </p:blipFill>
        <p:spPr>
          <a:xfrm>
            <a:off x="7231075" y="1470355"/>
            <a:ext cx="351130" cy="351130"/>
          </a:xfrm>
          <a:prstGeom prst="rect">
            <a:avLst/>
          </a:prstGeom>
        </p:spPr>
      </p:pic>
      <p:sp>
        <p:nvSpPr>
          <p:cNvPr id="21" name="a3-c"/>
          <p:cNvSpPr txBox="1"/>
          <p:nvPr/>
        </p:nvSpPr>
        <p:spPr>
          <a:xfrm>
            <a:off x="6263640" y="2103120"/>
            <a:ext cx="2286000" cy="320040"/>
          </a:xfrm>
          <a:prstGeom prst="rect">
            <a:avLst/>
          </a:prstGeom>
          <a:noFill/>
          <a:ln/>
        </p:spPr>
        <p:txBody>
          <a:bodyPr wrap="square" lIns="0" tIns="0" rIns="0" bIns="0" rtlCol="0" anchor="t"/>
          <a:lstStyle/>
          <a:p>
            <a:pPr marL="0" indent="0" algn="ctr">
              <a:buNone/>
            </a:pPr>
            <a:r>
              <a:rPr lang="en-US" sz="1600" b="1" dirty="0">
                <a:solidFill>
                  <a:schemeClr val="tx1"/>
                </a:solidFill>
              </a:rPr>
              <a:t>Kasir (sering istri/anak)</a:t>
            </a:r>
            <a:endParaRPr lang="en-US" sz="1600" dirty="0"/>
          </a:p>
        </p:txBody>
      </p:sp>
      <p:sp>
        <p:nvSpPr>
          <p:cNvPr id="22" name="a3-c"/>
          <p:cNvSpPr txBox="1"/>
          <p:nvPr/>
        </p:nvSpPr>
        <p:spPr>
          <a:xfrm>
            <a:off x="6309360" y="2487168"/>
            <a:ext cx="2194560" cy="1325880"/>
          </a:xfrm>
          <a:prstGeom prst="rect">
            <a:avLst/>
          </a:prstGeom>
          <a:noFill/>
          <a:ln/>
        </p:spPr>
        <p:txBody>
          <a:bodyPr wrap="square" lIns="0" tIns="0" rIns="0" bIns="0" rtlCol="0" anchor="t"/>
          <a:lstStyle/>
          <a:p>
            <a:pPr marL="0" indent="0">
              <a:spcAft>
                <a:spcPts val="300"/>
              </a:spcAft>
              <a:buNone/>
            </a:pPr>
            <a:r>
              <a:rPr lang="en-US" sz="1100" b="1" dirty="0">
                <a:solidFill>
                  <a:schemeClr val="accent3"/>
                </a:solidFill>
              </a:rPr>
              <a:t>Yang dia pikirkan</a:t>
            </a:r>
            <a:endParaRPr lang="en-US" sz="1400" dirty="0"/>
          </a:p>
          <a:p>
            <a:pPr marL="0" indent="0">
              <a:spcAft>
                <a:spcPts val="300"/>
              </a:spcAft>
              <a:buNone/>
            </a:pPr>
            <a:r>
              <a:rPr lang="en-US" sz="1400" dirty="0">
                <a:solidFill>
                  <a:schemeClr val="tx1"/>
                </a:solidFill>
              </a:rPr>
              <a:t>Uang keluar, modal, dan tempo bayar.</a:t>
            </a:r>
            <a:endParaRPr lang="en-US" sz="1400" dirty="0"/>
          </a:p>
          <a:p>
            <a:pPr marL="0" indent="0">
              <a:spcAft>
                <a:spcPts val="300"/>
              </a:spcAft>
              <a:buNone/>
            </a:pPr>
            <a:r>
              <a:rPr lang="en-US" sz="1100" b="1" dirty="0">
                <a:solidFill>
                  <a:schemeClr val="accent3"/>
                </a:solidFill>
              </a:rPr>
              <a:t>Yang kita lakukan</a:t>
            </a:r>
            <a:endParaRPr lang="en-US" sz="1400" dirty="0"/>
          </a:p>
          <a:p>
            <a:pPr marL="0" indent="0">
              <a:spcAft>
                <a:spcPts val="300"/>
              </a:spcAft>
              <a:buNone/>
            </a:pPr>
            <a:r>
              <a:rPr lang="en-US" sz="1400" b="1" dirty="0">
                <a:solidFill>
                  <a:schemeClr val="tx1"/>
                </a:solidFill>
              </a:rPr>
              <a:t>Yakinkan soal order kecil dan tempo.</a:t>
            </a:r>
            <a:endParaRPr lang="en-US" sz="1400" dirty="0"/>
          </a:p>
        </p:txBody>
      </p:sp>
      <p:sp>
        <p:nvSpPr>
          <p:cNvPr id="23" name="a4-flow"/>
          <p:cNvSpPr txBox="1"/>
          <p:nvPr/>
        </p:nvSpPr>
        <p:spPr>
          <a:xfrm>
            <a:off x="6126480" y="4023360"/>
            <a:ext cx="2560320" cy="411480"/>
          </a:xfrm>
          <a:prstGeom prst="roundRect">
            <a:avLst>
              <a:gd name="adj" fmla="val 44444"/>
            </a:avLst>
          </a:prstGeom>
          <a:solidFill>
            <a:schemeClr val="tx1"/>
          </a:solidFill>
          <a:ln/>
        </p:spPr>
        <p:txBody>
          <a:bodyPr wrap="square" lIns="0" tIns="0" rIns="0" bIns="0" rtlCol="0" anchor="ctr"/>
          <a:lstStyle/>
          <a:p>
            <a:pPr marL="0" indent="0" algn="ctr">
              <a:buNone/>
            </a:pPr>
            <a:r>
              <a:rPr lang="en-US" sz="1400" b="1" dirty="0">
                <a:solidFill>
                  <a:schemeClr val="bg1"/>
                </a:solidFill>
              </a:rPr>
              <a:t>Restu dari pemegang uang</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4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800"/>
                            </p:stCondLst>
                            <p:childTnLst>
                              <p:par>
                                <p:cTn id="37" presetID="10" presetClass="entr" presetSubtype="0" fill="hold"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par>
                          <p:cTn id="52" fill="hold">
                            <p:stCondLst>
                              <p:cond delay="1200"/>
                            </p:stCondLst>
                            <p:childTnLst>
                              <p:par>
                                <p:cTn id="53" presetID="10" presetClass="entr" presetSubtype="0" fill="hold" nodeType="after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childTnLst>
                                </p:cTn>
                              </p:par>
                              <p:par>
                                <p:cTn id="56" presetID="10" presetClass="entr" presetSubtype="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500"/>
                                        <p:tgtEl>
                                          <p:spTgt spid="10"/>
                                        </p:tgtEl>
                                      </p:cBhvr>
                                    </p:animEffect>
                                  </p:childTnLst>
                                </p:cTn>
                              </p:par>
                              <p:par>
                                <p:cTn id="59" presetID="10" presetClass="entr" presetSubtype="0"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childTnLst>
                                </p:cTn>
                              </p:par>
                              <p:par>
                                <p:cTn id="62" presetID="10" presetClass="entr" presetSubtype="0"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childTnLst>
                                </p:cTn>
                              </p:par>
                              <p:par>
                                <p:cTn id="65" presetID="10" presetClass="entr" presetSubtype="0"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Baca Sinyal Toko Tanpa Bertanya</a:t>
            </a:r>
            <a:endParaRPr lang="en-US" sz="2800" dirty="0"/>
          </a:p>
        </p:txBody>
      </p:sp>
      <p:sp>
        <p:nvSpPr>
          <p:cNvPr id="3" name="pill"/>
          <p:cNvSpPr txBox="1"/>
          <p:nvPr/>
        </p:nvSpPr>
        <p:spPr>
          <a:xfrm>
            <a:off x="457200" y="237744"/>
            <a:ext cx="210312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1.3  ·  BACA SINYAL</a:t>
            </a:r>
            <a:endParaRPr lang="en-US" sz="1000" dirty="0"/>
          </a:p>
        </p:txBody>
      </p:sp>
      <p:sp>
        <p:nvSpPr>
          <p:cNvPr id="4" name="Text 2"/>
          <p:cNvSpPr txBox="1"/>
          <p:nvPr/>
        </p:nvSpPr>
        <p:spPr>
          <a:xfrm>
            <a:off x="1051560" y="1261872"/>
            <a:ext cx="2926080" cy="201168"/>
          </a:xfrm>
          <a:prstGeom prst="rect">
            <a:avLst/>
          </a:prstGeom>
          <a:noFill/>
          <a:ln/>
        </p:spPr>
        <p:txBody>
          <a:bodyPr wrap="square" lIns="0" tIns="0" rIns="0" bIns="0" rtlCol="0" anchor="t"/>
          <a:lstStyle/>
          <a:p>
            <a:pPr marL="0" indent="0">
              <a:buNone/>
            </a:pPr>
            <a:r>
              <a:rPr lang="en-US" sz="1100" b="1" kern="0" spc="100" dirty="0">
                <a:solidFill>
                  <a:schemeClr val="accent3"/>
                </a:solidFill>
              </a:rPr>
              <a:t>YANG TERLIHAT</a:t>
            </a:r>
            <a:endParaRPr lang="en-US" sz="1100" dirty="0"/>
          </a:p>
        </p:txBody>
      </p:sp>
      <p:sp>
        <p:nvSpPr>
          <p:cNvPr id="5" name="Text 3"/>
          <p:cNvSpPr txBox="1"/>
          <p:nvPr/>
        </p:nvSpPr>
        <p:spPr>
          <a:xfrm>
            <a:off x="4526280" y="1261872"/>
            <a:ext cx="4114800" cy="201168"/>
          </a:xfrm>
          <a:prstGeom prst="rect">
            <a:avLst/>
          </a:prstGeom>
          <a:noFill/>
          <a:ln/>
        </p:spPr>
        <p:txBody>
          <a:bodyPr wrap="square" lIns="0" tIns="0" rIns="0" bIns="0" rtlCol="0" anchor="t"/>
          <a:lstStyle/>
          <a:p>
            <a:pPr marL="0" indent="0">
              <a:buNone/>
            </a:pPr>
            <a:r>
              <a:rPr lang="en-US" sz="1100" b="1" kern="0" spc="100" dirty="0">
                <a:solidFill>
                  <a:schemeClr val="accent3"/>
                </a:solidFill>
              </a:rPr>
              <a:t>ARTINYA BUAT KITA</a:t>
            </a:r>
            <a:endParaRPr lang="en-US" sz="1100" dirty="0"/>
          </a:p>
        </p:txBody>
      </p:sp>
      <p:sp>
        <p:nvSpPr>
          <p:cNvPr id="6" name="a1-r"/>
          <p:cNvSpPr/>
          <p:nvPr/>
        </p:nvSpPr>
        <p:spPr>
          <a:xfrm>
            <a:off x="457200" y="1536192"/>
            <a:ext cx="475488" cy="475488"/>
          </a:xfrm>
          <a:prstGeom prst="ellipse">
            <a:avLst/>
          </a:prstGeom>
          <a:solidFill>
            <a:schemeClr val="accent1"/>
          </a:solidFill>
          <a:ln/>
        </p:spPr>
      </p:sp>
      <p:pic>
        <p:nvPicPr>
          <p:cNvPr id="7" name="a1-r" descr="preencoded.png"/>
          <p:cNvPicPr>
            <a:picLocks noChangeAspect="1"/>
          </p:cNvPicPr>
          <p:nvPr/>
        </p:nvPicPr>
        <p:blipFill>
          <a:blip r:embed="rId3"/>
          <a:stretch>
            <a:fillRect/>
          </a:stretch>
        </p:blipFill>
        <p:spPr>
          <a:xfrm>
            <a:off x="580827" y="1659819"/>
            <a:ext cx="228234" cy="228234"/>
          </a:xfrm>
          <a:prstGeom prst="rect">
            <a:avLst/>
          </a:prstGeom>
        </p:spPr>
      </p:pic>
      <p:sp>
        <p:nvSpPr>
          <p:cNvPr id="8" name="a1-r"/>
          <p:cNvSpPr/>
          <p:nvPr/>
        </p:nvSpPr>
        <p:spPr>
          <a:xfrm>
            <a:off x="1051560" y="1508760"/>
            <a:ext cx="2926080" cy="530352"/>
          </a:xfrm>
          <a:prstGeom prst="roundRect">
            <a:avLst>
              <a:gd name="adj" fmla="val 20690"/>
            </a:avLst>
          </a:prstGeom>
          <a:solidFill>
            <a:schemeClr val="bg2"/>
          </a:solidFill>
          <a:ln/>
        </p:spPr>
      </p:sp>
      <p:sp>
        <p:nvSpPr>
          <p:cNvPr id="9" name="a1-r"/>
          <p:cNvSpPr txBox="1"/>
          <p:nvPr/>
        </p:nvSpPr>
        <p:spPr>
          <a:xfrm>
            <a:off x="1188720" y="1508760"/>
            <a:ext cx="2743200" cy="530352"/>
          </a:xfrm>
          <a:prstGeom prst="rect">
            <a:avLst/>
          </a:prstGeom>
          <a:noFill/>
          <a:ln/>
        </p:spPr>
        <p:txBody>
          <a:bodyPr wrap="square" lIns="0" tIns="0" rIns="0" bIns="0" rtlCol="0" anchor="ctr"/>
          <a:lstStyle/>
          <a:p>
            <a:pPr marL="0" indent="0">
              <a:buNone/>
            </a:pPr>
            <a:r>
              <a:rPr lang="en-US" sz="1400" b="1" dirty="0">
                <a:solidFill>
                  <a:schemeClr val="tx1"/>
                </a:solidFill>
              </a:rPr>
              <a:t>Gudang penuh dan sesak</a:t>
            </a:r>
            <a:endParaRPr lang="en-US" sz="1400" dirty="0"/>
          </a:p>
        </p:txBody>
      </p:sp>
      <p:sp>
        <p:nvSpPr>
          <p:cNvPr id="10" name="a1-r"/>
          <p:cNvSpPr/>
          <p:nvPr/>
        </p:nvSpPr>
        <p:spPr>
          <a:xfrm>
            <a:off x="4041648" y="1773936"/>
            <a:ext cx="420624" cy="914"/>
          </a:xfrm>
          <a:prstGeom prst="line">
            <a:avLst/>
          </a:prstGeom>
          <a:noFill/>
          <a:ln w="28575">
            <a:solidFill>
              <a:schemeClr val="tx1"/>
            </a:solidFill>
            <a:prstDash val="solid"/>
            <a:tailEnd type="triangle"/>
          </a:ln>
        </p:spPr>
      </p:sp>
      <p:sp>
        <p:nvSpPr>
          <p:cNvPr id="11" name="a1-r"/>
          <p:cNvSpPr/>
          <p:nvPr/>
        </p:nvSpPr>
        <p:spPr>
          <a:xfrm>
            <a:off x="4526280" y="1508760"/>
            <a:ext cx="4160520" cy="530352"/>
          </a:xfrm>
          <a:prstGeom prst="roundRect">
            <a:avLst>
              <a:gd name="adj" fmla="val 20690"/>
            </a:avLst>
          </a:prstGeom>
          <a:solidFill>
            <a:schemeClr val="accent2"/>
          </a:solidFill>
          <a:ln/>
        </p:spPr>
      </p:sp>
      <p:sp>
        <p:nvSpPr>
          <p:cNvPr id="12" name="a1-r"/>
          <p:cNvSpPr txBox="1"/>
          <p:nvPr/>
        </p:nvSpPr>
        <p:spPr>
          <a:xfrm>
            <a:off x="4663440" y="1508760"/>
            <a:ext cx="3931920" cy="530352"/>
          </a:xfrm>
          <a:prstGeom prst="rect">
            <a:avLst/>
          </a:prstGeom>
          <a:noFill/>
          <a:ln/>
        </p:spPr>
        <p:txBody>
          <a:bodyPr wrap="square" lIns="0" tIns="0" rIns="0" bIns="0" rtlCol="0" anchor="ctr"/>
          <a:lstStyle/>
          <a:p>
            <a:pPr marL="0" indent="0">
              <a:buNone/>
            </a:pPr>
            <a:r>
              <a:rPr lang="en-US" sz="1400" dirty="0">
                <a:solidFill>
                  <a:schemeClr val="tx1"/>
                </a:solidFill>
              </a:rPr>
              <a:t>Siap-siap keberatan soal tempat. Tawarkan order kecil, kirim lebih sering.</a:t>
            </a:r>
            <a:endParaRPr lang="en-US" sz="1400" dirty="0"/>
          </a:p>
        </p:txBody>
      </p:sp>
      <p:sp>
        <p:nvSpPr>
          <p:cNvPr id="13" name="a2-r"/>
          <p:cNvSpPr/>
          <p:nvPr/>
        </p:nvSpPr>
        <p:spPr>
          <a:xfrm>
            <a:off x="457200" y="2139696"/>
            <a:ext cx="475488" cy="475488"/>
          </a:xfrm>
          <a:prstGeom prst="ellipse">
            <a:avLst/>
          </a:prstGeom>
          <a:solidFill>
            <a:schemeClr val="accent1"/>
          </a:solidFill>
          <a:ln/>
        </p:spPr>
      </p:sp>
      <p:pic>
        <p:nvPicPr>
          <p:cNvPr id="14" name="a2-r" descr="preencoded.png"/>
          <p:cNvPicPr>
            <a:picLocks noChangeAspect="1"/>
          </p:cNvPicPr>
          <p:nvPr/>
        </p:nvPicPr>
        <p:blipFill>
          <a:blip r:embed="rId4"/>
          <a:stretch>
            <a:fillRect/>
          </a:stretch>
        </p:blipFill>
        <p:spPr>
          <a:xfrm>
            <a:off x="580827" y="2263323"/>
            <a:ext cx="228234" cy="228234"/>
          </a:xfrm>
          <a:prstGeom prst="rect">
            <a:avLst/>
          </a:prstGeom>
        </p:spPr>
      </p:pic>
      <p:sp>
        <p:nvSpPr>
          <p:cNvPr id="15" name="a2-r"/>
          <p:cNvSpPr/>
          <p:nvPr/>
        </p:nvSpPr>
        <p:spPr>
          <a:xfrm>
            <a:off x="1051560" y="2112264"/>
            <a:ext cx="2926080" cy="530352"/>
          </a:xfrm>
          <a:prstGeom prst="roundRect">
            <a:avLst>
              <a:gd name="adj" fmla="val 20690"/>
            </a:avLst>
          </a:prstGeom>
          <a:solidFill>
            <a:schemeClr val="bg2"/>
          </a:solidFill>
          <a:ln/>
        </p:spPr>
      </p:sp>
      <p:sp>
        <p:nvSpPr>
          <p:cNvPr id="16" name="a2-r"/>
          <p:cNvSpPr txBox="1"/>
          <p:nvPr/>
        </p:nvSpPr>
        <p:spPr>
          <a:xfrm>
            <a:off x="1188720" y="2112264"/>
            <a:ext cx="2743200" cy="530352"/>
          </a:xfrm>
          <a:prstGeom prst="rect">
            <a:avLst/>
          </a:prstGeom>
          <a:noFill/>
          <a:ln/>
        </p:spPr>
        <p:txBody>
          <a:bodyPr wrap="square" lIns="0" tIns="0" rIns="0" bIns="0" rtlCol="0" anchor="ctr"/>
          <a:lstStyle/>
          <a:p>
            <a:pPr marL="0" indent="0">
              <a:buNone/>
            </a:pPr>
            <a:r>
              <a:rPr lang="en-US" sz="1400" b="1" dirty="0">
                <a:solidFill>
                  <a:schemeClr val="tx1"/>
                </a:solidFill>
              </a:rPr>
              <a:t>Banyak tukang belanja dan nongkrong</a:t>
            </a:r>
            <a:endParaRPr lang="en-US" sz="1400" dirty="0"/>
          </a:p>
        </p:txBody>
      </p:sp>
      <p:sp>
        <p:nvSpPr>
          <p:cNvPr id="17" name="a2-r"/>
          <p:cNvSpPr/>
          <p:nvPr/>
        </p:nvSpPr>
        <p:spPr>
          <a:xfrm>
            <a:off x="4041648" y="2377440"/>
            <a:ext cx="420624" cy="914"/>
          </a:xfrm>
          <a:prstGeom prst="line">
            <a:avLst/>
          </a:prstGeom>
          <a:noFill/>
          <a:ln w="28575">
            <a:solidFill>
              <a:schemeClr val="tx1"/>
            </a:solidFill>
            <a:prstDash val="solid"/>
            <a:tailEnd type="triangle"/>
          </a:ln>
        </p:spPr>
      </p:sp>
      <p:sp>
        <p:nvSpPr>
          <p:cNvPr id="18" name="a2-r"/>
          <p:cNvSpPr/>
          <p:nvPr/>
        </p:nvSpPr>
        <p:spPr>
          <a:xfrm>
            <a:off x="4526280" y="2112264"/>
            <a:ext cx="4160520" cy="530352"/>
          </a:xfrm>
          <a:prstGeom prst="roundRect">
            <a:avLst>
              <a:gd name="adj" fmla="val 20690"/>
            </a:avLst>
          </a:prstGeom>
          <a:solidFill>
            <a:schemeClr val="accent2"/>
          </a:solidFill>
          <a:ln/>
        </p:spPr>
      </p:sp>
      <p:sp>
        <p:nvSpPr>
          <p:cNvPr id="19" name="a2-r"/>
          <p:cNvSpPr txBox="1"/>
          <p:nvPr/>
        </p:nvSpPr>
        <p:spPr>
          <a:xfrm>
            <a:off x="4663440" y="2112264"/>
            <a:ext cx="3931920" cy="530352"/>
          </a:xfrm>
          <a:prstGeom prst="rect">
            <a:avLst/>
          </a:prstGeom>
          <a:noFill/>
          <a:ln/>
        </p:spPr>
        <p:txBody>
          <a:bodyPr wrap="square" lIns="0" tIns="0" rIns="0" bIns="0" rtlCol="0" anchor="ctr"/>
          <a:lstStyle/>
          <a:p>
            <a:pPr marL="0" indent="0">
              <a:buNone/>
            </a:pPr>
            <a:r>
              <a:rPr lang="en-US" sz="1400" dirty="0">
                <a:solidFill>
                  <a:schemeClr val="tx1"/>
                </a:solidFill>
              </a:rPr>
              <a:t>Ada permintaan nyata. Peluang untuk mortar dan bata ringan.</a:t>
            </a:r>
            <a:endParaRPr lang="en-US" sz="1400" dirty="0"/>
          </a:p>
        </p:txBody>
      </p:sp>
      <p:sp>
        <p:nvSpPr>
          <p:cNvPr id="20" name="a3-r"/>
          <p:cNvSpPr/>
          <p:nvPr/>
        </p:nvSpPr>
        <p:spPr>
          <a:xfrm>
            <a:off x="457200" y="2743200"/>
            <a:ext cx="475488" cy="475488"/>
          </a:xfrm>
          <a:prstGeom prst="ellipse">
            <a:avLst/>
          </a:prstGeom>
          <a:solidFill>
            <a:schemeClr val="accent1"/>
          </a:solidFill>
          <a:ln/>
        </p:spPr>
      </p:sp>
      <p:pic>
        <p:nvPicPr>
          <p:cNvPr id="21" name="a3-r" descr="preencoded.png"/>
          <p:cNvPicPr>
            <a:picLocks noChangeAspect="1"/>
          </p:cNvPicPr>
          <p:nvPr/>
        </p:nvPicPr>
        <p:blipFill>
          <a:blip r:embed="rId5"/>
          <a:stretch>
            <a:fillRect/>
          </a:stretch>
        </p:blipFill>
        <p:spPr>
          <a:xfrm>
            <a:off x="580827" y="2866827"/>
            <a:ext cx="228234" cy="228234"/>
          </a:xfrm>
          <a:prstGeom prst="rect">
            <a:avLst/>
          </a:prstGeom>
        </p:spPr>
      </p:pic>
      <p:sp>
        <p:nvSpPr>
          <p:cNvPr id="22" name="a3-r"/>
          <p:cNvSpPr/>
          <p:nvPr/>
        </p:nvSpPr>
        <p:spPr>
          <a:xfrm>
            <a:off x="1051560" y="2715768"/>
            <a:ext cx="2926080" cy="530352"/>
          </a:xfrm>
          <a:prstGeom prst="roundRect">
            <a:avLst>
              <a:gd name="adj" fmla="val 20690"/>
            </a:avLst>
          </a:prstGeom>
          <a:solidFill>
            <a:schemeClr val="bg2"/>
          </a:solidFill>
          <a:ln/>
        </p:spPr>
      </p:sp>
      <p:sp>
        <p:nvSpPr>
          <p:cNvPr id="23" name="a3-r"/>
          <p:cNvSpPr txBox="1"/>
          <p:nvPr/>
        </p:nvSpPr>
        <p:spPr>
          <a:xfrm>
            <a:off x="1188720" y="2715768"/>
            <a:ext cx="2743200" cy="530352"/>
          </a:xfrm>
          <a:prstGeom prst="rect">
            <a:avLst/>
          </a:prstGeom>
          <a:noFill/>
          <a:ln/>
        </p:spPr>
        <p:txBody>
          <a:bodyPr wrap="square" lIns="0" tIns="0" rIns="0" bIns="0" rtlCol="0" anchor="ctr"/>
          <a:lstStyle/>
          <a:p>
            <a:pPr marL="0" indent="0">
              <a:buNone/>
            </a:pPr>
            <a:r>
              <a:rPr lang="en-US" sz="1400" b="1" dirty="0">
                <a:solidFill>
                  <a:schemeClr val="tx1"/>
                </a:solidFill>
              </a:rPr>
              <a:t>Ada pajangan merek kompetitor</a:t>
            </a:r>
            <a:endParaRPr lang="en-US" sz="1400" dirty="0"/>
          </a:p>
        </p:txBody>
      </p:sp>
      <p:sp>
        <p:nvSpPr>
          <p:cNvPr id="24" name="a3-r"/>
          <p:cNvSpPr/>
          <p:nvPr/>
        </p:nvSpPr>
        <p:spPr>
          <a:xfrm>
            <a:off x="4041648" y="2980944"/>
            <a:ext cx="420624" cy="914"/>
          </a:xfrm>
          <a:prstGeom prst="line">
            <a:avLst/>
          </a:prstGeom>
          <a:noFill/>
          <a:ln w="28575">
            <a:solidFill>
              <a:schemeClr val="tx1"/>
            </a:solidFill>
            <a:prstDash val="solid"/>
            <a:tailEnd type="triangle"/>
          </a:ln>
        </p:spPr>
      </p:sp>
      <p:sp>
        <p:nvSpPr>
          <p:cNvPr id="25" name="a3-r"/>
          <p:cNvSpPr/>
          <p:nvPr/>
        </p:nvSpPr>
        <p:spPr>
          <a:xfrm>
            <a:off x="4526280" y="2715768"/>
            <a:ext cx="4160520" cy="530352"/>
          </a:xfrm>
          <a:prstGeom prst="roundRect">
            <a:avLst>
              <a:gd name="adj" fmla="val 20690"/>
            </a:avLst>
          </a:prstGeom>
          <a:solidFill>
            <a:schemeClr val="accent2"/>
          </a:solidFill>
          <a:ln/>
        </p:spPr>
      </p:sp>
      <p:sp>
        <p:nvSpPr>
          <p:cNvPr id="26" name="a3-r"/>
          <p:cNvSpPr txBox="1"/>
          <p:nvPr/>
        </p:nvSpPr>
        <p:spPr>
          <a:xfrm>
            <a:off x="4663440" y="2715768"/>
            <a:ext cx="3931920" cy="530352"/>
          </a:xfrm>
          <a:prstGeom prst="rect">
            <a:avLst/>
          </a:prstGeom>
          <a:noFill/>
          <a:ln/>
        </p:spPr>
        <p:txBody>
          <a:bodyPr wrap="square" lIns="0" tIns="0" rIns="0" bIns="0" rtlCol="0" anchor="ctr"/>
          <a:lstStyle/>
          <a:p>
            <a:pPr marL="0" indent="0">
              <a:buNone/>
            </a:pPr>
            <a:r>
              <a:rPr lang="en-US" sz="1400" dirty="0">
                <a:solidFill>
                  <a:schemeClr val="tx1"/>
                </a:solidFill>
              </a:rPr>
              <a:t>Toko sudah kenal kategorinya. Masuk sebagai pilihan kedua.</a:t>
            </a:r>
            <a:endParaRPr lang="en-US" sz="1400" dirty="0"/>
          </a:p>
        </p:txBody>
      </p:sp>
      <p:sp>
        <p:nvSpPr>
          <p:cNvPr id="27" name="a4-r"/>
          <p:cNvSpPr/>
          <p:nvPr/>
        </p:nvSpPr>
        <p:spPr>
          <a:xfrm>
            <a:off x="457200" y="3346704"/>
            <a:ext cx="475488" cy="475488"/>
          </a:xfrm>
          <a:prstGeom prst="ellipse">
            <a:avLst/>
          </a:prstGeom>
          <a:solidFill>
            <a:schemeClr val="accent1"/>
          </a:solidFill>
          <a:ln/>
        </p:spPr>
      </p:sp>
      <p:pic>
        <p:nvPicPr>
          <p:cNvPr id="28" name="a4-r" descr="preencoded.png"/>
          <p:cNvPicPr>
            <a:picLocks noChangeAspect="1"/>
          </p:cNvPicPr>
          <p:nvPr/>
        </p:nvPicPr>
        <p:blipFill>
          <a:blip r:embed="rId6"/>
          <a:stretch>
            <a:fillRect/>
          </a:stretch>
        </p:blipFill>
        <p:spPr>
          <a:xfrm>
            <a:off x="580827" y="3470331"/>
            <a:ext cx="228234" cy="228234"/>
          </a:xfrm>
          <a:prstGeom prst="rect">
            <a:avLst/>
          </a:prstGeom>
        </p:spPr>
      </p:pic>
      <p:sp>
        <p:nvSpPr>
          <p:cNvPr id="29" name="a4-r"/>
          <p:cNvSpPr/>
          <p:nvPr/>
        </p:nvSpPr>
        <p:spPr>
          <a:xfrm>
            <a:off x="1051560" y="3319272"/>
            <a:ext cx="2926080" cy="530352"/>
          </a:xfrm>
          <a:prstGeom prst="roundRect">
            <a:avLst>
              <a:gd name="adj" fmla="val 20690"/>
            </a:avLst>
          </a:prstGeom>
          <a:solidFill>
            <a:schemeClr val="bg2"/>
          </a:solidFill>
          <a:ln/>
        </p:spPr>
      </p:sp>
      <p:sp>
        <p:nvSpPr>
          <p:cNvPr id="30" name="a4-r"/>
          <p:cNvSpPr txBox="1"/>
          <p:nvPr/>
        </p:nvSpPr>
        <p:spPr>
          <a:xfrm>
            <a:off x="1188720" y="3319272"/>
            <a:ext cx="2743200" cy="530352"/>
          </a:xfrm>
          <a:prstGeom prst="rect">
            <a:avLst/>
          </a:prstGeom>
          <a:noFill/>
          <a:ln/>
        </p:spPr>
        <p:txBody>
          <a:bodyPr wrap="square" lIns="0" tIns="0" rIns="0" bIns="0" rtlCol="0" anchor="ctr"/>
          <a:lstStyle/>
          <a:p>
            <a:pPr marL="0" indent="0">
              <a:buNone/>
            </a:pPr>
            <a:r>
              <a:rPr lang="en-US" sz="1400" b="1" dirty="0">
                <a:solidFill>
                  <a:schemeClr val="tx1"/>
                </a:solidFill>
              </a:rPr>
              <a:t>Pembeli tunai, belanja kecil-kecil</a:t>
            </a:r>
            <a:endParaRPr lang="en-US" sz="1400" dirty="0"/>
          </a:p>
        </p:txBody>
      </p:sp>
      <p:sp>
        <p:nvSpPr>
          <p:cNvPr id="31" name="a4-r"/>
          <p:cNvSpPr/>
          <p:nvPr/>
        </p:nvSpPr>
        <p:spPr>
          <a:xfrm>
            <a:off x="4041648" y="3584448"/>
            <a:ext cx="420624" cy="914"/>
          </a:xfrm>
          <a:prstGeom prst="line">
            <a:avLst/>
          </a:prstGeom>
          <a:noFill/>
          <a:ln w="28575">
            <a:solidFill>
              <a:schemeClr val="tx1"/>
            </a:solidFill>
            <a:prstDash val="solid"/>
            <a:tailEnd type="triangle"/>
          </a:ln>
        </p:spPr>
      </p:sp>
      <p:sp>
        <p:nvSpPr>
          <p:cNvPr id="32" name="a4-r"/>
          <p:cNvSpPr/>
          <p:nvPr/>
        </p:nvSpPr>
        <p:spPr>
          <a:xfrm>
            <a:off x="4526280" y="3319272"/>
            <a:ext cx="4160520" cy="530352"/>
          </a:xfrm>
          <a:prstGeom prst="roundRect">
            <a:avLst>
              <a:gd name="adj" fmla="val 20690"/>
            </a:avLst>
          </a:prstGeom>
          <a:solidFill>
            <a:schemeClr val="accent2"/>
          </a:solidFill>
          <a:ln/>
        </p:spPr>
      </p:sp>
      <p:sp>
        <p:nvSpPr>
          <p:cNvPr id="33" name="a4-r"/>
          <p:cNvSpPr txBox="1"/>
          <p:nvPr/>
        </p:nvSpPr>
        <p:spPr>
          <a:xfrm>
            <a:off x="4663440" y="3319272"/>
            <a:ext cx="3931920" cy="530352"/>
          </a:xfrm>
          <a:prstGeom prst="rect">
            <a:avLst/>
          </a:prstGeom>
          <a:noFill/>
          <a:ln/>
        </p:spPr>
        <p:txBody>
          <a:bodyPr wrap="square" lIns="0" tIns="0" rIns="0" bIns="0" rtlCol="0" anchor="ctr"/>
          <a:lstStyle/>
          <a:p>
            <a:pPr marL="0" indent="0">
              <a:buNone/>
            </a:pPr>
            <a:r>
              <a:rPr lang="en-US" sz="1400" dirty="0">
                <a:solidFill>
                  <a:schemeClr val="tx1"/>
                </a:solidFill>
              </a:rPr>
              <a:t>Pelanggan warga atau renovasi kecil. Tawarkan produk eceran.</a:t>
            </a:r>
            <a:endParaRPr lang="en-US" sz="1400" dirty="0"/>
          </a:p>
        </p:txBody>
      </p:sp>
      <p:sp>
        <p:nvSpPr>
          <p:cNvPr id="34" name="a5-r"/>
          <p:cNvSpPr/>
          <p:nvPr/>
        </p:nvSpPr>
        <p:spPr>
          <a:xfrm>
            <a:off x="457200" y="3950208"/>
            <a:ext cx="475488" cy="475488"/>
          </a:xfrm>
          <a:prstGeom prst="ellipse">
            <a:avLst/>
          </a:prstGeom>
          <a:solidFill>
            <a:schemeClr val="accent1"/>
          </a:solidFill>
          <a:ln/>
        </p:spPr>
      </p:sp>
      <p:pic>
        <p:nvPicPr>
          <p:cNvPr id="35" name="a5-r" descr="preencoded.png"/>
          <p:cNvPicPr>
            <a:picLocks noChangeAspect="1"/>
          </p:cNvPicPr>
          <p:nvPr/>
        </p:nvPicPr>
        <p:blipFill>
          <a:blip r:embed="rId7"/>
          <a:stretch>
            <a:fillRect/>
          </a:stretch>
        </p:blipFill>
        <p:spPr>
          <a:xfrm>
            <a:off x="580827" y="4073835"/>
            <a:ext cx="228234" cy="228234"/>
          </a:xfrm>
          <a:prstGeom prst="rect">
            <a:avLst/>
          </a:prstGeom>
        </p:spPr>
      </p:pic>
      <p:sp>
        <p:nvSpPr>
          <p:cNvPr id="36" name="a5-r"/>
          <p:cNvSpPr/>
          <p:nvPr/>
        </p:nvSpPr>
        <p:spPr>
          <a:xfrm>
            <a:off x="1051560" y="3922776"/>
            <a:ext cx="2926080" cy="530352"/>
          </a:xfrm>
          <a:prstGeom prst="roundRect">
            <a:avLst>
              <a:gd name="adj" fmla="val 20690"/>
            </a:avLst>
          </a:prstGeom>
          <a:solidFill>
            <a:schemeClr val="bg2"/>
          </a:solidFill>
          <a:ln/>
        </p:spPr>
      </p:sp>
      <p:sp>
        <p:nvSpPr>
          <p:cNvPr id="37" name="a5-r"/>
          <p:cNvSpPr txBox="1"/>
          <p:nvPr/>
        </p:nvSpPr>
        <p:spPr>
          <a:xfrm>
            <a:off x="1188720" y="3922776"/>
            <a:ext cx="2743200" cy="530352"/>
          </a:xfrm>
          <a:prstGeom prst="rect">
            <a:avLst/>
          </a:prstGeom>
          <a:noFill/>
          <a:ln/>
        </p:spPr>
        <p:txBody>
          <a:bodyPr wrap="square" lIns="0" tIns="0" rIns="0" bIns="0" rtlCol="0" anchor="ctr"/>
          <a:lstStyle/>
          <a:p>
            <a:pPr marL="0" indent="0">
              <a:buNone/>
            </a:pPr>
            <a:r>
              <a:rPr lang="en-US" sz="1400" b="1" dirty="0">
                <a:solidFill>
                  <a:schemeClr val="tx1"/>
                </a:solidFill>
              </a:rPr>
              <a:t>Ada pickup atau truk kontraktor</a:t>
            </a:r>
            <a:endParaRPr lang="en-US" sz="1400" dirty="0"/>
          </a:p>
        </p:txBody>
      </p:sp>
      <p:sp>
        <p:nvSpPr>
          <p:cNvPr id="38" name="a5-r"/>
          <p:cNvSpPr/>
          <p:nvPr/>
        </p:nvSpPr>
        <p:spPr>
          <a:xfrm>
            <a:off x="4041648" y="4187952"/>
            <a:ext cx="420624" cy="914"/>
          </a:xfrm>
          <a:prstGeom prst="line">
            <a:avLst/>
          </a:prstGeom>
          <a:noFill/>
          <a:ln w="28575">
            <a:solidFill>
              <a:schemeClr val="tx1"/>
            </a:solidFill>
            <a:prstDash val="solid"/>
            <a:tailEnd type="triangle"/>
          </a:ln>
        </p:spPr>
      </p:sp>
      <p:sp>
        <p:nvSpPr>
          <p:cNvPr id="39" name="a5-r"/>
          <p:cNvSpPr/>
          <p:nvPr/>
        </p:nvSpPr>
        <p:spPr>
          <a:xfrm>
            <a:off x="4526280" y="3922776"/>
            <a:ext cx="4160520" cy="530352"/>
          </a:xfrm>
          <a:prstGeom prst="roundRect">
            <a:avLst>
              <a:gd name="adj" fmla="val 20690"/>
            </a:avLst>
          </a:prstGeom>
          <a:solidFill>
            <a:schemeClr val="accent2"/>
          </a:solidFill>
          <a:ln/>
        </p:spPr>
      </p:sp>
      <p:sp>
        <p:nvSpPr>
          <p:cNvPr id="40" name="a5-r"/>
          <p:cNvSpPr txBox="1"/>
          <p:nvPr/>
        </p:nvSpPr>
        <p:spPr>
          <a:xfrm>
            <a:off x="4663440" y="3922776"/>
            <a:ext cx="3931920" cy="530352"/>
          </a:xfrm>
          <a:prstGeom prst="rect">
            <a:avLst/>
          </a:prstGeom>
          <a:noFill/>
          <a:ln/>
        </p:spPr>
        <p:txBody>
          <a:bodyPr wrap="square" lIns="0" tIns="0" rIns="0" bIns="0" rtlCol="0" anchor="ctr"/>
          <a:lstStyle/>
          <a:p>
            <a:pPr marL="0" indent="0">
              <a:buNone/>
            </a:pPr>
            <a:r>
              <a:rPr lang="en-US" sz="1400" dirty="0">
                <a:solidFill>
                  <a:schemeClr val="tx1"/>
                </a:solidFill>
              </a:rPr>
              <a:t>Ada pembeli proyek. Peluang order volume besar.</a:t>
            </a:r>
            <a:endParaRPr lang="en-US" sz="1400" dirty="0"/>
          </a:p>
        </p:txBody>
      </p:sp>
      <p:sp>
        <p:nvSpPr>
          <p:cNvPr id="41"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400"/>
                            </p:stCondLst>
                            <p:childTnLst>
                              <p:par>
                                <p:cTn id="27" presetID="10" presetClass="entr" presetSubtype="0"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par>
                          <p:cTn id="48" fill="hold">
                            <p:stCondLst>
                              <p:cond delay="800"/>
                            </p:stCondLst>
                            <p:childTnLst>
                              <p:par>
                                <p:cTn id="49" presetID="10" presetClass="entr" presetSubtype="0" fill="hold"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childTnLst>
                          </p:cTn>
                        </p:par>
                        <p:par>
                          <p:cTn id="70" fill="hold">
                            <p:stCondLst>
                              <p:cond delay="1200"/>
                            </p:stCondLst>
                            <p:childTnLst>
                              <p:par>
                                <p:cTn id="71" presetID="10" presetClass="entr" presetSubtype="0" fill="hold" nodeType="after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childTnLst>
                          </p:cTn>
                        </p:par>
                        <p:par>
                          <p:cTn id="92" fill="hold">
                            <p:stCondLst>
                              <p:cond delay="1600"/>
                            </p:stCondLst>
                            <p:childTnLst>
                              <p:par>
                                <p:cTn id="93" presetID="10" presetClass="entr" presetSubtype="0" fill="hold" nodeType="after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500"/>
                                        <p:tgtEl>
                                          <p:spTgt spid="34"/>
                                        </p:tgtEl>
                                      </p:cBhvr>
                                    </p:animEffect>
                                  </p:childTnLst>
                                </p:cTn>
                              </p:par>
                              <p:par>
                                <p:cTn id="96" presetID="10" presetClass="entr" presetSubtype="0" fill="hold" nodeType="with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50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500"/>
                                        <p:tgtEl>
                                          <p:spTgt spid="36"/>
                                        </p:tgtEl>
                                      </p:cBhvr>
                                    </p:animEffect>
                                  </p:childTnLst>
                                </p:cTn>
                              </p:par>
                              <p:par>
                                <p:cTn id="102" presetID="10" presetClass="entr" presetSubtype="0" fill="hold" nodeType="withEffect">
                                  <p:stCondLst>
                                    <p:cond delay="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500"/>
                                        <p:tgtEl>
                                          <p:spTgt spid="37"/>
                                        </p:tgtEl>
                                      </p:cBhvr>
                                    </p:animEffect>
                                  </p:childTnLst>
                                </p:cTn>
                              </p:par>
                              <p:par>
                                <p:cTn id="105" presetID="10" presetClass="entr" presetSubtype="0" fill="hold"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500"/>
                                        <p:tgtEl>
                                          <p:spTgt spid="38"/>
                                        </p:tgtEl>
                                      </p:cBhvr>
                                    </p:animEffect>
                                  </p:childTnLst>
                                </p:cTn>
                              </p:par>
                              <p:par>
                                <p:cTn id="108" presetID="10" presetClass="entr" presetSubtype="0" fill="hold" nodeType="withEffect">
                                  <p:stCondLst>
                                    <p:cond delay="0"/>
                                  </p:stCondLst>
                                  <p:childTnLst>
                                    <p:set>
                                      <p:cBhvr>
                                        <p:cTn id="109" dur="1" fill="hold">
                                          <p:stCondLst>
                                            <p:cond delay="0"/>
                                          </p:stCondLst>
                                        </p:cTn>
                                        <p:tgtEl>
                                          <p:spTgt spid="39"/>
                                        </p:tgtEl>
                                        <p:attrNameLst>
                                          <p:attrName>style.visibility</p:attrName>
                                        </p:attrNameLst>
                                      </p:cBhvr>
                                      <p:to>
                                        <p:strVal val="visible"/>
                                      </p:to>
                                    </p:set>
                                    <p:animEffect transition="in" filter="fade">
                                      <p:cBhvr>
                                        <p:cTn id="110" dur="500"/>
                                        <p:tgtEl>
                                          <p:spTgt spid="39"/>
                                        </p:tgtEl>
                                      </p:cBhvr>
                                    </p:animEffect>
                                  </p:childTnLst>
                                </p:cTn>
                              </p:par>
                              <p:par>
                                <p:cTn id="111" presetID="10" presetClass="entr" presetSubtype="0" fill="hold" nodeType="withEffect">
                                  <p:stCondLst>
                                    <p:cond delay="0"/>
                                  </p:stCondLst>
                                  <p:childTnLst>
                                    <p:set>
                                      <p:cBhvr>
                                        <p:cTn id="112" dur="1" fill="hold">
                                          <p:stCondLst>
                                            <p:cond delay="0"/>
                                          </p:stCondLst>
                                        </p:cTn>
                                        <p:tgtEl>
                                          <p:spTgt spid="40"/>
                                        </p:tgtEl>
                                        <p:attrNameLst>
                                          <p:attrName>style.visibility</p:attrName>
                                        </p:attrNameLst>
                                      </p:cBhvr>
                                      <p:to>
                                        <p:strVal val="visible"/>
                                      </p:to>
                                    </p:set>
                                    <p:animEffect transition="in" filter="fade">
                                      <p:cBhvr>
                                        <p:cTn id="11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Berapa Persen Belanja Toko Lewat SID?</a:t>
            </a:r>
            <a:endParaRPr lang="en-US" sz="2800" dirty="0"/>
          </a:p>
        </p:txBody>
      </p:sp>
      <p:sp>
        <p:nvSpPr>
          <p:cNvPr id="3" name="pill"/>
          <p:cNvSpPr txBox="1"/>
          <p:nvPr/>
        </p:nvSpPr>
        <p:spPr>
          <a:xfrm>
            <a:off x="457200" y="237744"/>
            <a:ext cx="2031797"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1.4  ·  PANGSA SID</a:t>
            </a:r>
            <a:endParaRPr lang="en-US" sz="1000" dirty="0"/>
          </a:p>
        </p:txBody>
      </p:sp>
      <p:sp>
        <p:nvSpPr>
          <p:cNvPr id="4" name="a1-stat"/>
          <p:cNvSpPr txBox="1"/>
          <p:nvPr/>
        </p:nvSpPr>
        <p:spPr>
          <a:xfrm>
            <a:off x="457200" y="1325880"/>
            <a:ext cx="2743200" cy="1097280"/>
          </a:xfrm>
          <a:prstGeom prst="rect">
            <a:avLst/>
          </a:prstGeom>
          <a:noFill/>
          <a:ln/>
        </p:spPr>
        <p:txBody>
          <a:bodyPr wrap="square" lIns="0" tIns="0" rIns="0" bIns="0" rtlCol="0" anchor="ctr"/>
          <a:lstStyle/>
          <a:p>
            <a:pPr marL="0" indent="0">
              <a:buNone/>
            </a:pPr>
            <a:r>
              <a:rPr lang="en-US" sz="8000" b="1" dirty="0">
                <a:solidFill>
                  <a:schemeClr val="tx1"/>
                </a:solidFill>
                <a:latin typeface="Arial" pitchFamily="34" charset="0"/>
                <a:ea typeface="Arial" pitchFamily="34" charset="-122"/>
                <a:cs typeface="Arial" pitchFamily="34" charset="-120"/>
              </a:rPr>
              <a:t>25%</a:t>
            </a:r>
            <a:endParaRPr lang="en-US" sz="8000" dirty="0"/>
          </a:p>
        </p:txBody>
      </p:sp>
      <p:sp>
        <p:nvSpPr>
          <p:cNvPr id="5" name="a1-stat"/>
          <p:cNvSpPr txBox="1"/>
          <p:nvPr/>
        </p:nvSpPr>
        <p:spPr>
          <a:xfrm>
            <a:off x="457200" y="2423160"/>
            <a:ext cx="2651760" cy="548640"/>
          </a:xfrm>
          <a:prstGeom prst="rect">
            <a:avLst/>
          </a:prstGeom>
          <a:noFill/>
          <a:ln/>
        </p:spPr>
        <p:txBody>
          <a:bodyPr wrap="square" lIns="0" tIns="0" rIns="0" bIns="0" rtlCol="0" anchor="t"/>
          <a:lstStyle/>
          <a:p>
            <a:pPr marL="0" indent="0">
              <a:buNone/>
            </a:pPr>
            <a:r>
              <a:rPr lang="en-US" sz="1500" dirty="0">
                <a:solidFill>
                  <a:schemeClr val="tx2"/>
                </a:solidFill>
              </a:rPr>
              <a:t>porsi belanja material toko ini yang lewat SID</a:t>
            </a:r>
            <a:endParaRPr lang="en-US" sz="1500" dirty="0"/>
          </a:p>
        </p:txBody>
      </p:sp>
      <p:sp>
        <p:nvSpPr>
          <p:cNvPr id="6" name="a1-stat"/>
          <p:cNvSpPr txBox="1"/>
          <p:nvPr/>
        </p:nvSpPr>
        <p:spPr>
          <a:xfrm>
            <a:off x="457200" y="3108960"/>
            <a:ext cx="2651760" cy="548640"/>
          </a:xfrm>
          <a:prstGeom prst="rect">
            <a:avLst/>
          </a:prstGeom>
          <a:noFill/>
          <a:ln/>
        </p:spPr>
        <p:txBody>
          <a:bodyPr wrap="square" lIns="0" tIns="0" rIns="0" bIns="0" rtlCol="0" anchor="t"/>
          <a:lstStyle/>
          <a:p>
            <a:pPr marL="0" indent="0">
              <a:buNone/>
            </a:pPr>
            <a:r>
              <a:rPr lang="en-US" sz="1500" b="1" dirty="0">
                <a:solidFill>
                  <a:schemeClr val="tx1"/>
                </a:solidFill>
              </a:rPr>
              <a:t>Sisanya, 75%, dibelanjakan ke pemasok lain.</a:t>
            </a:r>
            <a:endParaRPr lang="en-US" sz="1500" dirty="0"/>
          </a:p>
        </p:txBody>
      </p:sp>
      <p:sp>
        <p:nvSpPr>
          <p:cNvPr id="7" name="a2-bar"/>
          <p:cNvSpPr txBox="1"/>
          <p:nvPr/>
        </p:nvSpPr>
        <p:spPr>
          <a:xfrm>
            <a:off x="3566160" y="1371600"/>
            <a:ext cx="5120640" cy="320040"/>
          </a:xfrm>
          <a:prstGeom prst="rect">
            <a:avLst/>
          </a:prstGeom>
          <a:noFill/>
          <a:ln/>
        </p:spPr>
        <p:txBody>
          <a:bodyPr wrap="square" lIns="0" tIns="0" rIns="0" bIns="0" rtlCol="0" anchor="t"/>
          <a:lstStyle/>
          <a:p>
            <a:pPr marL="0" indent="0">
              <a:buNone/>
            </a:pPr>
            <a:r>
              <a:rPr lang="en-US" sz="1500" b="1" dirty="0">
                <a:solidFill>
                  <a:schemeClr val="tx1"/>
                </a:solidFill>
              </a:rPr>
              <a:t>Total belanja material toko: Rp200 juta per bulan</a:t>
            </a:r>
            <a:endParaRPr lang="en-US" sz="1500" dirty="0"/>
          </a:p>
        </p:txBody>
      </p:sp>
      <p:sp>
        <p:nvSpPr>
          <p:cNvPr id="8" name="a2-bar"/>
          <p:cNvSpPr txBox="1"/>
          <p:nvPr/>
        </p:nvSpPr>
        <p:spPr>
          <a:xfrm>
            <a:off x="3566160" y="1783080"/>
            <a:ext cx="1280160" cy="777240"/>
          </a:xfrm>
          <a:prstGeom prst="rect">
            <a:avLst/>
          </a:prstGeom>
          <a:solidFill>
            <a:schemeClr val="accent1"/>
          </a:solidFill>
          <a:ln/>
        </p:spPr>
        <p:txBody>
          <a:bodyPr wrap="square" lIns="0" tIns="0" rIns="0" bIns="0" rtlCol="0" anchor="ctr"/>
          <a:lstStyle/>
          <a:p>
            <a:pPr marL="0" indent="0" algn="ctr">
              <a:buNone/>
            </a:pPr>
            <a:r>
              <a:rPr lang="en-US" sz="1400" b="1" dirty="0">
                <a:solidFill>
                  <a:schemeClr val="tx1"/>
                </a:solidFill>
              </a:rPr>
              <a:t>SID</a:t>
            </a:r>
            <a:endParaRPr lang="en-US" sz="1400" dirty="0"/>
          </a:p>
          <a:p>
            <a:pPr marL="0" indent="0" algn="ctr">
              <a:buNone/>
            </a:pPr>
            <a:r>
              <a:rPr lang="en-US" sz="1400" b="1" dirty="0">
                <a:solidFill>
                  <a:schemeClr val="tx1"/>
                </a:solidFill>
              </a:rPr>
              <a:t>Rp50 jt</a:t>
            </a:r>
            <a:endParaRPr lang="en-US" sz="1400" dirty="0"/>
          </a:p>
        </p:txBody>
      </p:sp>
      <p:sp>
        <p:nvSpPr>
          <p:cNvPr id="9" name="a2-bar"/>
          <p:cNvSpPr txBox="1"/>
          <p:nvPr/>
        </p:nvSpPr>
        <p:spPr>
          <a:xfrm>
            <a:off x="4846320" y="1783080"/>
            <a:ext cx="3840480" cy="777240"/>
          </a:xfrm>
          <a:prstGeom prst="rect">
            <a:avLst/>
          </a:prstGeom>
          <a:solidFill>
            <a:schemeClr val="tx1"/>
          </a:solidFill>
          <a:ln/>
        </p:spPr>
        <p:txBody>
          <a:bodyPr wrap="square" lIns="0" tIns="0" rIns="0" bIns="0" rtlCol="0" anchor="ctr"/>
          <a:lstStyle/>
          <a:p>
            <a:pPr marL="0" indent="0" algn="ctr">
              <a:buNone/>
            </a:pPr>
            <a:r>
              <a:rPr lang="en-US" sz="1400" b="1" dirty="0">
                <a:solidFill>
                  <a:schemeClr val="bg1"/>
                </a:solidFill>
              </a:rPr>
              <a:t>Pemasok lain  Rp150 jt</a:t>
            </a:r>
            <a:endParaRPr lang="en-US" sz="1400" dirty="0"/>
          </a:p>
        </p:txBody>
      </p:sp>
      <p:sp>
        <p:nvSpPr>
          <p:cNvPr id="10" name="a3-room"/>
          <p:cNvSpPr txBox="1"/>
          <p:nvPr/>
        </p:nvSpPr>
        <p:spPr>
          <a:xfrm>
            <a:off x="3566160" y="2651760"/>
            <a:ext cx="5120640" cy="320040"/>
          </a:xfrm>
          <a:prstGeom prst="rect">
            <a:avLst/>
          </a:prstGeom>
          <a:noFill/>
          <a:ln/>
        </p:spPr>
        <p:txBody>
          <a:bodyPr wrap="square" lIns="0" tIns="0" rIns="0" bIns="0" rtlCol="0" anchor="t"/>
          <a:lstStyle/>
          <a:p>
            <a:pPr marL="0" indent="0" algn="r">
              <a:buNone/>
            </a:pPr>
            <a:r>
              <a:rPr lang="en-US" sz="1500" b="1" dirty="0">
                <a:solidFill>
                  <a:schemeClr val="tx1"/>
                </a:solidFill>
              </a:rPr>
              <a:t>↑ Ruang tumbuh non-semen: </a:t>
            </a:r>
            <a:r>
              <a:rPr lang="en-US" sz="1500" b="1" dirty="0">
                <a:solidFill>
                  <a:schemeClr val="tx1"/>
                </a:solidFill>
                <a:highlight>
                  <a:srgbClr val="FFC400"/>
                </a:highlight>
              </a:rPr>
              <a:t>Rp150 juta per bulan</a:t>
            </a:r>
            <a:endParaRPr lang="en-US" sz="1500" dirty="0"/>
          </a:p>
        </p:txBody>
      </p:sp>
      <p:sp>
        <p:nvSpPr>
          <p:cNvPr id="11" name="a4-q"/>
          <p:cNvSpPr/>
          <p:nvPr/>
        </p:nvSpPr>
        <p:spPr>
          <a:xfrm>
            <a:off x="3566160" y="3200400"/>
            <a:ext cx="5120640" cy="1143000"/>
          </a:xfrm>
          <a:prstGeom prst="roundRect">
            <a:avLst>
              <a:gd name="adj" fmla="val 9600"/>
            </a:avLst>
          </a:prstGeom>
          <a:solidFill>
            <a:schemeClr val="bg2"/>
          </a:solidFill>
          <a:ln/>
        </p:spPr>
      </p:sp>
      <p:sp>
        <p:nvSpPr>
          <p:cNvPr id="12" name="a4-q"/>
          <p:cNvSpPr/>
          <p:nvPr/>
        </p:nvSpPr>
        <p:spPr>
          <a:xfrm>
            <a:off x="3749040" y="3474720"/>
            <a:ext cx="548640" cy="548640"/>
          </a:xfrm>
          <a:prstGeom prst="ellipse">
            <a:avLst/>
          </a:prstGeom>
          <a:solidFill>
            <a:schemeClr val="accent1"/>
          </a:solidFill>
          <a:ln/>
        </p:spPr>
      </p:sp>
      <p:pic>
        <p:nvPicPr>
          <p:cNvPr id="13" name="a4-q" descr="preencoded.png"/>
          <p:cNvPicPr>
            <a:picLocks noChangeAspect="1"/>
          </p:cNvPicPr>
          <p:nvPr/>
        </p:nvPicPr>
        <p:blipFill>
          <a:blip r:embed="rId3"/>
          <a:stretch>
            <a:fillRect/>
          </a:stretch>
        </p:blipFill>
        <p:spPr>
          <a:xfrm>
            <a:off x="3891686" y="3617366"/>
            <a:ext cx="263347" cy="263347"/>
          </a:xfrm>
          <a:prstGeom prst="rect">
            <a:avLst/>
          </a:prstGeom>
        </p:spPr>
      </p:pic>
      <p:sp>
        <p:nvSpPr>
          <p:cNvPr id="14" name="a4-q"/>
          <p:cNvSpPr txBox="1"/>
          <p:nvPr/>
        </p:nvSpPr>
        <p:spPr>
          <a:xfrm>
            <a:off x="4480560" y="3291840"/>
            <a:ext cx="4069080" cy="960120"/>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Jangan cuma tanya “Toko ini beli berapa dari kita?”</a:t>
            </a:r>
            <a:endParaRPr lang="en-US" sz="1400" dirty="0"/>
          </a:p>
          <a:p>
            <a:pPr marL="0" indent="0">
              <a:spcAft>
                <a:spcPts val="400"/>
              </a:spcAft>
              <a:buNone/>
            </a:pPr>
            <a:r>
              <a:rPr lang="en-US" sz="1400" b="1" dirty="0">
                <a:solidFill>
                  <a:schemeClr val="tx1"/>
                </a:solidFill>
              </a:rPr>
              <a:t>Tanya: “Dari total belanjanya, berapa persen yang lewat SID?”</a:t>
            </a:r>
            <a:endParaRPr lang="en-US" sz="1400" dirty="0"/>
          </a:p>
        </p:txBody>
      </p:sp>
      <p:sp>
        <p:nvSpPr>
          <p:cNvPr id="15" name="Text 12"/>
          <p:cNvSpPr txBox="1"/>
          <p:nvPr/>
        </p:nvSpPr>
        <p:spPr>
          <a:xfrm>
            <a:off x="457200" y="4434840"/>
            <a:ext cx="1828800" cy="201168"/>
          </a:xfrm>
          <a:prstGeom prst="rect">
            <a:avLst/>
          </a:prstGeom>
          <a:noFill/>
          <a:ln/>
        </p:spPr>
        <p:txBody>
          <a:bodyPr wrap="square" lIns="0" tIns="0" rIns="0" bIns="0" rtlCol="0" anchor="t"/>
          <a:lstStyle/>
          <a:p>
            <a:pPr marL="0" indent="0">
              <a:buNone/>
            </a:pPr>
            <a:r>
              <a:rPr lang="en-US" sz="1000" i="1" dirty="0">
                <a:solidFill>
                  <a:schemeClr val="accent3"/>
                </a:solidFill>
              </a:rPr>
              <a:t>*Angka ilustrasi</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400"/>
                            </p:stCondLst>
                            <p:childTnLst>
                              <p:par>
                                <p:cTn id="15" presetID="10"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800"/>
                            </p:stCondLst>
                            <p:childTnLst>
                              <p:par>
                                <p:cTn id="25" presetID="10" presetClass="entr" presetSubtype="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1200"/>
                            </p:stCondLst>
                            <p:childTnLst>
                              <p:par>
                                <p:cTn id="29" presetID="10" presetClass="entr" presetSubtype="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Intip Kompetitor, Temukan Celahnya</a:t>
            </a:r>
            <a:endParaRPr lang="en-US" sz="2800" dirty="0"/>
          </a:p>
        </p:txBody>
      </p:sp>
      <p:sp>
        <p:nvSpPr>
          <p:cNvPr id="3" name="pill"/>
          <p:cNvSpPr txBox="1"/>
          <p:nvPr/>
        </p:nvSpPr>
        <p:spPr>
          <a:xfrm>
            <a:off x="457200" y="237744"/>
            <a:ext cx="2031797"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1.5  ·  KOMPETITOR</a:t>
            </a:r>
            <a:endParaRPr lang="en-US" sz="1000" dirty="0"/>
          </a:p>
        </p:txBody>
      </p:sp>
      <p:sp>
        <p:nvSpPr>
          <p:cNvPr id="4" name="Text 2"/>
          <p:cNvSpPr txBox="1"/>
          <p:nvPr/>
        </p:nvSpPr>
        <p:spPr>
          <a:xfrm>
            <a:off x="457200" y="1298448"/>
            <a:ext cx="438912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CATAT 4 HAL INI UNTUK SETIAP PRODUK</a:t>
            </a:r>
            <a:endParaRPr lang="en-US" sz="1100" dirty="0"/>
          </a:p>
        </p:txBody>
      </p:sp>
      <p:sp>
        <p:nvSpPr>
          <p:cNvPr id="5" name="a1-c"/>
          <p:cNvSpPr/>
          <p:nvPr/>
        </p:nvSpPr>
        <p:spPr>
          <a:xfrm>
            <a:off x="457200" y="1645920"/>
            <a:ext cx="2148840" cy="1325880"/>
          </a:xfrm>
          <a:prstGeom prst="roundRect">
            <a:avLst>
              <a:gd name="adj" fmla="val 8276"/>
            </a:avLst>
          </a:prstGeom>
          <a:solidFill>
            <a:schemeClr val="bg2"/>
          </a:solidFill>
          <a:ln/>
        </p:spPr>
      </p:sp>
      <p:sp>
        <p:nvSpPr>
          <p:cNvPr id="6" name="a1-c"/>
          <p:cNvSpPr/>
          <p:nvPr/>
        </p:nvSpPr>
        <p:spPr>
          <a:xfrm>
            <a:off x="1234440" y="1783080"/>
            <a:ext cx="566928" cy="566928"/>
          </a:xfrm>
          <a:prstGeom prst="ellipse">
            <a:avLst/>
          </a:prstGeom>
          <a:solidFill>
            <a:schemeClr val="accent1"/>
          </a:solidFill>
          <a:ln/>
        </p:spPr>
      </p:sp>
      <p:pic>
        <p:nvPicPr>
          <p:cNvPr id="7" name="a1-c" descr="preencoded.png"/>
          <p:cNvPicPr>
            <a:picLocks noChangeAspect="1"/>
          </p:cNvPicPr>
          <p:nvPr/>
        </p:nvPicPr>
        <p:blipFill>
          <a:blip r:embed="rId3"/>
          <a:stretch>
            <a:fillRect/>
          </a:stretch>
        </p:blipFill>
        <p:spPr>
          <a:xfrm>
            <a:off x="1381841" y="1930481"/>
            <a:ext cx="272125" cy="272125"/>
          </a:xfrm>
          <a:prstGeom prst="rect">
            <a:avLst/>
          </a:prstGeom>
        </p:spPr>
      </p:pic>
      <p:sp>
        <p:nvSpPr>
          <p:cNvPr id="8" name="a1-c"/>
          <p:cNvSpPr txBox="1"/>
          <p:nvPr/>
        </p:nvSpPr>
        <p:spPr>
          <a:xfrm>
            <a:off x="594360" y="2423160"/>
            <a:ext cx="1874520" cy="457200"/>
          </a:xfrm>
          <a:prstGeom prst="rect">
            <a:avLst/>
          </a:prstGeom>
          <a:noFill/>
          <a:ln/>
        </p:spPr>
        <p:txBody>
          <a:bodyPr wrap="square" lIns="0" tIns="0" rIns="0" bIns="0" rtlCol="0" anchor="t"/>
          <a:lstStyle/>
          <a:p>
            <a:pPr marL="0" indent="0" algn="ctr">
              <a:buNone/>
            </a:pPr>
            <a:r>
              <a:rPr lang="en-US" sz="1400" b="1" dirty="0">
                <a:solidFill>
                  <a:schemeClr val="tx1"/>
                </a:solidFill>
              </a:rPr>
              <a:t>Merek yang dijual</a:t>
            </a:r>
            <a:endParaRPr lang="en-US" sz="1400" dirty="0"/>
          </a:p>
        </p:txBody>
      </p:sp>
      <p:sp>
        <p:nvSpPr>
          <p:cNvPr id="9" name="a2-c"/>
          <p:cNvSpPr/>
          <p:nvPr/>
        </p:nvSpPr>
        <p:spPr>
          <a:xfrm>
            <a:off x="2697480" y="1645920"/>
            <a:ext cx="2148840" cy="1325880"/>
          </a:xfrm>
          <a:prstGeom prst="roundRect">
            <a:avLst>
              <a:gd name="adj" fmla="val 8276"/>
            </a:avLst>
          </a:prstGeom>
          <a:solidFill>
            <a:schemeClr val="bg2"/>
          </a:solidFill>
          <a:ln/>
        </p:spPr>
      </p:sp>
      <p:sp>
        <p:nvSpPr>
          <p:cNvPr id="10" name="a2-c"/>
          <p:cNvSpPr/>
          <p:nvPr/>
        </p:nvSpPr>
        <p:spPr>
          <a:xfrm>
            <a:off x="3474720" y="1783080"/>
            <a:ext cx="566928" cy="566928"/>
          </a:xfrm>
          <a:prstGeom prst="ellipse">
            <a:avLst/>
          </a:prstGeom>
          <a:solidFill>
            <a:schemeClr val="accent1"/>
          </a:solidFill>
          <a:ln/>
        </p:spPr>
      </p:sp>
      <p:pic>
        <p:nvPicPr>
          <p:cNvPr id="11" name="a2-c" descr="preencoded.png"/>
          <p:cNvPicPr>
            <a:picLocks noChangeAspect="1"/>
          </p:cNvPicPr>
          <p:nvPr/>
        </p:nvPicPr>
        <p:blipFill>
          <a:blip r:embed="rId4"/>
          <a:stretch>
            <a:fillRect/>
          </a:stretch>
        </p:blipFill>
        <p:spPr>
          <a:xfrm>
            <a:off x="3622121" y="1930481"/>
            <a:ext cx="272125" cy="272125"/>
          </a:xfrm>
          <a:prstGeom prst="rect">
            <a:avLst/>
          </a:prstGeom>
        </p:spPr>
      </p:pic>
      <p:sp>
        <p:nvSpPr>
          <p:cNvPr id="12" name="a2-c"/>
          <p:cNvSpPr txBox="1"/>
          <p:nvPr/>
        </p:nvSpPr>
        <p:spPr>
          <a:xfrm>
            <a:off x="2834640" y="2423160"/>
            <a:ext cx="1874520" cy="457200"/>
          </a:xfrm>
          <a:prstGeom prst="rect">
            <a:avLst/>
          </a:prstGeom>
          <a:noFill/>
          <a:ln/>
        </p:spPr>
        <p:txBody>
          <a:bodyPr wrap="square" lIns="0" tIns="0" rIns="0" bIns="0" rtlCol="0" anchor="t"/>
          <a:lstStyle/>
          <a:p>
            <a:pPr marL="0" indent="0" algn="ctr">
              <a:buNone/>
            </a:pPr>
            <a:r>
              <a:rPr lang="en-US" sz="1400" b="1" dirty="0">
                <a:solidFill>
                  <a:schemeClr val="tx1"/>
                </a:solidFill>
              </a:rPr>
              <a:t>Harga beli toko</a:t>
            </a:r>
            <a:endParaRPr lang="en-US" sz="1400" dirty="0"/>
          </a:p>
        </p:txBody>
      </p:sp>
      <p:sp>
        <p:nvSpPr>
          <p:cNvPr id="13" name="a3-c"/>
          <p:cNvSpPr/>
          <p:nvPr/>
        </p:nvSpPr>
        <p:spPr>
          <a:xfrm>
            <a:off x="457200" y="3063240"/>
            <a:ext cx="2148840" cy="1325880"/>
          </a:xfrm>
          <a:prstGeom prst="roundRect">
            <a:avLst>
              <a:gd name="adj" fmla="val 8276"/>
            </a:avLst>
          </a:prstGeom>
          <a:solidFill>
            <a:schemeClr val="bg2"/>
          </a:solidFill>
          <a:ln/>
        </p:spPr>
      </p:sp>
      <p:sp>
        <p:nvSpPr>
          <p:cNvPr id="14" name="a3-c"/>
          <p:cNvSpPr/>
          <p:nvPr/>
        </p:nvSpPr>
        <p:spPr>
          <a:xfrm>
            <a:off x="1234440" y="3200400"/>
            <a:ext cx="566928" cy="566928"/>
          </a:xfrm>
          <a:prstGeom prst="ellipse">
            <a:avLst/>
          </a:prstGeom>
          <a:solidFill>
            <a:schemeClr val="accent1"/>
          </a:solidFill>
          <a:ln/>
        </p:spPr>
      </p:sp>
      <p:pic>
        <p:nvPicPr>
          <p:cNvPr id="15" name="a3-c" descr="preencoded.png"/>
          <p:cNvPicPr>
            <a:picLocks noChangeAspect="1"/>
          </p:cNvPicPr>
          <p:nvPr/>
        </p:nvPicPr>
        <p:blipFill>
          <a:blip r:embed="rId5"/>
          <a:stretch>
            <a:fillRect/>
          </a:stretch>
        </p:blipFill>
        <p:spPr>
          <a:xfrm>
            <a:off x="1381841" y="3347801"/>
            <a:ext cx="272125" cy="272125"/>
          </a:xfrm>
          <a:prstGeom prst="rect">
            <a:avLst/>
          </a:prstGeom>
        </p:spPr>
      </p:pic>
      <p:sp>
        <p:nvSpPr>
          <p:cNvPr id="16" name="a3-c"/>
          <p:cNvSpPr txBox="1"/>
          <p:nvPr/>
        </p:nvSpPr>
        <p:spPr>
          <a:xfrm>
            <a:off x="594360" y="3840480"/>
            <a:ext cx="1874520" cy="457200"/>
          </a:xfrm>
          <a:prstGeom prst="rect">
            <a:avLst/>
          </a:prstGeom>
          <a:noFill/>
          <a:ln/>
        </p:spPr>
        <p:txBody>
          <a:bodyPr wrap="square" lIns="0" tIns="0" rIns="0" bIns="0" rtlCol="0" anchor="t"/>
          <a:lstStyle/>
          <a:p>
            <a:pPr marL="0" indent="0" algn="ctr">
              <a:buNone/>
            </a:pPr>
            <a:r>
              <a:rPr lang="en-US" sz="1400" b="1" dirty="0">
                <a:solidFill>
                  <a:schemeClr val="tx1"/>
                </a:solidFill>
              </a:rPr>
              <a:t>Tempo bayar</a:t>
            </a:r>
            <a:endParaRPr lang="en-US" sz="1400" dirty="0"/>
          </a:p>
        </p:txBody>
      </p:sp>
      <p:sp>
        <p:nvSpPr>
          <p:cNvPr id="17" name="a4-c"/>
          <p:cNvSpPr/>
          <p:nvPr/>
        </p:nvSpPr>
        <p:spPr>
          <a:xfrm>
            <a:off x="2697480" y="3063240"/>
            <a:ext cx="2148840" cy="1325880"/>
          </a:xfrm>
          <a:prstGeom prst="roundRect">
            <a:avLst>
              <a:gd name="adj" fmla="val 8276"/>
            </a:avLst>
          </a:prstGeom>
          <a:solidFill>
            <a:schemeClr val="bg2"/>
          </a:solidFill>
          <a:ln/>
        </p:spPr>
      </p:sp>
      <p:sp>
        <p:nvSpPr>
          <p:cNvPr id="18" name="a4-c"/>
          <p:cNvSpPr/>
          <p:nvPr/>
        </p:nvSpPr>
        <p:spPr>
          <a:xfrm>
            <a:off x="3474720" y="3200400"/>
            <a:ext cx="566928" cy="566928"/>
          </a:xfrm>
          <a:prstGeom prst="ellipse">
            <a:avLst/>
          </a:prstGeom>
          <a:solidFill>
            <a:schemeClr val="accent1"/>
          </a:solidFill>
          <a:ln/>
        </p:spPr>
      </p:sp>
      <p:pic>
        <p:nvPicPr>
          <p:cNvPr id="19" name="a4-c" descr="preencoded.png"/>
          <p:cNvPicPr>
            <a:picLocks noChangeAspect="1"/>
          </p:cNvPicPr>
          <p:nvPr/>
        </p:nvPicPr>
        <p:blipFill>
          <a:blip r:embed="rId6"/>
          <a:stretch>
            <a:fillRect/>
          </a:stretch>
        </p:blipFill>
        <p:spPr>
          <a:xfrm>
            <a:off x="3622121" y="3347801"/>
            <a:ext cx="272125" cy="272125"/>
          </a:xfrm>
          <a:prstGeom prst="rect">
            <a:avLst/>
          </a:prstGeom>
        </p:spPr>
      </p:pic>
      <p:sp>
        <p:nvSpPr>
          <p:cNvPr id="20" name="a4-c"/>
          <p:cNvSpPr txBox="1"/>
          <p:nvPr/>
        </p:nvSpPr>
        <p:spPr>
          <a:xfrm>
            <a:off x="2834640" y="3840480"/>
            <a:ext cx="1874520" cy="457200"/>
          </a:xfrm>
          <a:prstGeom prst="rect">
            <a:avLst/>
          </a:prstGeom>
          <a:noFill/>
          <a:ln/>
        </p:spPr>
        <p:txBody>
          <a:bodyPr wrap="square" lIns="0" tIns="0" rIns="0" bIns="0" rtlCol="0" anchor="t"/>
          <a:lstStyle/>
          <a:p>
            <a:pPr marL="0" indent="0" algn="ctr">
              <a:buNone/>
            </a:pPr>
            <a:r>
              <a:rPr lang="en-US" sz="1400" b="1" dirty="0">
                <a:solidFill>
                  <a:schemeClr val="tx1"/>
                </a:solidFill>
              </a:rPr>
              <a:t>Seberapa sering sales mereka datang</a:t>
            </a:r>
            <a:endParaRPr lang="en-US" sz="1400" dirty="0"/>
          </a:p>
        </p:txBody>
      </p:sp>
      <p:sp>
        <p:nvSpPr>
          <p:cNvPr id="21" name="a5-gap"/>
          <p:cNvSpPr/>
          <p:nvPr/>
        </p:nvSpPr>
        <p:spPr>
          <a:xfrm>
            <a:off x="4983480" y="2697480"/>
            <a:ext cx="457200" cy="502920"/>
          </a:xfrm>
          <a:prstGeom prst="rightArrow">
            <a:avLst/>
          </a:prstGeom>
          <a:solidFill>
            <a:schemeClr val="accent1"/>
          </a:solidFill>
          <a:ln/>
        </p:spPr>
      </p:sp>
      <p:sp>
        <p:nvSpPr>
          <p:cNvPr id="22" name="a5-gap"/>
          <p:cNvSpPr/>
          <p:nvPr/>
        </p:nvSpPr>
        <p:spPr>
          <a:xfrm>
            <a:off x="5577840" y="1645920"/>
            <a:ext cx="3108960" cy="2743200"/>
          </a:xfrm>
          <a:prstGeom prst="roundRect">
            <a:avLst>
              <a:gd name="adj" fmla="val 4000"/>
            </a:avLst>
          </a:prstGeom>
          <a:solidFill>
            <a:schemeClr val="tx1"/>
          </a:solidFill>
          <a:ln/>
        </p:spPr>
      </p:sp>
      <p:sp>
        <p:nvSpPr>
          <p:cNvPr id="23" name="a5-gap"/>
          <p:cNvSpPr txBox="1"/>
          <p:nvPr/>
        </p:nvSpPr>
        <p:spPr>
          <a:xfrm>
            <a:off x="5806440" y="1828800"/>
            <a:ext cx="2743200" cy="320040"/>
          </a:xfrm>
          <a:prstGeom prst="rect">
            <a:avLst/>
          </a:prstGeom>
          <a:noFill/>
          <a:ln/>
        </p:spPr>
        <p:txBody>
          <a:bodyPr wrap="square" lIns="0" tIns="0" rIns="0" bIns="0" rtlCol="0" anchor="t"/>
          <a:lstStyle/>
          <a:p>
            <a:pPr marL="0" indent="0">
              <a:buNone/>
            </a:pPr>
            <a:r>
              <a:rPr lang="en-US" sz="1300" b="1" kern="0" spc="100" dirty="0">
                <a:solidFill>
                  <a:schemeClr val="accent1"/>
                </a:solidFill>
              </a:rPr>
              <a:t>CELAH KITA BIASANYA DI SINI</a:t>
            </a:r>
            <a:endParaRPr lang="en-US" sz="1300" dirty="0"/>
          </a:p>
        </p:txBody>
      </p:sp>
      <p:sp>
        <p:nvSpPr>
          <p:cNvPr id="24" name="a5-gap"/>
          <p:cNvSpPr txBox="1"/>
          <p:nvPr/>
        </p:nvSpPr>
        <p:spPr>
          <a:xfrm>
            <a:off x="5806440" y="2286000"/>
            <a:ext cx="27432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Sales kompetitor jarang datang</a:t>
            </a:r>
            <a:endParaRPr lang="en-US" sz="1500" dirty="0"/>
          </a:p>
          <a:p>
            <a:pPr marL="342900" indent="-342900">
              <a:spcAft>
                <a:spcPts val="800"/>
              </a:spcAft>
              <a:buSzPct val="100000"/>
              <a:buChar char="•"/>
            </a:pPr>
            <a:r>
              <a:rPr lang="en-US" sz="1500" dirty="0">
                <a:solidFill>
                  <a:schemeClr val="bg1"/>
                </a:solidFill>
              </a:rPr>
              <a:t>Stok mereka sering kosong</a:t>
            </a:r>
            <a:endParaRPr lang="en-US" sz="1500" dirty="0"/>
          </a:p>
          <a:p>
            <a:pPr marL="342900" indent="-342900">
              <a:spcAft>
                <a:spcPts val="800"/>
              </a:spcAft>
              <a:buSzPct val="100000"/>
              <a:buChar char="•"/>
            </a:pPr>
            <a:r>
              <a:rPr lang="en-US" sz="1500" dirty="0">
                <a:solidFill>
                  <a:schemeClr val="bg1"/>
                </a:solidFill>
              </a:rPr>
              <a:t>Tempo bayar mereka pendek</a:t>
            </a:r>
            <a:endParaRPr lang="en-US" sz="1500" dirty="0"/>
          </a:p>
          <a:p>
            <a:pPr marL="342900" indent="-342900">
              <a:spcAft>
                <a:spcPts val="800"/>
              </a:spcAft>
              <a:buSzPct val="100000"/>
              <a:buChar char="•"/>
            </a:pPr>
            <a:r>
              <a:rPr lang="en-US" sz="1500" dirty="0">
                <a:solidFill>
                  <a:schemeClr val="bg1"/>
                </a:solidFill>
              </a:rPr>
              <a:t>Pengiriman mereka lambat</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par>
                          <p:cTn id="17" fill="hold">
                            <p:stCondLst>
                              <p:cond delay="400"/>
                            </p:stCondLst>
                            <p:childTnLst>
                              <p:par>
                                <p:cTn id="18" presetID="10" presetClass="entr" presetSubtype="0"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par>
                          <p:cTn id="30" fill="hold">
                            <p:stCondLst>
                              <p:cond delay="800"/>
                            </p:stCondLst>
                            <p:childTnLst>
                              <p:par>
                                <p:cTn id="31" presetID="10" presetClass="entr" presetSubtype="0"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00"/>
                            </p:stCondLst>
                            <p:childTnLst>
                              <p:par>
                                <p:cTn id="57" presetID="10" presetClass="entr" presetSubtype="0" fill="hold"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Alat Kerja: Lembar Analisis Toko</a:t>
            </a:r>
            <a:endParaRPr lang="en-US" sz="2800" dirty="0"/>
          </a:p>
        </p:txBody>
      </p:sp>
      <p:sp>
        <p:nvSpPr>
          <p:cNvPr id="3" name="pill"/>
          <p:cNvSpPr txBox="1"/>
          <p:nvPr/>
        </p:nvSpPr>
        <p:spPr>
          <a:xfrm>
            <a:off x="457200" y="237744"/>
            <a:ext cx="188915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1  ·  ALAT KERJA</a:t>
            </a:r>
            <a:endParaRPr lang="en-US" sz="1000" dirty="0"/>
          </a:p>
        </p:txBody>
      </p:sp>
      <p:sp>
        <p:nvSpPr>
          <p:cNvPr id="4" name="a1-form"/>
          <p:cNvSpPr/>
          <p:nvPr/>
        </p:nvSpPr>
        <p:spPr>
          <a:xfrm>
            <a:off x="457200" y="1280160"/>
            <a:ext cx="4572000" cy="3200400"/>
          </a:xfrm>
          <a:prstGeom prst="roundRect">
            <a:avLst>
              <a:gd name="adj" fmla="val 3429"/>
            </a:avLst>
          </a:prstGeom>
          <a:solidFill>
            <a:schemeClr val="bg1"/>
          </a:solidFill>
          <a:ln w="12700">
            <a:solidFill>
              <a:srgbClr val="E0E0E0"/>
            </a:solidFill>
            <a:prstDash val="solid"/>
          </a:ln>
          <a:effectLst>
            <a:outerShdw blurRad="127000" dist="25400" dir="5400000" algn="bl" rotWithShape="0">
              <a:srgbClr val="000000">
                <a:alpha val="13000"/>
              </a:srgbClr>
            </a:outerShdw>
          </a:effectLst>
        </p:spPr>
      </p:sp>
      <p:pic>
        <p:nvPicPr>
          <p:cNvPr id="5" name="a1-form" descr="preencoded.png"/>
          <p:cNvPicPr>
            <a:picLocks noChangeAspect="1"/>
          </p:cNvPicPr>
          <p:nvPr/>
        </p:nvPicPr>
        <p:blipFill>
          <a:blip r:embed="rId3"/>
          <a:stretch>
            <a:fillRect/>
          </a:stretch>
        </p:blipFill>
        <p:spPr>
          <a:xfrm>
            <a:off x="640080" y="1417320"/>
            <a:ext cx="292608" cy="292608"/>
          </a:xfrm>
          <a:prstGeom prst="rect">
            <a:avLst/>
          </a:prstGeom>
        </p:spPr>
      </p:pic>
      <p:sp>
        <p:nvSpPr>
          <p:cNvPr id="6" name="a1-form"/>
          <p:cNvSpPr txBox="1"/>
          <p:nvPr/>
        </p:nvSpPr>
        <p:spPr>
          <a:xfrm>
            <a:off x="1024128" y="1417320"/>
            <a:ext cx="3200400" cy="292608"/>
          </a:xfrm>
          <a:prstGeom prst="rect">
            <a:avLst/>
          </a:prstGeom>
          <a:noFill/>
          <a:ln/>
        </p:spPr>
        <p:txBody>
          <a:bodyPr wrap="square" lIns="0" tIns="0" rIns="0" bIns="0" rtlCol="0" anchor="ctr"/>
          <a:lstStyle/>
          <a:p>
            <a:pPr marL="0" indent="0">
              <a:buNone/>
            </a:pPr>
            <a:r>
              <a:rPr lang="en-US" sz="1400" b="1" kern="0" spc="100" dirty="0">
                <a:solidFill>
                  <a:schemeClr val="tx1"/>
                </a:solidFill>
              </a:rPr>
              <a:t>LEMBAR ANALISIS TOKO</a:t>
            </a:r>
            <a:endParaRPr lang="en-US" sz="1400" dirty="0"/>
          </a:p>
        </p:txBody>
      </p:sp>
      <p:sp>
        <p:nvSpPr>
          <p:cNvPr id="7" name="a1-form"/>
          <p:cNvSpPr txBox="1"/>
          <p:nvPr/>
        </p:nvSpPr>
        <p:spPr>
          <a:xfrm>
            <a:off x="658368" y="1828800"/>
            <a:ext cx="4206240" cy="310896"/>
          </a:xfrm>
          <a:prstGeom prst="rect">
            <a:avLst/>
          </a:prstGeom>
          <a:noFill/>
          <a:ln/>
        </p:spPr>
        <p:txBody>
          <a:bodyPr wrap="square" lIns="0" tIns="0" rIns="0" bIns="0" rtlCol="0" anchor="ctr"/>
          <a:lstStyle/>
          <a:p>
            <a:pPr marL="0" indent="0">
              <a:buNone/>
            </a:pPr>
            <a:r>
              <a:rPr lang="en-US" sz="1300" dirty="0">
                <a:solidFill>
                  <a:schemeClr val="tx1"/>
                </a:solidFill>
              </a:rPr>
              <a:t>Nama dan lokasi toko</a:t>
            </a:r>
            <a:endParaRPr lang="en-US" sz="1300" dirty="0"/>
          </a:p>
        </p:txBody>
      </p:sp>
      <p:sp>
        <p:nvSpPr>
          <p:cNvPr id="8" name="a1-form"/>
          <p:cNvSpPr/>
          <p:nvPr/>
        </p:nvSpPr>
        <p:spPr>
          <a:xfrm>
            <a:off x="658368" y="2157984"/>
            <a:ext cx="4160520" cy="0"/>
          </a:xfrm>
          <a:prstGeom prst="line">
            <a:avLst/>
          </a:prstGeom>
          <a:noFill/>
          <a:ln w="12700">
            <a:solidFill>
              <a:srgbClr val="D0D0D0"/>
            </a:solidFill>
            <a:prstDash val="dash"/>
          </a:ln>
        </p:spPr>
      </p:sp>
      <p:sp>
        <p:nvSpPr>
          <p:cNvPr id="9" name="a1-form"/>
          <p:cNvSpPr txBox="1"/>
          <p:nvPr/>
        </p:nvSpPr>
        <p:spPr>
          <a:xfrm>
            <a:off x="658368" y="2194560"/>
            <a:ext cx="4206240" cy="310896"/>
          </a:xfrm>
          <a:prstGeom prst="rect">
            <a:avLst/>
          </a:prstGeom>
          <a:noFill/>
          <a:ln/>
        </p:spPr>
        <p:txBody>
          <a:bodyPr wrap="square" lIns="0" tIns="0" rIns="0" bIns="0" rtlCol="0" anchor="ctr"/>
          <a:lstStyle/>
          <a:p>
            <a:pPr marL="0" indent="0">
              <a:buNone/>
            </a:pPr>
            <a:r>
              <a:rPr lang="en-US" sz="1300" dirty="0">
                <a:solidFill>
                  <a:schemeClr val="tx1"/>
                </a:solidFill>
              </a:rPr>
              <a:t>Pelanggan utama:  ☐ Tukang  ☐ Kontraktor  ☐ Warga</a:t>
            </a:r>
            <a:endParaRPr lang="en-US" sz="1300" dirty="0"/>
          </a:p>
        </p:txBody>
      </p:sp>
      <p:sp>
        <p:nvSpPr>
          <p:cNvPr id="10" name="a1-form"/>
          <p:cNvSpPr/>
          <p:nvPr/>
        </p:nvSpPr>
        <p:spPr>
          <a:xfrm>
            <a:off x="658368" y="2523744"/>
            <a:ext cx="4160520" cy="0"/>
          </a:xfrm>
          <a:prstGeom prst="line">
            <a:avLst/>
          </a:prstGeom>
          <a:noFill/>
          <a:ln w="12700">
            <a:solidFill>
              <a:srgbClr val="D0D0D0"/>
            </a:solidFill>
            <a:prstDash val="dash"/>
          </a:ln>
        </p:spPr>
      </p:sp>
      <p:sp>
        <p:nvSpPr>
          <p:cNvPr id="11" name="a1-form"/>
          <p:cNvSpPr txBox="1"/>
          <p:nvPr/>
        </p:nvSpPr>
        <p:spPr>
          <a:xfrm>
            <a:off x="658368" y="2560320"/>
            <a:ext cx="4206240" cy="310896"/>
          </a:xfrm>
          <a:prstGeom prst="rect">
            <a:avLst/>
          </a:prstGeom>
          <a:noFill/>
          <a:ln/>
        </p:spPr>
        <p:txBody>
          <a:bodyPr wrap="square" lIns="0" tIns="0" rIns="0" bIns="0" rtlCol="0" anchor="ctr"/>
          <a:lstStyle/>
          <a:p>
            <a:pPr marL="0" indent="0">
              <a:buNone/>
            </a:pPr>
            <a:r>
              <a:rPr lang="en-US" sz="1300" dirty="0">
                <a:solidFill>
                  <a:schemeClr val="tx1"/>
                </a:solidFill>
              </a:rPr>
              <a:t>Proyek sekitar:  ☐ Rumah baru  ☐ Renovasi</a:t>
            </a:r>
            <a:endParaRPr lang="en-US" sz="1300" dirty="0"/>
          </a:p>
        </p:txBody>
      </p:sp>
      <p:sp>
        <p:nvSpPr>
          <p:cNvPr id="12" name="a1-form"/>
          <p:cNvSpPr/>
          <p:nvPr/>
        </p:nvSpPr>
        <p:spPr>
          <a:xfrm>
            <a:off x="658368" y="2889504"/>
            <a:ext cx="4160520" cy="0"/>
          </a:xfrm>
          <a:prstGeom prst="line">
            <a:avLst/>
          </a:prstGeom>
          <a:noFill/>
          <a:ln w="12700">
            <a:solidFill>
              <a:srgbClr val="D0D0D0"/>
            </a:solidFill>
            <a:prstDash val="dash"/>
          </a:ln>
        </p:spPr>
      </p:sp>
      <p:sp>
        <p:nvSpPr>
          <p:cNvPr id="13" name="a1-form"/>
          <p:cNvSpPr txBox="1"/>
          <p:nvPr/>
        </p:nvSpPr>
        <p:spPr>
          <a:xfrm>
            <a:off x="658368" y="2926080"/>
            <a:ext cx="4206240" cy="310896"/>
          </a:xfrm>
          <a:prstGeom prst="rect">
            <a:avLst/>
          </a:prstGeom>
          <a:noFill/>
          <a:ln/>
        </p:spPr>
        <p:txBody>
          <a:bodyPr wrap="square" lIns="0" tIns="0" rIns="0" bIns="0" rtlCol="0" anchor="ctr"/>
          <a:lstStyle/>
          <a:p>
            <a:pPr marL="0" indent="0">
              <a:buNone/>
            </a:pPr>
            <a:r>
              <a:rPr lang="en-US" sz="1300" dirty="0">
                <a:solidFill>
                  <a:schemeClr val="tx1"/>
                </a:solidFill>
              </a:rPr>
              <a:t>Barang yang dicari tapi kosong</a:t>
            </a:r>
            <a:endParaRPr lang="en-US" sz="1300" dirty="0"/>
          </a:p>
        </p:txBody>
      </p:sp>
      <p:sp>
        <p:nvSpPr>
          <p:cNvPr id="14" name="a1-form"/>
          <p:cNvSpPr/>
          <p:nvPr/>
        </p:nvSpPr>
        <p:spPr>
          <a:xfrm>
            <a:off x="658368" y="3255264"/>
            <a:ext cx="4160520" cy="0"/>
          </a:xfrm>
          <a:prstGeom prst="line">
            <a:avLst/>
          </a:prstGeom>
          <a:noFill/>
          <a:ln w="12700">
            <a:solidFill>
              <a:srgbClr val="D0D0D0"/>
            </a:solidFill>
            <a:prstDash val="dash"/>
          </a:ln>
        </p:spPr>
      </p:sp>
      <p:sp>
        <p:nvSpPr>
          <p:cNvPr id="15" name="a1-form"/>
          <p:cNvSpPr txBox="1"/>
          <p:nvPr/>
        </p:nvSpPr>
        <p:spPr>
          <a:xfrm>
            <a:off x="658368" y="3291840"/>
            <a:ext cx="4206240" cy="310896"/>
          </a:xfrm>
          <a:prstGeom prst="rect">
            <a:avLst/>
          </a:prstGeom>
          <a:noFill/>
          <a:ln/>
        </p:spPr>
        <p:txBody>
          <a:bodyPr wrap="square" lIns="0" tIns="0" rIns="0" bIns="0" rtlCol="0" anchor="ctr"/>
          <a:lstStyle/>
          <a:p>
            <a:pPr marL="0" indent="0">
              <a:buNone/>
            </a:pPr>
            <a:r>
              <a:rPr lang="en-US" sz="1300" dirty="0">
                <a:solidFill>
                  <a:schemeClr val="tx1"/>
                </a:solidFill>
              </a:rPr>
              <a:t>Non-semen yang sudah dijual + mereknya</a:t>
            </a:r>
            <a:endParaRPr lang="en-US" sz="1300" dirty="0"/>
          </a:p>
        </p:txBody>
      </p:sp>
      <p:sp>
        <p:nvSpPr>
          <p:cNvPr id="16" name="a1-form"/>
          <p:cNvSpPr/>
          <p:nvPr/>
        </p:nvSpPr>
        <p:spPr>
          <a:xfrm>
            <a:off x="658368" y="3621024"/>
            <a:ext cx="4160520" cy="0"/>
          </a:xfrm>
          <a:prstGeom prst="line">
            <a:avLst/>
          </a:prstGeom>
          <a:noFill/>
          <a:ln w="12700">
            <a:solidFill>
              <a:srgbClr val="D0D0D0"/>
            </a:solidFill>
            <a:prstDash val="dash"/>
          </a:ln>
        </p:spPr>
      </p:sp>
      <p:sp>
        <p:nvSpPr>
          <p:cNvPr id="17" name="a1-form"/>
          <p:cNvSpPr txBox="1"/>
          <p:nvPr/>
        </p:nvSpPr>
        <p:spPr>
          <a:xfrm>
            <a:off x="658368" y="3657600"/>
            <a:ext cx="4206240" cy="310896"/>
          </a:xfrm>
          <a:prstGeom prst="rect">
            <a:avLst/>
          </a:prstGeom>
          <a:noFill/>
          <a:ln/>
        </p:spPr>
        <p:txBody>
          <a:bodyPr wrap="square" lIns="0" tIns="0" rIns="0" bIns="0" rtlCol="0" anchor="ctr"/>
          <a:lstStyle/>
          <a:p>
            <a:pPr marL="0" indent="0">
              <a:buNone/>
            </a:pPr>
            <a:r>
              <a:rPr lang="en-US" sz="1300" dirty="0">
                <a:solidFill>
                  <a:schemeClr val="tx1"/>
                </a:solidFill>
              </a:rPr>
              <a:t>Kalau semen kosong, pelanggan pindah ke mana?</a:t>
            </a:r>
            <a:endParaRPr lang="en-US" sz="1300" dirty="0"/>
          </a:p>
        </p:txBody>
      </p:sp>
      <p:sp>
        <p:nvSpPr>
          <p:cNvPr id="18" name="a1-form"/>
          <p:cNvSpPr/>
          <p:nvPr/>
        </p:nvSpPr>
        <p:spPr>
          <a:xfrm>
            <a:off x="658368" y="3986784"/>
            <a:ext cx="4160520" cy="0"/>
          </a:xfrm>
          <a:prstGeom prst="line">
            <a:avLst/>
          </a:prstGeom>
          <a:noFill/>
          <a:ln w="12700">
            <a:solidFill>
              <a:srgbClr val="D0D0D0"/>
            </a:solidFill>
            <a:prstDash val="dash"/>
          </a:ln>
        </p:spPr>
      </p:sp>
      <p:sp>
        <p:nvSpPr>
          <p:cNvPr id="19" name="a1-form"/>
          <p:cNvSpPr/>
          <p:nvPr/>
        </p:nvSpPr>
        <p:spPr>
          <a:xfrm>
            <a:off x="566928" y="4005072"/>
            <a:ext cx="4352544" cy="347472"/>
          </a:xfrm>
          <a:prstGeom prst="roundRect">
            <a:avLst>
              <a:gd name="adj" fmla="val 15789"/>
            </a:avLst>
          </a:prstGeom>
          <a:solidFill>
            <a:schemeClr val="accent1"/>
          </a:solidFill>
          <a:ln/>
        </p:spPr>
      </p:sp>
      <p:sp>
        <p:nvSpPr>
          <p:cNvPr id="20" name="a1-form"/>
          <p:cNvSpPr txBox="1"/>
          <p:nvPr/>
        </p:nvSpPr>
        <p:spPr>
          <a:xfrm>
            <a:off x="658368" y="4023360"/>
            <a:ext cx="4206240" cy="310896"/>
          </a:xfrm>
          <a:prstGeom prst="rect">
            <a:avLst/>
          </a:prstGeom>
          <a:noFill/>
          <a:ln/>
        </p:spPr>
        <p:txBody>
          <a:bodyPr wrap="square" lIns="0" tIns="0" rIns="0" bIns="0" rtlCol="0" anchor="ctr"/>
          <a:lstStyle/>
          <a:p>
            <a:pPr marL="0" indent="0">
              <a:buNone/>
            </a:pPr>
            <a:r>
              <a:rPr lang="en-US" sz="1300" b="1" dirty="0">
                <a:solidFill>
                  <a:schemeClr val="tx1"/>
                </a:solidFill>
              </a:rPr>
              <a:t>Produk yang akan ditawarkan + alasannya</a:t>
            </a:r>
            <a:endParaRPr lang="en-US" sz="1300" dirty="0"/>
          </a:p>
        </p:txBody>
      </p:sp>
      <p:sp>
        <p:nvSpPr>
          <p:cNvPr id="21" name="a3-s"/>
          <p:cNvSpPr/>
          <p:nvPr/>
        </p:nvSpPr>
        <p:spPr>
          <a:xfrm>
            <a:off x="5669280" y="1892808"/>
            <a:ext cx="0" cy="237744"/>
          </a:xfrm>
          <a:prstGeom prst="line">
            <a:avLst/>
          </a:prstGeom>
          <a:noFill/>
          <a:ln w="25400">
            <a:solidFill>
              <a:schemeClr val="tx1"/>
            </a:solidFill>
            <a:prstDash val="solid"/>
          </a:ln>
        </p:spPr>
      </p:sp>
      <p:sp>
        <p:nvSpPr>
          <p:cNvPr id="22" name="a2-s"/>
          <p:cNvSpPr/>
          <p:nvPr/>
        </p:nvSpPr>
        <p:spPr>
          <a:xfrm>
            <a:off x="5394960" y="1325880"/>
            <a:ext cx="566928" cy="566928"/>
          </a:xfrm>
          <a:prstGeom prst="ellipse">
            <a:avLst/>
          </a:prstGeom>
          <a:solidFill>
            <a:schemeClr val="accent1"/>
          </a:solidFill>
          <a:ln/>
        </p:spPr>
      </p:sp>
      <p:pic>
        <p:nvPicPr>
          <p:cNvPr id="23" name="a2-s" descr="preencoded.png"/>
          <p:cNvPicPr>
            <a:picLocks noChangeAspect="1"/>
          </p:cNvPicPr>
          <p:nvPr/>
        </p:nvPicPr>
        <p:blipFill>
          <a:blip r:embed="rId4"/>
          <a:stretch>
            <a:fillRect/>
          </a:stretch>
        </p:blipFill>
        <p:spPr>
          <a:xfrm>
            <a:off x="5542361" y="1473281"/>
            <a:ext cx="272125" cy="272125"/>
          </a:xfrm>
          <a:prstGeom prst="rect">
            <a:avLst/>
          </a:prstGeom>
        </p:spPr>
      </p:pic>
      <p:sp>
        <p:nvSpPr>
          <p:cNvPr id="24" name="a2-s"/>
          <p:cNvSpPr txBox="1"/>
          <p:nvPr/>
        </p:nvSpPr>
        <p:spPr>
          <a:xfrm>
            <a:off x="6126480" y="1307592"/>
            <a:ext cx="2560320" cy="640080"/>
          </a:xfrm>
          <a:prstGeom prst="rect">
            <a:avLst/>
          </a:prstGeom>
          <a:noFill/>
          <a:ln/>
        </p:spPr>
        <p:txBody>
          <a:bodyPr wrap="square" lIns="0" tIns="0" rIns="0" bIns="0" rtlCol="0" anchor="t"/>
          <a:lstStyle/>
          <a:p>
            <a:pPr marL="0" indent="0">
              <a:buNone/>
            </a:pPr>
            <a:r>
              <a:rPr lang="en-US" sz="1500" b="1" dirty="0">
                <a:solidFill>
                  <a:schemeClr val="tx1"/>
                </a:solidFill>
              </a:rPr>
              <a:t>1. Amati</a:t>
            </a:r>
            <a:endParaRPr lang="en-US" sz="1400" dirty="0"/>
          </a:p>
          <a:p>
            <a:pPr marL="0" indent="0">
              <a:buNone/>
            </a:pPr>
            <a:r>
              <a:rPr lang="en-US" sz="1400" dirty="0">
                <a:solidFill>
                  <a:schemeClr val="tx2"/>
                </a:solidFill>
              </a:rPr>
              <a:t>Pajangan, stok, dan pembeli yang datang.</a:t>
            </a:r>
            <a:endParaRPr lang="en-US" sz="1400" dirty="0"/>
          </a:p>
        </p:txBody>
      </p:sp>
      <p:sp>
        <p:nvSpPr>
          <p:cNvPr id="25" name="a4-s"/>
          <p:cNvSpPr/>
          <p:nvPr/>
        </p:nvSpPr>
        <p:spPr>
          <a:xfrm>
            <a:off x="5669280" y="2697480"/>
            <a:ext cx="0" cy="237744"/>
          </a:xfrm>
          <a:prstGeom prst="line">
            <a:avLst/>
          </a:prstGeom>
          <a:noFill/>
          <a:ln w="25400">
            <a:solidFill>
              <a:schemeClr val="tx1"/>
            </a:solidFill>
            <a:prstDash val="solid"/>
          </a:ln>
        </p:spPr>
      </p:sp>
      <p:sp>
        <p:nvSpPr>
          <p:cNvPr id="26" name="a3-s"/>
          <p:cNvSpPr/>
          <p:nvPr/>
        </p:nvSpPr>
        <p:spPr>
          <a:xfrm>
            <a:off x="5394960" y="2130552"/>
            <a:ext cx="566928" cy="566928"/>
          </a:xfrm>
          <a:prstGeom prst="ellipse">
            <a:avLst/>
          </a:prstGeom>
          <a:solidFill>
            <a:schemeClr val="accent1"/>
          </a:solidFill>
          <a:ln/>
        </p:spPr>
      </p:sp>
      <p:pic>
        <p:nvPicPr>
          <p:cNvPr id="27" name="a3-s" descr="preencoded.png"/>
          <p:cNvPicPr>
            <a:picLocks noChangeAspect="1"/>
          </p:cNvPicPr>
          <p:nvPr/>
        </p:nvPicPr>
        <p:blipFill>
          <a:blip r:embed="rId5"/>
          <a:stretch>
            <a:fillRect/>
          </a:stretch>
        </p:blipFill>
        <p:spPr>
          <a:xfrm>
            <a:off x="5542361" y="2277953"/>
            <a:ext cx="272125" cy="272125"/>
          </a:xfrm>
          <a:prstGeom prst="rect">
            <a:avLst/>
          </a:prstGeom>
        </p:spPr>
      </p:pic>
      <p:sp>
        <p:nvSpPr>
          <p:cNvPr id="28" name="a3-s"/>
          <p:cNvSpPr txBox="1"/>
          <p:nvPr/>
        </p:nvSpPr>
        <p:spPr>
          <a:xfrm>
            <a:off x="6126480" y="2112264"/>
            <a:ext cx="2560320" cy="640080"/>
          </a:xfrm>
          <a:prstGeom prst="rect">
            <a:avLst/>
          </a:prstGeom>
          <a:noFill/>
          <a:ln/>
        </p:spPr>
        <p:txBody>
          <a:bodyPr wrap="square" lIns="0" tIns="0" rIns="0" bIns="0" rtlCol="0" anchor="t"/>
          <a:lstStyle/>
          <a:p>
            <a:pPr marL="0" indent="0">
              <a:buNone/>
            </a:pPr>
            <a:r>
              <a:rPr lang="en-US" sz="1500" b="1" dirty="0">
                <a:solidFill>
                  <a:schemeClr val="tx1"/>
                </a:solidFill>
              </a:rPr>
              <a:t>2. Tanya santai</a:t>
            </a:r>
            <a:endParaRPr lang="en-US" sz="1400" dirty="0"/>
          </a:p>
          <a:p>
            <a:pPr marL="0" indent="0">
              <a:buNone/>
            </a:pPr>
            <a:r>
              <a:rPr lang="en-US" sz="1400" dirty="0">
                <a:solidFill>
                  <a:schemeClr val="tx2"/>
                </a:solidFill>
              </a:rPr>
              <a:t>Ke pemilik, kasir, dan pelayan.</a:t>
            </a:r>
            <a:endParaRPr lang="en-US" sz="1400" dirty="0"/>
          </a:p>
        </p:txBody>
      </p:sp>
      <p:sp>
        <p:nvSpPr>
          <p:cNvPr id="29" name="a5-s"/>
          <p:cNvSpPr/>
          <p:nvPr/>
        </p:nvSpPr>
        <p:spPr>
          <a:xfrm>
            <a:off x="5669280" y="3502152"/>
            <a:ext cx="0" cy="237744"/>
          </a:xfrm>
          <a:prstGeom prst="line">
            <a:avLst/>
          </a:prstGeom>
          <a:noFill/>
          <a:ln w="25400">
            <a:solidFill>
              <a:schemeClr val="tx1"/>
            </a:solidFill>
            <a:prstDash val="solid"/>
          </a:ln>
        </p:spPr>
      </p:sp>
      <p:sp>
        <p:nvSpPr>
          <p:cNvPr id="30" name="a4-s"/>
          <p:cNvSpPr/>
          <p:nvPr/>
        </p:nvSpPr>
        <p:spPr>
          <a:xfrm>
            <a:off x="5394960" y="2935224"/>
            <a:ext cx="566928" cy="566928"/>
          </a:xfrm>
          <a:prstGeom prst="ellipse">
            <a:avLst/>
          </a:prstGeom>
          <a:solidFill>
            <a:schemeClr val="accent1"/>
          </a:solidFill>
          <a:ln/>
        </p:spPr>
      </p:sp>
      <p:pic>
        <p:nvPicPr>
          <p:cNvPr id="31" name="a4-s" descr="preencoded.png"/>
          <p:cNvPicPr>
            <a:picLocks noChangeAspect="1"/>
          </p:cNvPicPr>
          <p:nvPr/>
        </p:nvPicPr>
        <p:blipFill>
          <a:blip r:embed="rId6"/>
          <a:stretch>
            <a:fillRect/>
          </a:stretch>
        </p:blipFill>
        <p:spPr>
          <a:xfrm>
            <a:off x="5542361" y="3082625"/>
            <a:ext cx="272125" cy="272125"/>
          </a:xfrm>
          <a:prstGeom prst="rect">
            <a:avLst/>
          </a:prstGeom>
        </p:spPr>
      </p:pic>
      <p:sp>
        <p:nvSpPr>
          <p:cNvPr id="32" name="a4-s"/>
          <p:cNvSpPr txBox="1"/>
          <p:nvPr/>
        </p:nvSpPr>
        <p:spPr>
          <a:xfrm>
            <a:off x="6126480" y="2916936"/>
            <a:ext cx="2560320" cy="640080"/>
          </a:xfrm>
          <a:prstGeom prst="rect">
            <a:avLst/>
          </a:prstGeom>
          <a:noFill/>
          <a:ln/>
        </p:spPr>
        <p:txBody>
          <a:bodyPr wrap="square" lIns="0" tIns="0" rIns="0" bIns="0" rtlCol="0" anchor="t"/>
          <a:lstStyle/>
          <a:p>
            <a:pPr marL="0" indent="0">
              <a:buNone/>
            </a:pPr>
            <a:r>
              <a:rPr lang="en-US" sz="1500" b="1" dirty="0">
                <a:solidFill>
                  <a:schemeClr val="tx1"/>
                </a:solidFill>
              </a:rPr>
              <a:t>3. Isi lembar</a:t>
            </a:r>
            <a:endParaRPr lang="en-US" sz="1400" dirty="0"/>
          </a:p>
          <a:p>
            <a:pPr marL="0" indent="0">
              <a:buNone/>
            </a:pPr>
            <a:r>
              <a:rPr lang="en-US" sz="1400" dirty="0">
                <a:solidFill>
                  <a:schemeClr val="tx2"/>
                </a:solidFill>
              </a:rPr>
              <a:t>Sebelum menawarkan apa pun.</a:t>
            </a:r>
            <a:endParaRPr lang="en-US" sz="1400" dirty="0"/>
          </a:p>
        </p:txBody>
      </p:sp>
      <p:sp>
        <p:nvSpPr>
          <p:cNvPr id="33" name="a5-s"/>
          <p:cNvSpPr/>
          <p:nvPr/>
        </p:nvSpPr>
        <p:spPr>
          <a:xfrm>
            <a:off x="5394960" y="3739896"/>
            <a:ext cx="566928" cy="566928"/>
          </a:xfrm>
          <a:prstGeom prst="ellipse">
            <a:avLst/>
          </a:prstGeom>
          <a:solidFill>
            <a:schemeClr val="tx1"/>
          </a:solidFill>
          <a:ln/>
        </p:spPr>
      </p:sp>
      <p:pic>
        <p:nvPicPr>
          <p:cNvPr id="34" name="a5-s" descr="preencoded.png"/>
          <p:cNvPicPr>
            <a:picLocks noChangeAspect="1"/>
          </p:cNvPicPr>
          <p:nvPr/>
        </p:nvPicPr>
        <p:blipFill>
          <a:blip r:embed="rId7"/>
          <a:stretch>
            <a:fillRect/>
          </a:stretch>
        </p:blipFill>
        <p:spPr>
          <a:xfrm>
            <a:off x="5542361" y="3887297"/>
            <a:ext cx="272125" cy="272125"/>
          </a:xfrm>
          <a:prstGeom prst="rect">
            <a:avLst/>
          </a:prstGeom>
        </p:spPr>
      </p:pic>
      <p:sp>
        <p:nvSpPr>
          <p:cNvPr id="35" name="a5-s"/>
          <p:cNvSpPr txBox="1"/>
          <p:nvPr/>
        </p:nvSpPr>
        <p:spPr>
          <a:xfrm>
            <a:off x="6126480" y="3721608"/>
            <a:ext cx="2560320" cy="640080"/>
          </a:xfrm>
          <a:prstGeom prst="rect">
            <a:avLst/>
          </a:prstGeom>
          <a:noFill/>
          <a:ln/>
        </p:spPr>
        <p:txBody>
          <a:bodyPr wrap="square" lIns="0" tIns="0" rIns="0" bIns="0" rtlCol="0" anchor="t"/>
          <a:lstStyle/>
          <a:p>
            <a:pPr marL="0" indent="0">
              <a:buNone/>
            </a:pPr>
            <a:r>
              <a:rPr lang="en-US" sz="1500" b="1" dirty="0">
                <a:solidFill>
                  <a:schemeClr val="tx1"/>
                </a:solidFill>
              </a:rPr>
              <a:t>4. Pilih produk</a:t>
            </a:r>
            <a:endParaRPr lang="en-US" sz="1400" dirty="0"/>
          </a:p>
          <a:p>
            <a:pPr marL="0" indent="0">
              <a:buNone/>
            </a:pPr>
            <a:r>
              <a:rPr lang="en-US" sz="1400" dirty="0">
                <a:solidFill>
                  <a:schemeClr val="tx2"/>
                </a:solidFill>
              </a:rPr>
              <a:t>Yang paling pas untuk toko itu.</a:t>
            </a:r>
            <a:endParaRPr lang="en-US" sz="1400" dirty="0"/>
          </a:p>
        </p:txBody>
      </p:sp>
      <p:sp>
        <p:nvSpPr>
          <p:cNvPr id="3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400"/>
                            </p:stCondLst>
                            <p:childTnLst>
                              <p:par>
                                <p:cTn id="57" presetID="10" presetClass="entr" presetSubtype="0" fill="hold"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childTnLst>
                          </p:cTn>
                        </p:par>
                        <p:par>
                          <p:cTn id="66" fill="hold">
                            <p:stCondLst>
                              <p:cond delay="800"/>
                            </p:stCondLst>
                            <p:childTnLst>
                              <p:par>
                                <p:cTn id="67" presetID="10" presetClass="entr" presetSubtype="0" fill="hold"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childTnLst>
                                </p:cTn>
                              </p:par>
                              <p:par>
                                <p:cTn id="70" presetID="10" presetClass="entr" presetSubtype="0" fill="hold"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childTnLst>
                          </p:cTn>
                        </p:par>
                        <p:par>
                          <p:cTn id="79" fill="hold">
                            <p:stCondLst>
                              <p:cond delay="1200"/>
                            </p:stCondLst>
                            <p:childTnLst>
                              <p:par>
                                <p:cTn id="80" presetID="10" presetClass="entr" presetSubtype="0" fill="hold" nodeType="after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500"/>
                                        <p:tgtEl>
                                          <p:spTgt spid="25"/>
                                        </p:tgtEl>
                                      </p:cBhvr>
                                    </p:animEffect>
                                  </p:childTnLst>
                                </p:cTn>
                              </p:par>
                              <p:par>
                                <p:cTn id="83" presetID="10" presetClass="entr" presetSubtype="0" fill="hold"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500"/>
                                        <p:tgtEl>
                                          <p:spTgt spid="30"/>
                                        </p:tgtEl>
                                      </p:cBhvr>
                                    </p:animEffect>
                                  </p:childTnLst>
                                </p:cTn>
                              </p:par>
                              <p:par>
                                <p:cTn id="86" presetID="10" presetClass="entr" presetSubtype="0" fill="hold"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500"/>
                                        <p:tgtEl>
                                          <p:spTgt spid="31"/>
                                        </p:tgtEl>
                                      </p:cBhvr>
                                    </p:animEffect>
                                  </p:childTnLst>
                                </p:cTn>
                              </p:par>
                              <p:par>
                                <p:cTn id="89" presetID="10" presetClass="entr" presetSubtype="0" fill="hold"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500"/>
                                        <p:tgtEl>
                                          <p:spTgt spid="32"/>
                                        </p:tgtEl>
                                      </p:cBhvr>
                                    </p:animEffect>
                                  </p:childTnLst>
                                </p:cTn>
                              </p:par>
                            </p:childTnLst>
                          </p:cTn>
                        </p:par>
                        <p:par>
                          <p:cTn id="92" fill="hold">
                            <p:stCondLst>
                              <p:cond delay="1600"/>
                            </p:stCondLst>
                            <p:childTnLst>
                              <p:par>
                                <p:cTn id="93" presetID="10" presetClass="entr" presetSubtype="0" fill="hold" nodeType="after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par>
                                <p:cTn id="96" presetID="10" presetClass="entr" presetSubtype="0" fill="hold"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par>
                                <p:cTn id="102" presetID="10" presetClass="entr" presetSubtype="0" fill="hold"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502920"/>
            <a:ext cx="2286000" cy="1188720"/>
          </a:xfrm>
          <a:prstGeom prst="rect">
            <a:avLst/>
          </a:prstGeom>
          <a:noFill/>
          <a:ln/>
        </p:spPr>
        <p:txBody>
          <a:bodyPr wrap="square" lIns="0" tIns="0" rIns="0" bIns="0" rtlCol="0" anchor="ctr"/>
          <a:lstStyle/>
          <a:p>
            <a:pPr marL="0" indent="0">
              <a:buNone/>
            </a:pPr>
            <a:r>
              <a:rPr lang="en-US" sz="8800" b="1" dirty="0">
                <a:solidFill>
                  <a:schemeClr val="accent1"/>
                </a:solidFill>
                <a:latin typeface="Arial" pitchFamily="34" charset="0"/>
                <a:ea typeface="Arial" pitchFamily="34" charset="-122"/>
                <a:cs typeface="Arial" pitchFamily="34" charset="-120"/>
              </a:rPr>
              <a:t>02</a:t>
            </a:r>
            <a:endParaRPr lang="en-US" sz="8800" dirty="0"/>
          </a:p>
        </p:txBody>
      </p:sp>
      <p:sp>
        <p:nvSpPr>
          <p:cNvPr id="3" name="Text 0"/>
          <p:cNvSpPr>
            <a:spLocks noGrp="1"/>
          </p:cNvSpPr>
          <p:nvPr>
            <p:ph type="title" idx="100" hasCustomPrompt="1"/>
          </p:nvPr>
        </p:nvSpPr>
        <p:spPr>
          <a:xfrm>
            <a:off x="548640" y="1874520"/>
            <a:ext cx="4846320" cy="1188720"/>
          </a:xfrm>
          <a:prstGeom prst="rect">
            <a:avLst/>
          </a:prstGeom>
          <a:noFill/>
          <a:ln/>
        </p:spPr>
        <p:txBody>
          <a:bodyPr wrap="square" lIns="0" tIns="0" rIns="0" bIns="0" rtlCol="0" anchor="t"/>
          <a:lstStyle/>
          <a:p>
            <a:pPr marL="0" indent="0" algn="l">
              <a:buNone/>
            </a:pPr>
            <a:r>
              <a:rPr lang="en-US" sz="3600" b="1" dirty="0">
                <a:solidFill>
                  <a:schemeClr val="accent1"/>
                </a:solidFill>
              </a:rPr>
              <a:t>Bicara dengan Bahasa Untung</a:t>
            </a:r>
            <a:endParaRPr lang="en-US" sz="3600" dirty="0"/>
          </a:p>
        </p:txBody>
      </p:sp>
      <p:sp>
        <p:nvSpPr>
          <p:cNvPr id="4" name="Text 0"/>
          <p:cNvSpPr>
            <a:spLocks noGrp="1"/>
          </p:cNvSpPr>
          <p:nvPr>
            <p:ph type="body" idx="101" hasCustomPrompt="1"/>
          </p:nvPr>
        </p:nvSpPr>
        <p:spPr>
          <a:xfrm>
            <a:off x="548640" y="3108960"/>
            <a:ext cx="4754880" cy="731520"/>
          </a:xfrm>
          <a:prstGeom prst="rect">
            <a:avLst/>
          </a:prstGeom>
          <a:noFill/>
          <a:ln/>
        </p:spPr>
        <p:txBody>
          <a:bodyPr wrap="square" lIns="0" tIns="0" rIns="0" bIns="0" rtlCol="0" anchor="t"/>
          <a:lstStyle/>
          <a:p>
            <a:pPr marL="0" indent="0" algn="l">
              <a:buNone/>
            </a:pPr>
            <a:r>
              <a:rPr lang="en-US" sz="1800" dirty="0">
                <a:solidFill>
                  <a:schemeClr val="bg1"/>
                </a:solidFill>
              </a:rPr>
              <a:t>Jangan jual spesifikasi. Jual keuntungan untuk toko.</a:t>
            </a:r>
            <a:endParaRPr lang="en-US" sz="1800" dirty="0"/>
          </a:p>
        </p:txBody>
      </p:sp>
      <p:pic>
        <p:nvPicPr>
          <p:cNvPr id="5" name="a1-illus" descr="preencoded.png"/>
          <p:cNvPicPr>
            <a:picLocks noChangeAspect="1"/>
          </p:cNvPicPr>
          <p:nvPr/>
        </p:nvPicPr>
        <p:blipFill>
          <a:blip r:embed="rId3"/>
          <a:stretch>
            <a:fillRect/>
          </a:stretch>
        </p:blipFill>
        <p:spPr>
          <a:xfrm>
            <a:off x="5486400" y="1143000"/>
            <a:ext cx="3108960" cy="2441448"/>
          </a:xfrm>
          <a:prstGeom prst="rect">
            <a:avLst/>
          </a:prstGeom>
        </p:spPr>
      </p:pic>
      <p:sp>
        <p:nvSpPr>
          <p:cNvPr id="6" name="a2-topics"/>
          <p:cNvSpPr txBox="1"/>
          <p:nvPr/>
        </p:nvSpPr>
        <p:spPr>
          <a:xfrm>
            <a:off x="548640" y="4343400"/>
            <a:ext cx="8138160" cy="274320"/>
          </a:xfrm>
          <a:prstGeom prst="rect">
            <a:avLst/>
          </a:prstGeom>
          <a:noFill/>
          <a:ln/>
        </p:spPr>
        <p:txBody>
          <a:bodyPr wrap="square" lIns="0" tIns="0" rIns="0" bIns="0" rtlCol="0" anchor="t"/>
          <a:lstStyle/>
          <a:p>
            <a:pPr marL="0" indent="0">
              <a:buNone/>
            </a:pPr>
            <a:r>
              <a:rPr lang="en-US" sz="1200" dirty="0">
                <a:solidFill>
                  <a:srgbClr val="BBBBBB"/>
                </a:solidFill>
              </a:rPr>
              <a:t>Untung per modal  ·  Keranjang hilang  ·  Modal nol  ·  Kalimat untung  ·  Resep 6 langkah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Bukan Cuma Margin: Untung per Modal</a:t>
            </a:r>
            <a:endParaRPr lang="en-US" sz="2800" dirty="0"/>
          </a:p>
        </p:txBody>
      </p:sp>
      <p:sp>
        <p:nvSpPr>
          <p:cNvPr id="3" name="pill"/>
          <p:cNvSpPr txBox="1"/>
          <p:nvPr/>
        </p:nvSpPr>
        <p:spPr>
          <a:xfrm>
            <a:off x="457200" y="237744"/>
            <a:ext cx="2388413"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2.1  ·  HITUNGAN UNTUNG</a:t>
            </a:r>
            <a:endParaRPr lang="en-US" sz="1000" dirty="0"/>
          </a:p>
        </p:txBody>
      </p:sp>
      <p:sp>
        <p:nvSpPr>
          <p:cNvPr id="4" name="a1-f"/>
          <p:cNvSpPr txBox="1"/>
          <p:nvPr/>
        </p:nvSpPr>
        <p:spPr>
          <a:xfrm>
            <a:off x="457200" y="1298448"/>
            <a:ext cx="8229600" cy="457200"/>
          </a:xfrm>
          <a:prstGeom prst="roundRect">
            <a:avLst>
              <a:gd name="adj" fmla="val 50000"/>
            </a:avLst>
          </a:prstGeom>
          <a:solidFill>
            <a:schemeClr val="accent2"/>
          </a:solidFill>
          <a:ln/>
        </p:spPr>
        <p:txBody>
          <a:bodyPr wrap="square" lIns="0" tIns="0" rIns="0" bIns="0" rtlCol="0" anchor="ctr"/>
          <a:lstStyle/>
          <a:p>
            <a:pPr marL="0" indent="0" algn="ctr">
              <a:buNone/>
            </a:pPr>
            <a:r>
              <a:rPr lang="en-US" sz="1500" b="1" dirty="0">
                <a:solidFill>
                  <a:schemeClr val="tx1"/>
                </a:solidFill>
              </a:rPr>
              <a:t>Untung per modal per bulan  =  </a:t>
            </a:r>
            <a:r>
              <a:rPr lang="en-US" sz="1500" dirty="0">
                <a:solidFill>
                  <a:schemeClr val="tx1"/>
                </a:solidFill>
              </a:rPr>
              <a:t>Margin %  ×  Berapa kali barang habis dalam sebulan</a:t>
            </a:r>
            <a:endParaRPr lang="en-US" sz="1500" dirty="0"/>
          </a:p>
        </p:txBody>
      </p:sp>
      <p:graphicFrame>
        <p:nvGraphicFramePr>
          <p:cNvPr id="5" name="a2-chart"/>
          <p:cNvGraphicFramePr/>
          <p:nvPr/>
        </p:nvGraphicFramePr>
        <p:xfrm>
          <a:off x="457200" y="1874520"/>
          <a:ext cx="457200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6" name="a3-rows"/>
          <p:cNvSpPr/>
          <p:nvPr/>
        </p:nvSpPr>
        <p:spPr>
          <a:xfrm>
            <a:off x="5303520" y="1920240"/>
            <a:ext cx="3383280" cy="384048"/>
          </a:xfrm>
          <a:prstGeom prst="roundRect">
            <a:avLst>
              <a:gd name="adj" fmla="val 19048"/>
            </a:avLst>
          </a:prstGeom>
          <a:solidFill>
            <a:schemeClr val="bg2"/>
          </a:solidFill>
          <a:ln/>
        </p:spPr>
      </p:sp>
      <p:sp>
        <p:nvSpPr>
          <p:cNvPr id="7" name="a3-rows"/>
          <p:cNvSpPr txBox="1"/>
          <p:nvPr/>
        </p:nvSpPr>
        <p:spPr>
          <a:xfrm>
            <a:off x="5440680" y="1920240"/>
            <a:ext cx="1234440" cy="384048"/>
          </a:xfrm>
          <a:prstGeom prst="rect">
            <a:avLst/>
          </a:prstGeom>
          <a:noFill/>
          <a:ln/>
        </p:spPr>
        <p:txBody>
          <a:bodyPr wrap="square" lIns="0" tIns="0" rIns="0" bIns="0" rtlCol="0" anchor="ctr"/>
          <a:lstStyle/>
          <a:p>
            <a:pPr marL="0" indent="0">
              <a:buNone/>
            </a:pPr>
            <a:r>
              <a:rPr lang="en-US" sz="1400" b="1" dirty="0">
                <a:solidFill>
                  <a:schemeClr val="tx1"/>
                </a:solidFill>
              </a:rPr>
              <a:t>Semen</a:t>
            </a:r>
            <a:endParaRPr lang="en-US" sz="1400" dirty="0"/>
          </a:p>
        </p:txBody>
      </p:sp>
      <p:sp>
        <p:nvSpPr>
          <p:cNvPr id="8" name="a3-rows"/>
          <p:cNvSpPr txBox="1"/>
          <p:nvPr/>
        </p:nvSpPr>
        <p:spPr>
          <a:xfrm>
            <a:off x="6675120" y="1920240"/>
            <a:ext cx="1325880" cy="384048"/>
          </a:xfrm>
          <a:prstGeom prst="rect">
            <a:avLst/>
          </a:prstGeom>
          <a:noFill/>
          <a:ln/>
        </p:spPr>
        <p:txBody>
          <a:bodyPr wrap="square" lIns="0" tIns="0" rIns="0" bIns="0" rtlCol="0" anchor="ctr"/>
          <a:lstStyle/>
          <a:p>
            <a:pPr marL="0" indent="0">
              <a:buNone/>
            </a:pPr>
            <a:r>
              <a:rPr lang="en-US" sz="1300" dirty="0">
                <a:solidFill>
                  <a:schemeClr val="tx1"/>
                </a:solidFill>
              </a:rPr>
              <a:t>3% × 4 putaran</a:t>
            </a:r>
            <a:endParaRPr lang="en-US" sz="1300" dirty="0"/>
          </a:p>
        </p:txBody>
      </p:sp>
      <p:sp>
        <p:nvSpPr>
          <p:cNvPr id="9" name="a3-rows"/>
          <p:cNvSpPr txBox="1"/>
          <p:nvPr/>
        </p:nvSpPr>
        <p:spPr>
          <a:xfrm>
            <a:off x="7955280" y="1920240"/>
            <a:ext cx="640080" cy="384048"/>
          </a:xfrm>
          <a:prstGeom prst="rect">
            <a:avLst/>
          </a:prstGeom>
          <a:noFill/>
          <a:ln/>
        </p:spPr>
        <p:txBody>
          <a:bodyPr wrap="square" lIns="0" tIns="0" rIns="0" bIns="0" rtlCol="0" anchor="ctr"/>
          <a:lstStyle/>
          <a:p>
            <a:pPr marL="0" indent="0" algn="r">
              <a:buNone/>
            </a:pPr>
            <a:r>
              <a:rPr lang="en-US" sz="1500" b="1" dirty="0">
                <a:solidFill>
                  <a:schemeClr val="tx1"/>
                </a:solidFill>
              </a:rPr>
              <a:t>12%</a:t>
            </a:r>
            <a:endParaRPr lang="en-US" sz="1500" dirty="0"/>
          </a:p>
        </p:txBody>
      </p:sp>
      <p:sp>
        <p:nvSpPr>
          <p:cNvPr id="10" name="a3-rows"/>
          <p:cNvSpPr/>
          <p:nvPr/>
        </p:nvSpPr>
        <p:spPr>
          <a:xfrm>
            <a:off x="5303520" y="2377440"/>
            <a:ext cx="3383280" cy="384048"/>
          </a:xfrm>
          <a:prstGeom prst="roundRect">
            <a:avLst>
              <a:gd name="adj" fmla="val 19048"/>
            </a:avLst>
          </a:prstGeom>
          <a:solidFill>
            <a:schemeClr val="accent1"/>
          </a:solidFill>
          <a:ln/>
        </p:spPr>
      </p:sp>
      <p:sp>
        <p:nvSpPr>
          <p:cNvPr id="11" name="a3-rows"/>
          <p:cNvSpPr txBox="1"/>
          <p:nvPr/>
        </p:nvSpPr>
        <p:spPr>
          <a:xfrm>
            <a:off x="5440680" y="2377440"/>
            <a:ext cx="1234440" cy="384048"/>
          </a:xfrm>
          <a:prstGeom prst="rect">
            <a:avLst/>
          </a:prstGeom>
          <a:noFill/>
          <a:ln/>
        </p:spPr>
        <p:txBody>
          <a:bodyPr wrap="square" lIns="0" tIns="0" rIns="0" bIns="0" rtlCol="0" anchor="ctr"/>
          <a:lstStyle/>
          <a:p>
            <a:pPr marL="0" indent="0">
              <a:buNone/>
            </a:pPr>
            <a:r>
              <a:rPr lang="en-US" sz="1400" b="1" dirty="0">
                <a:solidFill>
                  <a:schemeClr val="tx1"/>
                </a:solidFill>
              </a:rPr>
              <a:t>Mortar instan</a:t>
            </a:r>
            <a:endParaRPr lang="en-US" sz="1400" dirty="0"/>
          </a:p>
        </p:txBody>
      </p:sp>
      <p:sp>
        <p:nvSpPr>
          <p:cNvPr id="12" name="a3-rows"/>
          <p:cNvSpPr txBox="1"/>
          <p:nvPr/>
        </p:nvSpPr>
        <p:spPr>
          <a:xfrm>
            <a:off x="6675120" y="2377440"/>
            <a:ext cx="1325880" cy="384048"/>
          </a:xfrm>
          <a:prstGeom prst="rect">
            <a:avLst/>
          </a:prstGeom>
          <a:noFill/>
          <a:ln/>
        </p:spPr>
        <p:txBody>
          <a:bodyPr wrap="square" lIns="0" tIns="0" rIns="0" bIns="0" rtlCol="0" anchor="ctr"/>
          <a:lstStyle/>
          <a:p>
            <a:pPr marL="0" indent="0">
              <a:buNone/>
            </a:pPr>
            <a:r>
              <a:rPr lang="en-US" sz="1300" dirty="0">
                <a:solidFill>
                  <a:schemeClr val="tx1"/>
                </a:solidFill>
              </a:rPr>
              <a:t>10% × 2 putaran</a:t>
            </a:r>
            <a:endParaRPr lang="en-US" sz="1300" dirty="0"/>
          </a:p>
        </p:txBody>
      </p:sp>
      <p:sp>
        <p:nvSpPr>
          <p:cNvPr id="13" name="a3-rows"/>
          <p:cNvSpPr txBox="1"/>
          <p:nvPr/>
        </p:nvSpPr>
        <p:spPr>
          <a:xfrm>
            <a:off x="7955280" y="2377440"/>
            <a:ext cx="640080" cy="384048"/>
          </a:xfrm>
          <a:prstGeom prst="rect">
            <a:avLst/>
          </a:prstGeom>
          <a:noFill/>
          <a:ln/>
        </p:spPr>
        <p:txBody>
          <a:bodyPr wrap="square" lIns="0" tIns="0" rIns="0" bIns="0" rtlCol="0" anchor="ctr"/>
          <a:lstStyle/>
          <a:p>
            <a:pPr marL="0" indent="0" algn="r">
              <a:buNone/>
            </a:pPr>
            <a:r>
              <a:rPr lang="en-US" sz="1500" b="1" dirty="0">
                <a:solidFill>
                  <a:schemeClr val="tx1"/>
                </a:solidFill>
              </a:rPr>
              <a:t>20%</a:t>
            </a:r>
            <a:endParaRPr lang="en-US" sz="1500" dirty="0"/>
          </a:p>
        </p:txBody>
      </p:sp>
      <p:sp>
        <p:nvSpPr>
          <p:cNvPr id="14" name="a3-rows"/>
          <p:cNvSpPr/>
          <p:nvPr/>
        </p:nvSpPr>
        <p:spPr>
          <a:xfrm>
            <a:off x="5303520" y="2834640"/>
            <a:ext cx="3383280" cy="384048"/>
          </a:xfrm>
          <a:prstGeom prst="roundRect">
            <a:avLst>
              <a:gd name="adj" fmla="val 19048"/>
            </a:avLst>
          </a:prstGeom>
          <a:solidFill>
            <a:schemeClr val="bg2"/>
          </a:solidFill>
          <a:ln/>
        </p:spPr>
      </p:sp>
      <p:sp>
        <p:nvSpPr>
          <p:cNvPr id="15" name="a3-rows"/>
          <p:cNvSpPr txBox="1"/>
          <p:nvPr/>
        </p:nvSpPr>
        <p:spPr>
          <a:xfrm>
            <a:off x="5440680" y="2834640"/>
            <a:ext cx="1234440" cy="384048"/>
          </a:xfrm>
          <a:prstGeom prst="rect">
            <a:avLst/>
          </a:prstGeom>
          <a:noFill/>
          <a:ln/>
        </p:spPr>
        <p:txBody>
          <a:bodyPr wrap="square" lIns="0" tIns="0" rIns="0" bIns="0" rtlCol="0" anchor="ctr"/>
          <a:lstStyle/>
          <a:p>
            <a:pPr marL="0" indent="0">
              <a:buNone/>
            </a:pPr>
            <a:r>
              <a:rPr lang="en-US" sz="1400" b="1" dirty="0">
                <a:solidFill>
                  <a:schemeClr val="tx1"/>
                </a:solidFill>
              </a:rPr>
              <a:t>Bata ringan</a:t>
            </a:r>
            <a:endParaRPr lang="en-US" sz="1400" dirty="0"/>
          </a:p>
        </p:txBody>
      </p:sp>
      <p:sp>
        <p:nvSpPr>
          <p:cNvPr id="16" name="a3-rows"/>
          <p:cNvSpPr txBox="1"/>
          <p:nvPr/>
        </p:nvSpPr>
        <p:spPr>
          <a:xfrm>
            <a:off x="6675120" y="2834640"/>
            <a:ext cx="1325880" cy="384048"/>
          </a:xfrm>
          <a:prstGeom prst="rect">
            <a:avLst/>
          </a:prstGeom>
          <a:noFill/>
          <a:ln/>
        </p:spPr>
        <p:txBody>
          <a:bodyPr wrap="square" lIns="0" tIns="0" rIns="0" bIns="0" rtlCol="0" anchor="ctr"/>
          <a:lstStyle/>
          <a:p>
            <a:pPr marL="0" indent="0">
              <a:buNone/>
            </a:pPr>
            <a:r>
              <a:rPr lang="en-US" sz="1300" dirty="0">
                <a:solidFill>
                  <a:schemeClr val="tx1"/>
                </a:solidFill>
              </a:rPr>
              <a:t>12% × 1 putaran</a:t>
            </a:r>
            <a:endParaRPr lang="en-US" sz="1300" dirty="0"/>
          </a:p>
        </p:txBody>
      </p:sp>
      <p:sp>
        <p:nvSpPr>
          <p:cNvPr id="17" name="a3-rows"/>
          <p:cNvSpPr txBox="1"/>
          <p:nvPr/>
        </p:nvSpPr>
        <p:spPr>
          <a:xfrm>
            <a:off x="7955280" y="2834640"/>
            <a:ext cx="640080" cy="384048"/>
          </a:xfrm>
          <a:prstGeom prst="rect">
            <a:avLst/>
          </a:prstGeom>
          <a:noFill/>
          <a:ln/>
        </p:spPr>
        <p:txBody>
          <a:bodyPr wrap="square" lIns="0" tIns="0" rIns="0" bIns="0" rtlCol="0" anchor="ctr"/>
          <a:lstStyle/>
          <a:p>
            <a:pPr marL="0" indent="0" algn="r">
              <a:buNone/>
            </a:pPr>
            <a:r>
              <a:rPr lang="en-US" sz="1500" b="1" dirty="0">
                <a:solidFill>
                  <a:schemeClr val="tx1"/>
                </a:solidFill>
              </a:rPr>
              <a:t>12%</a:t>
            </a:r>
            <a:endParaRPr lang="en-US" sz="1500" dirty="0"/>
          </a:p>
        </p:txBody>
      </p:sp>
      <p:sp>
        <p:nvSpPr>
          <p:cNvPr id="18" name="a4-q"/>
          <p:cNvSpPr/>
          <p:nvPr/>
        </p:nvSpPr>
        <p:spPr>
          <a:xfrm>
            <a:off x="5303520" y="3383280"/>
            <a:ext cx="3383280" cy="1051560"/>
          </a:xfrm>
          <a:prstGeom prst="roundRect">
            <a:avLst>
              <a:gd name="adj" fmla="val 10435"/>
            </a:avLst>
          </a:prstGeom>
          <a:solidFill>
            <a:schemeClr val="tx1"/>
          </a:solidFill>
          <a:ln/>
        </p:spPr>
      </p:sp>
      <p:sp>
        <p:nvSpPr>
          <p:cNvPr id="19" name="a4-q"/>
          <p:cNvSpPr txBox="1"/>
          <p:nvPr/>
        </p:nvSpPr>
        <p:spPr>
          <a:xfrm>
            <a:off x="5440680" y="3456432"/>
            <a:ext cx="3108960" cy="914400"/>
          </a:xfrm>
          <a:prstGeom prst="rect">
            <a:avLst/>
          </a:prstGeom>
          <a:noFill/>
          <a:ln/>
        </p:spPr>
        <p:txBody>
          <a:bodyPr wrap="square" lIns="0" tIns="0" rIns="0" bIns="0" rtlCol="0" anchor="ctr"/>
          <a:lstStyle/>
          <a:p>
            <a:pPr marL="0" indent="0">
              <a:buNone/>
            </a:pPr>
            <a:r>
              <a:rPr lang="en-US" sz="1400" i="1" dirty="0">
                <a:solidFill>
                  <a:schemeClr val="bg1"/>
                </a:solidFill>
              </a:rPr>
              <a:t>“Pak, dengan modal yang sama, mortar ini hasilnya lebih banyak dari semen. Untungnya tebal, dan tetap cepat habis.”</a:t>
            </a:r>
            <a:endParaRPr lang="en-US" sz="1400" dirty="0"/>
          </a:p>
        </p:txBody>
      </p:sp>
      <p:sp>
        <p:nvSpPr>
          <p:cNvPr id="20" name="Text 17"/>
          <p:cNvSpPr txBox="1"/>
          <p:nvPr/>
        </p:nvSpPr>
        <p:spPr>
          <a:xfrm>
            <a:off x="457200" y="4462272"/>
            <a:ext cx="1828800" cy="201168"/>
          </a:xfrm>
          <a:prstGeom prst="rect">
            <a:avLst/>
          </a:prstGeom>
          <a:noFill/>
          <a:ln/>
        </p:spPr>
        <p:txBody>
          <a:bodyPr wrap="square" lIns="0" tIns="0" rIns="0" bIns="0" rtlCol="0" anchor="t"/>
          <a:lstStyle/>
          <a:p>
            <a:pPr marL="0" indent="0">
              <a:buNone/>
            </a:pPr>
            <a:r>
              <a:rPr lang="en-US" sz="1000" i="1" dirty="0">
                <a:solidFill>
                  <a:schemeClr val="accent3"/>
                </a:solidFill>
              </a:rPr>
              <a:t>*Angka ilustrasi</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par>
                          <p:cTn id="49" fill="hold">
                            <p:stCondLst>
                              <p:cond delay="1200"/>
                            </p:stCondLst>
                            <p:childTnLst>
                              <p:par>
                                <p:cTn id="50" presetID="10" presetClass="entr" presetSubtype="0" fill="hold"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Biaya Tersembunyi: Keranjang yang Hilang</a:t>
            </a:r>
            <a:endParaRPr lang="en-US" sz="2800" dirty="0"/>
          </a:p>
        </p:txBody>
      </p:sp>
      <p:sp>
        <p:nvSpPr>
          <p:cNvPr id="3" name="pill"/>
          <p:cNvSpPr txBox="1"/>
          <p:nvPr/>
        </p:nvSpPr>
        <p:spPr>
          <a:xfrm>
            <a:off x="457200" y="237744"/>
            <a:ext cx="2459736"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2.2  ·  KERANJANG HILANG</a:t>
            </a:r>
            <a:endParaRPr lang="en-US" sz="1000" dirty="0"/>
          </a:p>
        </p:txBody>
      </p:sp>
      <p:pic>
        <p:nvPicPr>
          <p:cNvPr id="4" name="a1-bk" descr="preencoded.png"/>
          <p:cNvPicPr>
            <a:picLocks noChangeAspect="1"/>
          </p:cNvPicPr>
          <p:nvPr/>
        </p:nvPicPr>
        <p:blipFill>
          <a:blip r:embed="rId3"/>
          <a:stretch>
            <a:fillRect/>
          </a:stretch>
        </p:blipFill>
        <p:spPr>
          <a:xfrm>
            <a:off x="457200" y="1325880"/>
            <a:ext cx="3017520" cy="2587752"/>
          </a:xfrm>
          <a:prstGeom prst="rect">
            <a:avLst/>
          </a:prstGeom>
        </p:spPr>
      </p:pic>
      <p:sp>
        <p:nvSpPr>
          <p:cNvPr id="5" name="a2-a"/>
          <p:cNvSpPr/>
          <p:nvPr/>
        </p:nvSpPr>
        <p:spPr>
          <a:xfrm>
            <a:off x="3749040" y="1325880"/>
            <a:ext cx="4937760" cy="960120"/>
          </a:xfrm>
          <a:prstGeom prst="roundRect">
            <a:avLst>
              <a:gd name="adj" fmla="val 11429"/>
            </a:avLst>
          </a:prstGeom>
          <a:solidFill>
            <a:schemeClr val="bg2"/>
          </a:solidFill>
          <a:ln/>
        </p:spPr>
      </p:sp>
      <p:sp>
        <p:nvSpPr>
          <p:cNvPr id="6" name="a2-a"/>
          <p:cNvSpPr txBox="1"/>
          <p:nvPr/>
        </p:nvSpPr>
        <p:spPr>
          <a:xfrm>
            <a:off x="3931920" y="1417320"/>
            <a:ext cx="2377440" cy="274320"/>
          </a:xfrm>
          <a:prstGeom prst="rect">
            <a:avLst/>
          </a:prstGeom>
          <a:noFill/>
          <a:ln/>
        </p:spPr>
        <p:txBody>
          <a:bodyPr wrap="square" lIns="0" tIns="0" rIns="0" bIns="0" rtlCol="0" anchor="t"/>
          <a:lstStyle/>
          <a:p>
            <a:pPr marL="0" indent="0">
              <a:buNone/>
            </a:pPr>
            <a:r>
              <a:rPr lang="en-US" sz="1300" dirty="0">
                <a:solidFill>
                  <a:schemeClr val="accent3"/>
                </a:solidFill>
              </a:rPr>
              <a:t>Yang toko kira hilang</a:t>
            </a:r>
            <a:endParaRPr lang="en-US" sz="1300" dirty="0"/>
          </a:p>
        </p:txBody>
      </p:sp>
      <p:sp>
        <p:nvSpPr>
          <p:cNvPr id="7" name="a2-a"/>
          <p:cNvSpPr txBox="1"/>
          <p:nvPr/>
        </p:nvSpPr>
        <p:spPr>
          <a:xfrm>
            <a:off x="3931920" y="1737360"/>
            <a:ext cx="2103120" cy="457200"/>
          </a:xfrm>
          <a:prstGeom prst="rect">
            <a:avLst/>
          </a:prstGeom>
          <a:noFill/>
          <a:ln/>
        </p:spPr>
        <p:txBody>
          <a:bodyPr wrap="square" lIns="0" tIns="0" rIns="0" bIns="0" rtlCol="0" anchor="t"/>
          <a:lstStyle/>
          <a:p>
            <a:pPr marL="0" indent="0">
              <a:buNone/>
            </a:pPr>
            <a:r>
              <a:rPr lang="en-US" sz="1400" dirty="0">
                <a:solidFill>
                  <a:schemeClr val="tx1"/>
                </a:solidFill>
              </a:rPr>
              <a:t>untung dari semennya saja</a:t>
            </a:r>
            <a:endParaRPr lang="en-US" sz="1400" dirty="0"/>
          </a:p>
        </p:txBody>
      </p:sp>
      <p:sp>
        <p:nvSpPr>
          <p:cNvPr id="8" name="a2-a"/>
          <p:cNvSpPr txBox="1"/>
          <p:nvPr/>
        </p:nvSpPr>
        <p:spPr>
          <a:xfrm>
            <a:off x="6035040" y="1325880"/>
            <a:ext cx="2514600" cy="960120"/>
          </a:xfrm>
          <a:prstGeom prst="rect">
            <a:avLst/>
          </a:prstGeom>
          <a:noFill/>
          <a:ln/>
        </p:spPr>
        <p:txBody>
          <a:bodyPr wrap="square" lIns="0" tIns="0" rIns="0" bIns="0" rtlCol="0" anchor="ctr"/>
          <a:lstStyle/>
          <a:p>
            <a:pPr marL="0" indent="0" algn="r">
              <a:buNone/>
            </a:pPr>
            <a:r>
              <a:rPr lang="en-US" sz="2800" b="1" dirty="0">
                <a:solidFill>
                  <a:schemeClr val="accent3"/>
                </a:solidFill>
                <a:latin typeface="Arial" pitchFamily="34" charset="0"/>
                <a:ea typeface="Arial" pitchFamily="34" charset="-122"/>
                <a:cs typeface="Arial" pitchFamily="34" charset="-120"/>
              </a:rPr>
              <a:t>Rp20 ribu</a:t>
            </a:r>
            <a:endParaRPr lang="en-US" sz="2800" dirty="0"/>
          </a:p>
        </p:txBody>
      </p:sp>
      <p:sp>
        <p:nvSpPr>
          <p:cNvPr id="9" name="a3-b"/>
          <p:cNvSpPr/>
          <p:nvPr/>
        </p:nvSpPr>
        <p:spPr>
          <a:xfrm>
            <a:off x="3749040" y="2423160"/>
            <a:ext cx="4937760" cy="1188720"/>
          </a:xfrm>
          <a:prstGeom prst="roundRect">
            <a:avLst>
              <a:gd name="adj" fmla="val 9231"/>
            </a:avLst>
          </a:prstGeom>
          <a:solidFill>
            <a:schemeClr val="accent1"/>
          </a:solidFill>
          <a:ln/>
        </p:spPr>
      </p:sp>
      <p:sp>
        <p:nvSpPr>
          <p:cNvPr id="10" name="a3-b"/>
          <p:cNvSpPr txBox="1"/>
          <p:nvPr/>
        </p:nvSpPr>
        <p:spPr>
          <a:xfrm>
            <a:off x="3931920" y="2514600"/>
            <a:ext cx="2286000" cy="274320"/>
          </a:xfrm>
          <a:prstGeom prst="rect">
            <a:avLst/>
          </a:prstGeom>
          <a:noFill/>
          <a:ln/>
        </p:spPr>
        <p:txBody>
          <a:bodyPr wrap="square" lIns="0" tIns="0" rIns="0" bIns="0" rtlCol="0" anchor="t"/>
          <a:lstStyle/>
          <a:p>
            <a:pPr marL="0" indent="0">
              <a:buNone/>
            </a:pPr>
            <a:r>
              <a:rPr lang="en-US" sz="1300" b="1" dirty="0">
                <a:solidFill>
                  <a:schemeClr val="tx1"/>
                </a:solidFill>
              </a:rPr>
              <a:t>Yang sebenarnya hilang</a:t>
            </a:r>
            <a:endParaRPr lang="en-US" sz="1300" dirty="0"/>
          </a:p>
        </p:txBody>
      </p:sp>
      <p:sp>
        <p:nvSpPr>
          <p:cNvPr id="11" name="a3-b"/>
          <p:cNvSpPr txBox="1"/>
          <p:nvPr/>
        </p:nvSpPr>
        <p:spPr>
          <a:xfrm>
            <a:off x="3931920" y="2816352"/>
            <a:ext cx="2103120" cy="731520"/>
          </a:xfrm>
          <a:prstGeom prst="rect">
            <a:avLst/>
          </a:prstGeom>
          <a:noFill/>
          <a:ln/>
        </p:spPr>
        <p:txBody>
          <a:bodyPr wrap="square" lIns="0" tIns="0" rIns="0" bIns="0" rtlCol="0" anchor="t"/>
          <a:lstStyle/>
          <a:p>
            <a:pPr marL="0" indent="0">
              <a:buNone/>
            </a:pPr>
            <a:r>
              <a:rPr lang="en-US" sz="1400" dirty="0">
                <a:solidFill>
                  <a:schemeClr val="tx1"/>
                </a:solidFill>
              </a:rPr>
              <a:t>untung dari seluruh belanjaan: pasir, besi, cat, paku…</a:t>
            </a:r>
            <a:endParaRPr lang="en-US" sz="1400" dirty="0"/>
          </a:p>
        </p:txBody>
      </p:sp>
      <p:sp>
        <p:nvSpPr>
          <p:cNvPr id="12" name="a3-b"/>
          <p:cNvSpPr txBox="1"/>
          <p:nvPr/>
        </p:nvSpPr>
        <p:spPr>
          <a:xfrm>
            <a:off x="6035040" y="2423160"/>
            <a:ext cx="2514600" cy="1188720"/>
          </a:xfrm>
          <a:prstGeom prst="rect">
            <a:avLst/>
          </a:prstGeom>
          <a:noFill/>
          <a:ln/>
        </p:spPr>
        <p:txBody>
          <a:bodyPr wrap="square" lIns="0" tIns="0" rIns="0" bIns="0" rtlCol="0" anchor="ctr"/>
          <a:lstStyle/>
          <a:p>
            <a:pPr marL="0" indent="0" algn="r">
              <a:buNone/>
            </a:pPr>
            <a:r>
              <a:rPr lang="en-US" sz="3200" b="1" dirty="0">
                <a:solidFill>
                  <a:schemeClr val="tx1"/>
                </a:solidFill>
                <a:latin typeface="Arial" pitchFamily="34" charset="0"/>
                <a:ea typeface="Arial" pitchFamily="34" charset="-122"/>
                <a:cs typeface="Arial" pitchFamily="34" charset="-120"/>
              </a:rPr>
              <a:t>Rp200 ribu</a:t>
            </a:r>
            <a:endParaRPr lang="en-US" sz="3200" dirty="0"/>
          </a:p>
        </p:txBody>
      </p:sp>
      <p:pic>
        <p:nvPicPr>
          <p:cNvPr id="13" name="a4-w" descr="preencoded.png"/>
          <p:cNvPicPr>
            <a:picLocks noChangeAspect="1"/>
          </p:cNvPicPr>
          <p:nvPr/>
        </p:nvPicPr>
        <p:blipFill>
          <a:blip r:embed="rId4"/>
          <a:stretch>
            <a:fillRect/>
          </a:stretch>
        </p:blipFill>
        <p:spPr>
          <a:xfrm>
            <a:off x="3767328" y="3703320"/>
            <a:ext cx="274320" cy="274320"/>
          </a:xfrm>
          <a:prstGeom prst="rect">
            <a:avLst/>
          </a:prstGeom>
        </p:spPr>
      </p:pic>
      <p:sp>
        <p:nvSpPr>
          <p:cNvPr id="14" name="a4-w"/>
          <p:cNvSpPr txBox="1"/>
          <p:nvPr/>
        </p:nvSpPr>
        <p:spPr>
          <a:xfrm>
            <a:off x="4160520" y="3685032"/>
            <a:ext cx="4480560" cy="320040"/>
          </a:xfrm>
          <a:prstGeom prst="rect">
            <a:avLst/>
          </a:prstGeom>
          <a:noFill/>
          <a:ln/>
        </p:spPr>
        <p:txBody>
          <a:bodyPr wrap="square" lIns="0" tIns="0" rIns="0" bIns="0" rtlCol="0" anchor="ctr"/>
          <a:lstStyle/>
          <a:p>
            <a:pPr marL="0" indent="0">
              <a:buNone/>
            </a:pPr>
            <a:r>
              <a:rPr lang="en-US" sz="1500" b="1" dirty="0">
                <a:solidFill>
                  <a:schemeClr val="tx1"/>
                </a:solidFill>
              </a:rPr>
              <a:t>…dan pelanggan itu bisa tidak kembali lagi.</a:t>
            </a:r>
            <a:endParaRPr lang="en-US" sz="1500" dirty="0"/>
          </a:p>
        </p:txBody>
      </p:sp>
      <p:sp>
        <p:nvSpPr>
          <p:cNvPr id="15" name="a5-q"/>
          <p:cNvSpPr txBox="1"/>
          <p:nvPr/>
        </p:nvSpPr>
        <p:spPr>
          <a:xfrm>
            <a:off x="457200" y="4069080"/>
            <a:ext cx="8229600" cy="502920"/>
          </a:xfrm>
          <a:prstGeom prst="roundRect">
            <a:avLst>
              <a:gd name="adj" fmla="val 21818"/>
            </a:avLst>
          </a:prstGeom>
          <a:solidFill>
            <a:schemeClr val="tx1"/>
          </a:solidFill>
          <a:ln/>
        </p:spPr>
        <p:txBody>
          <a:bodyPr wrap="square" lIns="0" tIns="0" rIns="0" bIns="0" rtlCol="0" anchor="ctr"/>
          <a:lstStyle/>
          <a:p>
            <a:pPr marL="0" indent="0" algn="ctr">
              <a:buNone/>
            </a:pPr>
            <a:r>
              <a:rPr lang="en-US" sz="1500" i="1" dirty="0">
                <a:solidFill>
                  <a:schemeClr val="bg1"/>
                </a:solidFill>
              </a:rPr>
              <a:t>“Pak, ruginya bukan cuma semen. Produk ini menahan pelanggan supaya tetap belanja di sini.”</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800"/>
                            </p:stCondLst>
                            <p:childTnLst>
                              <p:par>
                                <p:cTn id="22" presetID="10"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4" fill="hold">
                            <p:stCondLst>
                              <p:cond delay="1200"/>
                            </p:stCondLst>
                            <p:childTnLst>
                              <p:par>
                                <p:cTn id="35" presetID="10" presetClass="entr" presetSubtype="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par>
                          <p:cTn id="41" fill="hold">
                            <p:stCondLst>
                              <p:cond delay="1600"/>
                            </p:stCondLst>
                            <p:childTnLst>
                              <p:par>
                                <p:cTn id="42" presetID="10" presetClass="entr" presetSubtype="0" fill="hold"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Jualan Tanpa Modal Sendiri</a:t>
            </a:r>
            <a:endParaRPr lang="en-US" sz="2800" dirty="0"/>
          </a:p>
        </p:txBody>
      </p:sp>
      <p:sp>
        <p:nvSpPr>
          <p:cNvPr id="3" name="pill"/>
          <p:cNvSpPr txBox="1"/>
          <p:nvPr/>
        </p:nvSpPr>
        <p:spPr>
          <a:xfrm>
            <a:off x="457200" y="237744"/>
            <a:ext cx="1960474"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2.3  ·  MODAL NOL</a:t>
            </a:r>
            <a:endParaRPr lang="en-US" sz="1000" dirty="0"/>
          </a:p>
        </p:txBody>
      </p:sp>
      <p:sp>
        <p:nvSpPr>
          <p:cNvPr id="4" name="a1-line"/>
          <p:cNvSpPr/>
          <p:nvPr/>
        </p:nvSpPr>
        <p:spPr>
          <a:xfrm>
            <a:off x="914400" y="2514600"/>
            <a:ext cx="7315200" cy="0"/>
          </a:xfrm>
          <a:prstGeom prst="line">
            <a:avLst/>
          </a:prstGeom>
          <a:noFill/>
          <a:ln w="50800">
            <a:solidFill>
              <a:schemeClr val="tx1"/>
            </a:solidFill>
            <a:prstDash val="solid"/>
          </a:ln>
        </p:spPr>
      </p:sp>
      <p:sp>
        <p:nvSpPr>
          <p:cNvPr id="5" name="a4-span"/>
          <p:cNvSpPr/>
          <p:nvPr/>
        </p:nvSpPr>
        <p:spPr>
          <a:xfrm>
            <a:off x="4328160" y="2404872"/>
            <a:ext cx="3901440" cy="219456"/>
          </a:xfrm>
          <a:prstGeom prst="rect">
            <a:avLst/>
          </a:prstGeom>
          <a:solidFill>
            <a:schemeClr val="accent1"/>
          </a:solidFill>
          <a:ln/>
        </p:spPr>
      </p:sp>
      <p:sp>
        <p:nvSpPr>
          <p:cNvPr id="6" name="a4-span"/>
          <p:cNvSpPr txBox="1"/>
          <p:nvPr/>
        </p:nvSpPr>
        <p:spPr>
          <a:xfrm>
            <a:off x="4328160" y="1847088"/>
            <a:ext cx="3901440" cy="329184"/>
          </a:xfrm>
          <a:prstGeom prst="rect">
            <a:avLst/>
          </a:prstGeom>
          <a:noFill/>
          <a:ln/>
        </p:spPr>
        <p:txBody>
          <a:bodyPr wrap="square" lIns="0" tIns="0" rIns="0" bIns="0" rtlCol="0" anchor="ctr"/>
          <a:lstStyle/>
          <a:p>
            <a:pPr marL="0" indent="0" algn="ctr">
              <a:buNone/>
            </a:pPr>
            <a:r>
              <a:rPr lang="en-US" sz="1500" b="1" dirty="0">
                <a:solidFill>
                  <a:schemeClr val="tx1"/>
                </a:solidFill>
              </a:rPr>
              <a:t>16 hari uang hasil jualan dipegang toko</a:t>
            </a:r>
            <a:endParaRPr lang="en-US" sz="1500" dirty="0"/>
          </a:p>
        </p:txBody>
      </p:sp>
      <p:sp>
        <p:nvSpPr>
          <p:cNvPr id="7" name="a1-p"/>
          <p:cNvSpPr/>
          <p:nvPr/>
        </p:nvSpPr>
        <p:spPr>
          <a:xfrm>
            <a:off x="612648" y="2212848"/>
            <a:ext cx="603504" cy="603504"/>
          </a:xfrm>
          <a:prstGeom prst="ellipse">
            <a:avLst/>
          </a:prstGeom>
          <a:solidFill>
            <a:schemeClr val="accent1"/>
          </a:solidFill>
          <a:ln/>
        </p:spPr>
      </p:sp>
      <p:pic>
        <p:nvPicPr>
          <p:cNvPr id="8" name="a1-p" descr="preencoded.png"/>
          <p:cNvPicPr>
            <a:picLocks noChangeAspect="1"/>
          </p:cNvPicPr>
          <p:nvPr/>
        </p:nvPicPr>
        <p:blipFill>
          <a:blip r:embed="rId3"/>
          <a:stretch>
            <a:fillRect/>
          </a:stretch>
        </p:blipFill>
        <p:spPr>
          <a:xfrm>
            <a:off x="769559" y="2369759"/>
            <a:ext cx="289682" cy="289682"/>
          </a:xfrm>
          <a:prstGeom prst="rect">
            <a:avLst/>
          </a:prstGeom>
        </p:spPr>
      </p:pic>
      <p:sp>
        <p:nvSpPr>
          <p:cNvPr id="9" name="a1-p"/>
          <p:cNvSpPr txBox="1"/>
          <p:nvPr/>
        </p:nvSpPr>
        <p:spPr>
          <a:xfrm>
            <a:off x="457200" y="1417320"/>
            <a:ext cx="2377440" cy="320040"/>
          </a:xfrm>
          <a:prstGeom prst="rect">
            <a:avLst/>
          </a:prstGeom>
          <a:noFill/>
          <a:ln/>
        </p:spPr>
        <p:txBody>
          <a:bodyPr wrap="square" lIns="0" tIns="0" rIns="0" bIns="0" rtlCol="0" anchor="t"/>
          <a:lstStyle/>
          <a:p>
            <a:pPr marL="0" indent="0" algn="l">
              <a:buNone/>
            </a:pPr>
            <a:r>
              <a:rPr lang="en-US" sz="1600" b="1" dirty="0">
                <a:solidFill>
                  <a:schemeClr val="tx1"/>
                </a:solidFill>
              </a:rPr>
              <a:t>HARI 0</a:t>
            </a:r>
            <a:endParaRPr lang="en-US" sz="1600" dirty="0"/>
          </a:p>
        </p:txBody>
      </p:sp>
      <p:sp>
        <p:nvSpPr>
          <p:cNvPr id="10" name="a1-p"/>
          <p:cNvSpPr txBox="1"/>
          <p:nvPr/>
        </p:nvSpPr>
        <p:spPr>
          <a:xfrm>
            <a:off x="457200" y="2926080"/>
            <a:ext cx="2377440" cy="594360"/>
          </a:xfrm>
          <a:prstGeom prst="rect">
            <a:avLst/>
          </a:prstGeom>
          <a:noFill/>
          <a:ln/>
        </p:spPr>
        <p:txBody>
          <a:bodyPr wrap="square" lIns="0" tIns="0" rIns="0" bIns="0" rtlCol="0" anchor="t"/>
          <a:lstStyle/>
          <a:p>
            <a:pPr marL="0" indent="0" algn="l">
              <a:buNone/>
            </a:pPr>
            <a:r>
              <a:rPr lang="en-US" sz="1400" dirty="0">
                <a:solidFill>
                  <a:schemeClr val="tx1"/>
                </a:solidFill>
              </a:rPr>
              <a:t>Barang datang ke toko</a:t>
            </a:r>
            <a:endParaRPr lang="en-US" sz="1400" dirty="0"/>
          </a:p>
        </p:txBody>
      </p:sp>
      <p:sp>
        <p:nvSpPr>
          <p:cNvPr id="11" name="a2-p"/>
          <p:cNvSpPr/>
          <p:nvPr/>
        </p:nvSpPr>
        <p:spPr>
          <a:xfrm>
            <a:off x="4026408" y="2212848"/>
            <a:ext cx="603504" cy="603504"/>
          </a:xfrm>
          <a:prstGeom prst="ellipse">
            <a:avLst/>
          </a:prstGeom>
          <a:solidFill>
            <a:schemeClr val="tx1"/>
          </a:solidFill>
          <a:ln/>
        </p:spPr>
      </p:sp>
      <p:pic>
        <p:nvPicPr>
          <p:cNvPr id="12" name="a2-p" descr="preencoded.png"/>
          <p:cNvPicPr>
            <a:picLocks noChangeAspect="1"/>
          </p:cNvPicPr>
          <p:nvPr/>
        </p:nvPicPr>
        <p:blipFill>
          <a:blip r:embed="rId4"/>
          <a:stretch>
            <a:fillRect/>
          </a:stretch>
        </p:blipFill>
        <p:spPr>
          <a:xfrm>
            <a:off x="4183319" y="2369759"/>
            <a:ext cx="289682" cy="289682"/>
          </a:xfrm>
          <a:prstGeom prst="rect">
            <a:avLst/>
          </a:prstGeom>
        </p:spPr>
      </p:pic>
      <p:sp>
        <p:nvSpPr>
          <p:cNvPr id="13" name="a2-p"/>
          <p:cNvSpPr txBox="1"/>
          <p:nvPr/>
        </p:nvSpPr>
        <p:spPr>
          <a:xfrm>
            <a:off x="3139440" y="1417320"/>
            <a:ext cx="2377440" cy="320040"/>
          </a:xfrm>
          <a:prstGeom prst="rect">
            <a:avLst/>
          </a:prstGeom>
          <a:noFill/>
          <a:ln/>
        </p:spPr>
        <p:txBody>
          <a:bodyPr wrap="square" lIns="0" tIns="0" rIns="0" bIns="0" rtlCol="0" anchor="t"/>
          <a:lstStyle/>
          <a:p>
            <a:pPr marL="0" indent="0" algn="ctr">
              <a:buNone/>
            </a:pPr>
            <a:r>
              <a:rPr lang="en-US" sz="1600" b="1" dirty="0">
                <a:solidFill>
                  <a:schemeClr val="tx1"/>
                </a:solidFill>
              </a:rPr>
              <a:t>HARI 14</a:t>
            </a:r>
            <a:endParaRPr lang="en-US" sz="1600" dirty="0"/>
          </a:p>
        </p:txBody>
      </p:sp>
      <p:sp>
        <p:nvSpPr>
          <p:cNvPr id="14" name="a2-p"/>
          <p:cNvSpPr txBox="1"/>
          <p:nvPr/>
        </p:nvSpPr>
        <p:spPr>
          <a:xfrm>
            <a:off x="3139440" y="2926080"/>
            <a:ext cx="2377440" cy="594360"/>
          </a:xfrm>
          <a:prstGeom prst="rect">
            <a:avLst/>
          </a:prstGeom>
          <a:noFill/>
          <a:ln/>
        </p:spPr>
        <p:txBody>
          <a:bodyPr wrap="square" lIns="0" tIns="0" rIns="0" bIns="0" rtlCol="0" anchor="t"/>
          <a:lstStyle/>
          <a:p>
            <a:pPr marL="0" indent="0" algn="ctr">
              <a:buNone/>
            </a:pPr>
            <a:r>
              <a:rPr lang="en-US" sz="1400" dirty="0">
                <a:solidFill>
                  <a:schemeClr val="tx1"/>
                </a:solidFill>
              </a:rPr>
              <a:t>Barang habis terjual, uang masuk ke kas toko</a:t>
            </a:r>
            <a:endParaRPr lang="en-US" sz="1400" dirty="0"/>
          </a:p>
        </p:txBody>
      </p:sp>
      <p:sp>
        <p:nvSpPr>
          <p:cNvPr id="15" name="a3-p"/>
          <p:cNvSpPr/>
          <p:nvPr/>
        </p:nvSpPr>
        <p:spPr>
          <a:xfrm>
            <a:off x="7927848" y="2212848"/>
            <a:ext cx="603504" cy="603504"/>
          </a:xfrm>
          <a:prstGeom prst="ellipse">
            <a:avLst/>
          </a:prstGeom>
          <a:solidFill>
            <a:schemeClr val="accent1"/>
          </a:solidFill>
          <a:ln/>
        </p:spPr>
      </p:sp>
      <p:pic>
        <p:nvPicPr>
          <p:cNvPr id="16" name="a3-p" descr="preencoded.png"/>
          <p:cNvPicPr>
            <a:picLocks noChangeAspect="1"/>
          </p:cNvPicPr>
          <p:nvPr/>
        </p:nvPicPr>
        <p:blipFill>
          <a:blip r:embed="rId5"/>
          <a:stretch>
            <a:fillRect/>
          </a:stretch>
        </p:blipFill>
        <p:spPr>
          <a:xfrm>
            <a:off x="8084759" y="2369759"/>
            <a:ext cx="289682" cy="289682"/>
          </a:xfrm>
          <a:prstGeom prst="rect">
            <a:avLst/>
          </a:prstGeom>
        </p:spPr>
      </p:pic>
      <p:sp>
        <p:nvSpPr>
          <p:cNvPr id="17" name="a3-p"/>
          <p:cNvSpPr txBox="1"/>
          <p:nvPr/>
        </p:nvSpPr>
        <p:spPr>
          <a:xfrm>
            <a:off x="6309360" y="1417320"/>
            <a:ext cx="2377440" cy="320040"/>
          </a:xfrm>
          <a:prstGeom prst="rect">
            <a:avLst/>
          </a:prstGeom>
          <a:noFill/>
          <a:ln/>
        </p:spPr>
        <p:txBody>
          <a:bodyPr wrap="square" lIns="0" tIns="0" rIns="0" bIns="0" rtlCol="0" anchor="t"/>
          <a:lstStyle/>
          <a:p>
            <a:pPr marL="0" indent="0" algn="r">
              <a:buNone/>
            </a:pPr>
            <a:r>
              <a:rPr lang="en-US" sz="1600" b="1" dirty="0">
                <a:solidFill>
                  <a:schemeClr val="tx1"/>
                </a:solidFill>
              </a:rPr>
              <a:t>HARI 30</a:t>
            </a:r>
            <a:endParaRPr lang="en-US" sz="1600" dirty="0"/>
          </a:p>
        </p:txBody>
      </p:sp>
      <p:sp>
        <p:nvSpPr>
          <p:cNvPr id="18" name="a3-p"/>
          <p:cNvSpPr txBox="1"/>
          <p:nvPr/>
        </p:nvSpPr>
        <p:spPr>
          <a:xfrm>
            <a:off x="6309360" y="2926080"/>
            <a:ext cx="2377440" cy="594360"/>
          </a:xfrm>
          <a:prstGeom prst="rect">
            <a:avLst/>
          </a:prstGeom>
          <a:noFill/>
          <a:ln/>
        </p:spPr>
        <p:txBody>
          <a:bodyPr wrap="square" lIns="0" tIns="0" rIns="0" bIns="0" rtlCol="0" anchor="t"/>
          <a:lstStyle/>
          <a:p>
            <a:pPr marL="0" indent="0" algn="r">
              <a:buNone/>
            </a:pPr>
            <a:r>
              <a:rPr lang="en-US" sz="1400" dirty="0">
                <a:solidFill>
                  <a:schemeClr val="tx1"/>
                </a:solidFill>
              </a:rPr>
              <a:t>Toko baru membayar ke SID</a:t>
            </a:r>
            <a:endParaRPr lang="en-US" sz="1400" dirty="0"/>
          </a:p>
        </p:txBody>
      </p:sp>
      <p:sp>
        <p:nvSpPr>
          <p:cNvPr id="19" name="a5-q"/>
          <p:cNvSpPr/>
          <p:nvPr/>
        </p:nvSpPr>
        <p:spPr>
          <a:xfrm>
            <a:off x="457200" y="3657600"/>
            <a:ext cx="5669280" cy="868680"/>
          </a:xfrm>
          <a:prstGeom prst="roundRect">
            <a:avLst>
              <a:gd name="adj" fmla="val 12632"/>
            </a:avLst>
          </a:prstGeom>
          <a:solidFill>
            <a:schemeClr val="tx1"/>
          </a:solidFill>
          <a:ln/>
        </p:spPr>
      </p:sp>
      <p:sp>
        <p:nvSpPr>
          <p:cNvPr id="20" name="a5-q"/>
          <p:cNvSpPr txBox="1"/>
          <p:nvPr/>
        </p:nvSpPr>
        <p:spPr>
          <a:xfrm>
            <a:off x="640080" y="3657600"/>
            <a:ext cx="5349240" cy="868680"/>
          </a:xfrm>
          <a:prstGeom prst="rect">
            <a:avLst/>
          </a:prstGeom>
          <a:noFill/>
          <a:ln/>
        </p:spPr>
        <p:txBody>
          <a:bodyPr wrap="square" lIns="0" tIns="0" rIns="0" bIns="0" rtlCol="0" anchor="ctr"/>
          <a:lstStyle/>
          <a:p>
            <a:pPr marL="0" indent="0">
              <a:buNone/>
            </a:pPr>
            <a:r>
              <a:rPr lang="en-US" sz="1400" i="1" dirty="0">
                <a:solidFill>
                  <a:schemeClr val="bg1"/>
                </a:solidFill>
              </a:rPr>
              <a:t>“Bu, barang ini biasanya habis dua minggu, temponya 30 hari. Jadi Ibu jual dulu, bayarnya dari hasil jualan.”</a:t>
            </a:r>
            <a:endParaRPr lang="en-US" sz="1400" dirty="0"/>
          </a:p>
        </p:txBody>
      </p:sp>
      <p:sp>
        <p:nvSpPr>
          <p:cNvPr id="21" name="a6-n"/>
          <p:cNvSpPr/>
          <p:nvPr/>
        </p:nvSpPr>
        <p:spPr>
          <a:xfrm>
            <a:off x="6309360" y="3657600"/>
            <a:ext cx="2377440" cy="868680"/>
          </a:xfrm>
          <a:prstGeom prst="roundRect">
            <a:avLst>
              <a:gd name="adj" fmla="val 12632"/>
            </a:avLst>
          </a:prstGeom>
          <a:solidFill>
            <a:schemeClr val="bg2"/>
          </a:solidFill>
          <a:ln/>
        </p:spPr>
      </p:sp>
      <p:pic>
        <p:nvPicPr>
          <p:cNvPr id="22" name="a6-n" descr="preencoded.png"/>
          <p:cNvPicPr>
            <a:picLocks noChangeAspect="1"/>
          </p:cNvPicPr>
          <p:nvPr/>
        </p:nvPicPr>
        <p:blipFill>
          <a:blip r:embed="rId6"/>
          <a:stretch>
            <a:fillRect/>
          </a:stretch>
        </p:blipFill>
        <p:spPr>
          <a:xfrm>
            <a:off x="6446520" y="3794760"/>
            <a:ext cx="256032" cy="256032"/>
          </a:xfrm>
          <a:prstGeom prst="rect">
            <a:avLst/>
          </a:prstGeom>
        </p:spPr>
      </p:pic>
      <p:sp>
        <p:nvSpPr>
          <p:cNvPr id="23" name="a6-n"/>
          <p:cNvSpPr txBox="1"/>
          <p:nvPr/>
        </p:nvSpPr>
        <p:spPr>
          <a:xfrm>
            <a:off x="6812280" y="3730752"/>
            <a:ext cx="1783080" cy="731520"/>
          </a:xfrm>
          <a:prstGeom prst="rect">
            <a:avLst/>
          </a:prstGeom>
          <a:noFill/>
          <a:ln/>
        </p:spPr>
        <p:txBody>
          <a:bodyPr wrap="square" lIns="0" tIns="0" rIns="0" bIns="0" rtlCol="0" anchor="ctr"/>
          <a:lstStyle/>
          <a:p>
            <a:pPr marL="0" indent="0">
              <a:buNone/>
            </a:pPr>
            <a:r>
              <a:rPr lang="en-US" sz="1300" dirty="0">
                <a:solidFill>
                  <a:schemeClr val="tx1"/>
                </a:solidFill>
              </a:rPr>
              <a:t>Hanya berlaku jika SID memberi tempo bayar.</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4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par>
                          <p:cTn id="33" fill="hold">
                            <p:stCondLst>
                              <p:cond delay="800"/>
                            </p:stCondLst>
                            <p:childTnLst>
                              <p:par>
                                <p:cTn id="34" presetID="10" presetClass="entr" presetSubtype="0" fill="hold"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par>
                          <p:cTn id="46" fill="hold">
                            <p:stCondLst>
                              <p:cond delay="1200"/>
                            </p:stCondLst>
                            <p:childTnLst>
                              <p:par>
                                <p:cTn id="47" presetID="10" presetClass="entr" presetSubtype="0" fill="hold" nodeType="after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500"/>
                                        <p:tgtEl>
                                          <p:spTgt spid="5"/>
                                        </p:tgtEl>
                                      </p:cBhvr>
                                    </p:animEffect>
                                  </p:childTnLst>
                                </p:cTn>
                              </p:par>
                              <p:par>
                                <p:cTn id="50" presetID="10" presetClass="entr" presetSubtype="0" fill="hold" nodeType="with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childTnLst>
                          </p:cTn>
                        </p:par>
                        <p:par>
                          <p:cTn id="53" fill="hold">
                            <p:stCondLst>
                              <p:cond delay="1600"/>
                            </p:stCondLst>
                            <p:childTnLst>
                              <p:par>
                                <p:cTn id="54" presetID="10" presetClass="entr" presetSubtype="0"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Ubah Kalimat: Dari Spesifikasi ke Untung</a:t>
            </a:r>
            <a:endParaRPr lang="en-US" sz="2800" dirty="0"/>
          </a:p>
        </p:txBody>
      </p:sp>
      <p:sp>
        <p:nvSpPr>
          <p:cNvPr id="3" name="pill"/>
          <p:cNvSpPr txBox="1"/>
          <p:nvPr/>
        </p:nvSpPr>
        <p:spPr>
          <a:xfrm>
            <a:off x="457200" y="237744"/>
            <a:ext cx="231709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2.4  ·  KALIMAT UNTUNG</a:t>
            </a:r>
            <a:endParaRPr lang="en-US" sz="1000" dirty="0"/>
          </a:p>
        </p:txBody>
      </p:sp>
      <p:pic>
        <p:nvPicPr>
          <p:cNvPr id="4" name="Image 0" descr="preencoded.png"/>
          <p:cNvPicPr>
            <a:picLocks noChangeAspect="1"/>
          </p:cNvPicPr>
          <p:nvPr/>
        </p:nvPicPr>
        <p:blipFill>
          <a:blip r:embed="rId3"/>
          <a:stretch>
            <a:fillRect/>
          </a:stretch>
        </p:blipFill>
        <p:spPr>
          <a:xfrm>
            <a:off x="457200" y="1307592"/>
            <a:ext cx="219456" cy="219456"/>
          </a:xfrm>
          <a:prstGeom prst="rect">
            <a:avLst/>
          </a:prstGeom>
        </p:spPr>
      </p:pic>
      <p:sp>
        <p:nvSpPr>
          <p:cNvPr id="5" name="Text 2"/>
          <p:cNvSpPr txBox="1"/>
          <p:nvPr/>
        </p:nvSpPr>
        <p:spPr>
          <a:xfrm>
            <a:off x="749808" y="1280160"/>
            <a:ext cx="274320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BAHASA SPESIFIKASI</a:t>
            </a:r>
            <a:endParaRPr lang="en-US" sz="1200" dirty="0"/>
          </a:p>
        </p:txBody>
      </p:sp>
      <p:pic>
        <p:nvPicPr>
          <p:cNvPr id="6" name="Image 1" descr="preencoded.png"/>
          <p:cNvPicPr>
            <a:picLocks noChangeAspect="1"/>
          </p:cNvPicPr>
          <p:nvPr/>
        </p:nvPicPr>
        <p:blipFill>
          <a:blip r:embed="rId4"/>
          <a:stretch>
            <a:fillRect/>
          </a:stretch>
        </p:blipFill>
        <p:spPr>
          <a:xfrm>
            <a:off x="4526280" y="1307592"/>
            <a:ext cx="219456" cy="219456"/>
          </a:xfrm>
          <a:prstGeom prst="rect">
            <a:avLst/>
          </a:prstGeom>
        </p:spPr>
      </p:pic>
      <p:sp>
        <p:nvSpPr>
          <p:cNvPr id="7" name="Text 3"/>
          <p:cNvSpPr txBox="1"/>
          <p:nvPr/>
        </p:nvSpPr>
        <p:spPr>
          <a:xfrm>
            <a:off x="4818888" y="1280160"/>
            <a:ext cx="2743200" cy="274320"/>
          </a:xfrm>
          <a:prstGeom prst="rect">
            <a:avLst/>
          </a:prstGeom>
          <a:noFill/>
          <a:ln/>
        </p:spPr>
        <p:txBody>
          <a:bodyPr wrap="square" lIns="0" tIns="0" rIns="0" bIns="0" rtlCol="0" anchor="ctr"/>
          <a:lstStyle/>
          <a:p>
            <a:pPr marL="0" indent="0">
              <a:buNone/>
            </a:pPr>
            <a:r>
              <a:rPr lang="en-US" sz="1200" b="1" kern="0" spc="100" dirty="0">
                <a:solidFill>
                  <a:schemeClr val="tx1"/>
                </a:solidFill>
              </a:rPr>
              <a:t>BAHASA UNTUNG</a:t>
            </a:r>
            <a:endParaRPr lang="en-US" sz="1200" dirty="0"/>
          </a:p>
        </p:txBody>
      </p:sp>
      <p:sp>
        <p:nvSpPr>
          <p:cNvPr id="8" name="a1-p"/>
          <p:cNvSpPr/>
          <p:nvPr/>
        </p:nvSpPr>
        <p:spPr>
          <a:xfrm>
            <a:off x="457200" y="1691640"/>
            <a:ext cx="3520440" cy="822960"/>
          </a:xfrm>
          <a:prstGeom prst="roundRect">
            <a:avLst>
              <a:gd name="adj" fmla="val 13333"/>
            </a:avLst>
          </a:prstGeom>
          <a:solidFill>
            <a:schemeClr val="bg2"/>
          </a:solidFill>
          <a:ln/>
        </p:spPr>
      </p:sp>
      <p:sp>
        <p:nvSpPr>
          <p:cNvPr id="9" name="a1-p"/>
          <p:cNvSpPr txBox="1"/>
          <p:nvPr/>
        </p:nvSpPr>
        <p:spPr>
          <a:xfrm>
            <a:off x="621792" y="1691640"/>
            <a:ext cx="3200400" cy="822960"/>
          </a:xfrm>
          <a:prstGeom prst="rect">
            <a:avLst/>
          </a:prstGeom>
          <a:noFill/>
          <a:ln/>
        </p:spPr>
        <p:txBody>
          <a:bodyPr wrap="square" lIns="0" tIns="0" rIns="0" bIns="0" rtlCol="0" anchor="ctr"/>
          <a:lstStyle/>
          <a:p>
            <a:pPr marL="0" indent="0">
              <a:buNone/>
            </a:pPr>
            <a:r>
              <a:rPr lang="en-US" sz="1400" i="1" dirty="0">
                <a:solidFill>
                  <a:schemeClr val="accent3"/>
                </a:solidFill>
              </a:rPr>
              <a:t>“Mortar ini daya rekatnya tinggi.”</a:t>
            </a:r>
            <a:endParaRPr lang="en-US" sz="1400" dirty="0"/>
          </a:p>
        </p:txBody>
      </p:sp>
      <p:sp>
        <p:nvSpPr>
          <p:cNvPr id="10" name="a1-p"/>
          <p:cNvSpPr/>
          <p:nvPr/>
        </p:nvSpPr>
        <p:spPr>
          <a:xfrm>
            <a:off x="4050792" y="1920240"/>
            <a:ext cx="365760" cy="365760"/>
          </a:xfrm>
          <a:prstGeom prst="ellipse">
            <a:avLst/>
          </a:prstGeom>
          <a:solidFill>
            <a:schemeClr val="accent1"/>
          </a:solidFill>
          <a:ln/>
        </p:spPr>
      </p:sp>
      <p:pic>
        <p:nvPicPr>
          <p:cNvPr id="11" name="a1-p" descr="preencoded.png"/>
          <p:cNvPicPr>
            <a:picLocks noChangeAspect="1"/>
          </p:cNvPicPr>
          <p:nvPr/>
        </p:nvPicPr>
        <p:blipFill>
          <a:blip r:embed="rId5"/>
          <a:stretch>
            <a:fillRect/>
          </a:stretch>
        </p:blipFill>
        <p:spPr>
          <a:xfrm>
            <a:off x="4145890" y="2015338"/>
            <a:ext cx="175565" cy="175565"/>
          </a:xfrm>
          <a:prstGeom prst="rect">
            <a:avLst/>
          </a:prstGeom>
        </p:spPr>
      </p:pic>
      <p:sp>
        <p:nvSpPr>
          <p:cNvPr id="12" name="a1-p"/>
          <p:cNvSpPr/>
          <p:nvPr/>
        </p:nvSpPr>
        <p:spPr>
          <a:xfrm>
            <a:off x="4480560" y="1691640"/>
            <a:ext cx="4206240" cy="822960"/>
          </a:xfrm>
          <a:prstGeom prst="roundRect">
            <a:avLst>
              <a:gd name="adj" fmla="val 13333"/>
            </a:avLst>
          </a:prstGeom>
          <a:solidFill>
            <a:schemeClr val="accent2"/>
          </a:solidFill>
          <a:ln/>
        </p:spPr>
      </p:sp>
      <p:sp>
        <p:nvSpPr>
          <p:cNvPr id="13" name="a1-p"/>
          <p:cNvSpPr txBox="1"/>
          <p:nvPr/>
        </p:nvSpPr>
        <p:spPr>
          <a:xfrm>
            <a:off x="4617720" y="1691640"/>
            <a:ext cx="3977640" cy="822960"/>
          </a:xfrm>
          <a:prstGeom prst="rect">
            <a:avLst/>
          </a:prstGeom>
          <a:noFill/>
          <a:ln/>
        </p:spPr>
        <p:txBody>
          <a:bodyPr wrap="square" lIns="0" tIns="0" rIns="0" bIns="0" rtlCol="0" anchor="ctr"/>
          <a:lstStyle/>
          <a:p>
            <a:pPr marL="0" indent="0">
              <a:buNone/>
            </a:pPr>
            <a:r>
              <a:rPr lang="en-US" sz="1400" b="1" dirty="0">
                <a:solidFill>
                  <a:schemeClr val="tx1"/>
                </a:solidFill>
              </a:rPr>
              <a:t>“Untungnya Rp X per sak, dan tukang sekarang banyak yang cari karena lebih cepat dipakai.”</a:t>
            </a:r>
            <a:endParaRPr lang="en-US" sz="1400" dirty="0"/>
          </a:p>
        </p:txBody>
      </p:sp>
      <p:sp>
        <p:nvSpPr>
          <p:cNvPr id="14" name="a2-p"/>
          <p:cNvSpPr/>
          <p:nvPr/>
        </p:nvSpPr>
        <p:spPr>
          <a:xfrm>
            <a:off x="457200" y="2633472"/>
            <a:ext cx="3520440" cy="822960"/>
          </a:xfrm>
          <a:prstGeom prst="roundRect">
            <a:avLst>
              <a:gd name="adj" fmla="val 13333"/>
            </a:avLst>
          </a:prstGeom>
          <a:solidFill>
            <a:schemeClr val="bg2"/>
          </a:solidFill>
          <a:ln/>
        </p:spPr>
      </p:sp>
      <p:sp>
        <p:nvSpPr>
          <p:cNvPr id="15" name="a2-p"/>
          <p:cNvSpPr txBox="1"/>
          <p:nvPr/>
        </p:nvSpPr>
        <p:spPr>
          <a:xfrm>
            <a:off x="621792" y="2633472"/>
            <a:ext cx="3200400" cy="822960"/>
          </a:xfrm>
          <a:prstGeom prst="rect">
            <a:avLst/>
          </a:prstGeom>
          <a:noFill/>
          <a:ln/>
        </p:spPr>
        <p:txBody>
          <a:bodyPr wrap="square" lIns="0" tIns="0" rIns="0" bIns="0" rtlCol="0" anchor="ctr"/>
          <a:lstStyle/>
          <a:p>
            <a:pPr marL="0" indent="0">
              <a:buNone/>
            </a:pPr>
            <a:r>
              <a:rPr lang="en-US" sz="1400" i="1" dirty="0">
                <a:solidFill>
                  <a:schemeClr val="accent3"/>
                </a:solidFill>
              </a:rPr>
              <a:t>“Bata ringan ini produk unggulan kami.”</a:t>
            </a:r>
            <a:endParaRPr lang="en-US" sz="1400" dirty="0"/>
          </a:p>
        </p:txBody>
      </p:sp>
      <p:sp>
        <p:nvSpPr>
          <p:cNvPr id="16" name="a2-p"/>
          <p:cNvSpPr/>
          <p:nvPr/>
        </p:nvSpPr>
        <p:spPr>
          <a:xfrm>
            <a:off x="4050792" y="2862072"/>
            <a:ext cx="365760" cy="365760"/>
          </a:xfrm>
          <a:prstGeom prst="ellipse">
            <a:avLst/>
          </a:prstGeom>
          <a:solidFill>
            <a:schemeClr val="accent1"/>
          </a:solidFill>
          <a:ln/>
        </p:spPr>
      </p:sp>
      <p:pic>
        <p:nvPicPr>
          <p:cNvPr id="17" name="a2-p" descr="preencoded.png"/>
          <p:cNvPicPr>
            <a:picLocks noChangeAspect="1"/>
          </p:cNvPicPr>
          <p:nvPr/>
        </p:nvPicPr>
        <p:blipFill>
          <a:blip r:embed="rId5"/>
          <a:stretch>
            <a:fillRect/>
          </a:stretch>
        </p:blipFill>
        <p:spPr>
          <a:xfrm>
            <a:off x="4145890" y="2957170"/>
            <a:ext cx="175565" cy="175565"/>
          </a:xfrm>
          <a:prstGeom prst="rect">
            <a:avLst/>
          </a:prstGeom>
        </p:spPr>
      </p:pic>
      <p:sp>
        <p:nvSpPr>
          <p:cNvPr id="18" name="a2-p"/>
          <p:cNvSpPr/>
          <p:nvPr/>
        </p:nvSpPr>
        <p:spPr>
          <a:xfrm>
            <a:off x="4480560" y="2633472"/>
            <a:ext cx="4206240" cy="822960"/>
          </a:xfrm>
          <a:prstGeom prst="roundRect">
            <a:avLst>
              <a:gd name="adj" fmla="val 13333"/>
            </a:avLst>
          </a:prstGeom>
          <a:solidFill>
            <a:schemeClr val="accent2"/>
          </a:solidFill>
          <a:ln/>
        </p:spPr>
      </p:sp>
      <p:sp>
        <p:nvSpPr>
          <p:cNvPr id="19" name="a2-p"/>
          <p:cNvSpPr txBox="1"/>
          <p:nvPr/>
        </p:nvSpPr>
        <p:spPr>
          <a:xfrm>
            <a:off x="4617720" y="2633472"/>
            <a:ext cx="3977640" cy="822960"/>
          </a:xfrm>
          <a:prstGeom prst="rect">
            <a:avLst/>
          </a:prstGeom>
          <a:noFill/>
          <a:ln/>
        </p:spPr>
        <p:txBody>
          <a:bodyPr wrap="square" lIns="0" tIns="0" rIns="0" bIns="0" rtlCol="0" anchor="ctr"/>
          <a:lstStyle/>
          <a:p>
            <a:pPr marL="0" indent="0">
              <a:buNone/>
            </a:pPr>
            <a:r>
              <a:rPr lang="en-US" sz="1400" b="1" dirty="0">
                <a:solidFill>
                  <a:schemeClr val="tx1"/>
                </a:solidFill>
              </a:rPr>
              <a:t>“Toko di daerah sini sudah jual bata ringan, rata-rata habis dua minggu.”</a:t>
            </a:r>
            <a:endParaRPr lang="en-US" sz="1400" dirty="0"/>
          </a:p>
        </p:txBody>
      </p:sp>
      <p:sp>
        <p:nvSpPr>
          <p:cNvPr id="20" name="a3-p"/>
          <p:cNvSpPr/>
          <p:nvPr/>
        </p:nvSpPr>
        <p:spPr>
          <a:xfrm>
            <a:off x="457200" y="3575304"/>
            <a:ext cx="3520440" cy="822960"/>
          </a:xfrm>
          <a:prstGeom prst="roundRect">
            <a:avLst>
              <a:gd name="adj" fmla="val 13333"/>
            </a:avLst>
          </a:prstGeom>
          <a:solidFill>
            <a:schemeClr val="bg2"/>
          </a:solidFill>
          <a:ln/>
        </p:spPr>
      </p:sp>
      <p:sp>
        <p:nvSpPr>
          <p:cNvPr id="21" name="a3-p"/>
          <p:cNvSpPr txBox="1"/>
          <p:nvPr/>
        </p:nvSpPr>
        <p:spPr>
          <a:xfrm>
            <a:off x="621792" y="3575304"/>
            <a:ext cx="3200400" cy="822960"/>
          </a:xfrm>
          <a:prstGeom prst="rect">
            <a:avLst/>
          </a:prstGeom>
          <a:noFill/>
          <a:ln/>
        </p:spPr>
        <p:txBody>
          <a:bodyPr wrap="square" lIns="0" tIns="0" rIns="0" bIns="0" rtlCol="0" anchor="ctr"/>
          <a:lstStyle/>
          <a:p>
            <a:pPr marL="0" indent="0">
              <a:buNone/>
            </a:pPr>
            <a:r>
              <a:rPr lang="en-US" sz="1400" i="1" dirty="0">
                <a:solidFill>
                  <a:schemeClr val="accent3"/>
                </a:solidFill>
              </a:rPr>
              <a:t>“Kami punya banyak produk non-semen.”</a:t>
            </a:r>
            <a:endParaRPr lang="en-US" sz="1400" dirty="0"/>
          </a:p>
        </p:txBody>
      </p:sp>
      <p:sp>
        <p:nvSpPr>
          <p:cNvPr id="22" name="a3-p"/>
          <p:cNvSpPr/>
          <p:nvPr/>
        </p:nvSpPr>
        <p:spPr>
          <a:xfrm>
            <a:off x="4050792" y="3803904"/>
            <a:ext cx="365760" cy="365760"/>
          </a:xfrm>
          <a:prstGeom prst="ellipse">
            <a:avLst/>
          </a:prstGeom>
          <a:solidFill>
            <a:schemeClr val="accent1"/>
          </a:solidFill>
          <a:ln/>
        </p:spPr>
      </p:sp>
      <p:pic>
        <p:nvPicPr>
          <p:cNvPr id="23" name="a3-p" descr="preencoded.png"/>
          <p:cNvPicPr>
            <a:picLocks noChangeAspect="1"/>
          </p:cNvPicPr>
          <p:nvPr/>
        </p:nvPicPr>
        <p:blipFill>
          <a:blip r:embed="rId5"/>
          <a:stretch>
            <a:fillRect/>
          </a:stretch>
        </p:blipFill>
        <p:spPr>
          <a:xfrm>
            <a:off x="4145890" y="3899002"/>
            <a:ext cx="175565" cy="175565"/>
          </a:xfrm>
          <a:prstGeom prst="rect">
            <a:avLst/>
          </a:prstGeom>
        </p:spPr>
      </p:pic>
      <p:sp>
        <p:nvSpPr>
          <p:cNvPr id="24" name="a3-p"/>
          <p:cNvSpPr/>
          <p:nvPr/>
        </p:nvSpPr>
        <p:spPr>
          <a:xfrm>
            <a:off x="4480560" y="3575304"/>
            <a:ext cx="4206240" cy="822960"/>
          </a:xfrm>
          <a:prstGeom prst="roundRect">
            <a:avLst>
              <a:gd name="adj" fmla="val 13333"/>
            </a:avLst>
          </a:prstGeom>
          <a:solidFill>
            <a:schemeClr val="accent2"/>
          </a:solidFill>
          <a:ln/>
        </p:spPr>
      </p:sp>
      <p:sp>
        <p:nvSpPr>
          <p:cNvPr id="25" name="a3-p"/>
          <p:cNvSpPr txBox="1"/>
          <p:nvPr/>
        </p:nvSpPr>
        <p:spPr>
          <a:xfrm>
            <a:off x="4617720" y="3575304"/>
            <a:ext cx="3977640" cy="822960"/>
          </a:xfrm>
          <a:prstGeom prst="rect">
            <a:avLst/>
          </a:prstGeom>
          <a:noFill/>
          <a:ln/>
        </p:spPr>
        <p:txBody>
          <a:bodyPr wrap="square" lIns="0" tIns="0" rIns="0" bIns="0" rtlCol="0" anchor="ctr"/>
          <a:lstStyle/>
          <a:p>
            <a:pPr marL="0" indent="0">
              <a:buNone/>
            </a:pPr>
            <a:r>
              <a:rPr lang="en-US" sz="1400" b="1" dirty="0">
                <a:solidFill>
                  <a:schemeClr val="tx1"/>
                </a:solidFill>
              </a:rPr>
              <a:t>“Semen lagi kosong, Pak. Daripada pelanggan Bapak pindah, ada barang yang bikin mereka tetap belanja di sini.”</a:t>
            </a:r>
            <a:endParaRPr lang="en-US" sz="1400" dirty="0"/>
          </a:p>
        </p:txBody>
      </p:sp>
      <p:sp>
        <p:nvSpPr>
          <p:cNvPr id="2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par>
                          <p:cTn id="23" fill="hold">
                            <p:stCondLst>
                              <p:cond delay="400"/>
                            </p:stCondLst>
                            <p:childTnLst>
                              <p:par>
                                <p:cTn id="24" presetID="10" presetClass="entr" presetSubtype="0"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par>
                          <p:cTn id="42" fill="hold">
                            <p:stCondLst>
                              <p:cond delay="800"/>
                            </p:stCondLst>
                            <p:childTnLst>
                              <p:par>
                                <p:cTn id="43" presetID="10" presetClass="entr" presetSubtype="0" fill="hold" nodeType="after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par>
                                <p:cTn id="55" presetID="10" presetClass="entr" presetSubtype="0"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par>
                                <p:cTn id="58" presetID="10" presetClass="entr" presetSubtype="0" fill="hold"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Resep Penawaran 6 Langkah</a:t>
            </a:r>
            <a:endParaRPr lang="en-US" sz="2800" dirty="0"/>
          </a:p>
        </p:txBody>
      </p:sp>
      <p:sp>
        <p:nvSpPr>
          <p:cNvPr id="3" name="pill"/>
          <p:cNvSpPr txBox="1"/>
          <p:nvPr/>
        </p:nvSpPr>
        <p:spPr>
          <a:xfrm>
            <a:off x="457200" y="237744"/>
            <a:ext cx="2602382"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2.5  ·  STRUKTUR PENAWARAN</a:t>
            </a:r>
            <a:endParaRPr lang="en-US" sz="1000" dirty="0"/>
          </a:p>
        </p:txBody>
      </p:sp>
      <p:sp>
        <p:nvSpPr>
          <p:cNvPr id="4" name="a1-s"/>
          <p:cNvSpPr/>
          <p:nvPr/>
        </p:nvSpPr>
        <p:spPr>
          <a:xfrm>
            <a:off x="457200" y="1325880"/>
            <a:ext cx="2468880" cy="1188720"/>
          </a:xfrm>
          <a:prstGeom prst="roundRect">
            <a:avLst>
              <a:gd name="adj" fmla="val 9231"/>
            </a:avLst>
          </a:prstGeom>
          <a:solidFill>
            <a:schemeClr val="bg2"/>
          </a:solidFill>
          <a:ln/>
        </p:spPr>
      </p:sp>
      <p:sp>
        <p:nvSpPr>
          <p:cNvPr id="5" name="a1-s"/>
          <p:cNvSpPr txBox="1"/>
          <p:nvPr/>
        </p:nvSpPr>
        <p:spPr>
          <a:xfrm>
            <a:off x="594360" y="146304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a1-s"/>
          <p:cNvSpPr txBox="1"/>
          <p:nvPr/>
        </p:nvSpPr>
        <p:spPr>
          <a:xfrm>
            <a:off x="1097280" y="1435608"/>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Buka dengan masalah toko</a:t>
            </a:r>
            <a:endParaRPr lang="en-US" sz="1400" dirty="0"/>
          </a:p>
        </p:txBody>
      </p:sp>
      <p:sp>
        <p:nvSpPr>
          <p:cNvPr id="7" name="a1-s"/>
          <p:cNvSpPr txBox="1"/>
          <p:nvPr/>
        </p:nvSpPr>
        <p:spPr>
          <a:xfrm>
            <a:off x="594360" y="1947672"/>
            <a:ext cx="2240280" cy="530352"/>
          </a:xfrm>
          <a:prstGeom prst="rect">
            <a:avLst/>
          </a:prstGeom>
          <a:noFill/>
          <a:ln/>
        </p:spPr>
        <p:txBody>
          <a:bodyPr wrap="square" lIns="0" tIns="0" rIns="0" bIns="0" rtlCol="0" anchor="t"/>
          <a:lstStyle/>
          <a:p>
            <a:pPr marL="0" indent="0">
              <a:buNone/>
            </a:pPr>
            <a:r>
              <a:rPr lang="en-US" sz="1300" i="1" dirty="0">
                <a:solidFill>
                  <a:schemeClr val="tx2"/>
                </a:solidFill>
              </a:rPr>
              <a:t>“Kemarin Bapak cerita tukang banyak cari mortar…”</a:t>
            </a:r>
            <a:endParaRPr lang="en-US" sz="1300" dirty="0"/>
          </a:p>
        </p:txBody>
      </p:sp>
      <p:sp>
        <p:nvSpPr>
          <p:cNvPr id="8" name="a2-s"/>
          <p:cNvSpPr/>
          <p:nvPr/>
        </p:nvSpPr>
        <p:spPr>
          <a:xfrm>
            <a:off x="2971800" y="1920240"/>
            <a:ext cx="320040" cy="914"/>
          </a:xfrm>
          <a:prstGeom prst="line">
            <a:avLst/>
          </a:prstGeom>
          <a:noFill/>
          <a:ln w="28575">
            <a:solidFill>
              <a:schemeClr val="tx1"/>
            </a:solidFill>
            <a:prstDash val="solid"/>
            <a:tailEnd type="triangle"/>
          </a:ln>
        </p:spPr>
      </p:sp>
      <p:sp>
        <p:nvSpPr>
          <p:cNvPr id="9" name="a2-s"/>
          <p:cNvSpPr/>
          <p:nvPr/>
        </p:nvSpPr>
        <p:spPr>
          <a:xfrm>
            <a:off x="3337560" y="1325880"/>
            <a:ext cx="2468880" cy="1188720"/>
          </a:xfrm>
          <a:prstGeom prst="roundRect">
            <a:avLst>
              <a:gd name="adj" fmla="val 9231"/>
            </a:avLst>
          </a:prstGeom>
          <a:solidFill>
            <a:schemeClr val="bg2"/>
          </a:solidFill>
          <a:ln/>
        </p:spPr>
      </p:sp>
      <p:sp>
        <p:nvSpPr>
          <p:cNvPr id="10" name="a2-s"/>
          <p:cNvSpPr txBox="1"/>
          <p:nvPr/>
        </p:nvSpPr>
        <p:spPr>
          <a:xfrm>
            <a:off x="3474720" y="146304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1" name="a2-s"/>
          <p:cNvSpPr txBox="1"/>
          <p:nvPr/>
        </p:nvSpPr>
        <p:spPr>
          <a:xfrm>
            <a:off x="3977640" y="1435608"/>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Sampaikan insight</a:t>
            </a:r>
            <a:endParaRPr lang="en-US" sz="1400" dirty="0"/>
          </a:p>
        </p:txBody>
      </p:sp>
      <p:sp>
        <p:nvSpPr>
          <p:cNvPr id="12" name="a2-s"/>
          <p:cNvSpPr txBox="1"/>
          <p:nvPr/>
        </p:nvSpPr>
        <p:spPr>
          <a:xfrm>
            <a:off x="3474720" y="1947672"/>
            <a:ext cx="2240280" cy="530352"/>
          </a:xfrm>
          <a:prstGeom prst="rect">
            <a:avLst/>
          </a:prstGeom>
          <a:noFill/>
          <a:ln/>
        </p:spPr>
        <p:txBody>
          <a:bodyPr wrap="square" lIns="0" tIns="0" rIns="0" bIns="0" rtlCol="0" anchor="t"/>
          <a:lstStyle/>
          <a:p>
            <a:pPr marL="0" indent="0">
              <a:buNone/>
            </a:pPr>
            <a:r>
              <a:rPr lang="en-US" sz="1300" i="1" dirty="0">
                <a:solidFill>
                  <a:schemeClr val="tx2"/>
                </a:solidFill>
              </a:rPr>
              <a:t>“Toko yang sudah jual, pelanggannya tidak lari.”</a:t>
            </a:r>
            <a:endParaRPr lang="en-US" sz="1300" dirty="0"/>
          </a:p>
        </p:txBody>
      </p:sp>
      <p:sp>
        <p:nvSpPr>
          <p:cNvPr id="13" name="a3-s"/>
          <p:cNvSpPr/>
          <p:nvPr/>
        </p:nvSpPr>
        <p:spPr>
          <a:xfrm>
            <a:off x="5852160" y="1920240"/>
            <a:ext cx="320040" cy="914"/>
          </a:xfrm>
          <a:prstGeom prst="line">
            <a:avLst/>
          </a:prstGeom>
          <a:noFill/>
          <a:ln w="28575">
            <a:solidFill>
              <a:schemeClr val="tx1"/>
            </a:solidFill>
            <a:prstDash val="solid"/>
            <a:tailEnd type="triangle"/>
          </a:ln>
        </p:spPr>
      </p:sp>
      <p:sp>
        <p:nvSpPr>
          <p:cNvPr id="14" name="a3-s"/>
          <p:cNvSpPr/>
          <p:nvPr/>
        </p:nvSpPr>
        <p:spPr>
          <a:xfrm>
            <a:off x="6217920" y="1325880"/>
            <a:ext cx="2468880" cy="1188720"/>
          </a:xfrm>
          <a:prstGeom prst="roundRect">
            <a:avLst>
              <a:gd name="adj" fmla="val 9231"/>
            </a:avLst>
          </a:prstGeom>
          <a:solidFill>
            <a:schemeClr val="bg2"/>
          </a:solidFill>
          <a:ln/>
        </p:spPr>
      </p:sp>
      <p:sp>
        <p:nvSpPr>
          <p:cNvPr id="15" name="a3-s"/>
          <p:cNvSpPr txBox="1"/>
          <p:nvPr/>
        </p:nvSpPr>
        <p:spPr>
          <a:xfrm>
            <a:off x="6355080" y="146304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6" name="a3-s"/>
          <p:cNvSpPr txBox="1"/>
          <p:nvPr/>
        </p:nvSpPr>
        <p:spPr>
          <a:xfrm>
            <a:off x="6858000" y="1435608"/>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Tunjukkan hitungan</a:t>
            </a:r>
            <a:endParaRPr lang="en-US" sz="1400" dirty="0"/>
          </a:p>
        </p:txBody>
      </p:sp>
      <p:sp>
        <p:nvSpPr>
          <p:cNvPr id="17" name="a3-s"/>
          <p:cNvSpPr txBox="1"/>
          <p:nvPr/>
        </p:nvSpPr>
        <p:spPr>
          <a:xfrm>
            <a:off x="6355080" y="1947672"/>
            <a:ext cx="2240280" cy="530352"/>
          </a:xfrm>
          <a:prstGeom prst="rect">
            <a:avLst/>
          </a:prstGeom>
          <a:noFill/>
          <a:ln/>
        </p:spPr>
        <p:txBody>
          <a:bodyPr wrap="square" lIns="0" tIns="0" rIns="0" bIns="0" rtlCol="0" anchor="t"/>
          <a:lstStyle/>
          <a:p>
            <a:pPr marL="0" indent="0">
              <a:buNone/>
            </a:pPr>
            <a:r>
              <a:rPr lang="en-US" sz="1300" i="1" dirty="0">
                <a:solidFill>
                  <a:schemeClr val="tx2"/>
                </a:solidFill>
              </a:rPr>
              <a:t>Tulis margin dan putaran di kertas, di depan pemilik.</a:t>
            </a:r>
            <a:endParaRPr lang="en-US" sz="1300" dirty="0"/>
          </a:p>
        </p:txBody>
      </p:sp>
      <p:sp>
        <p:nvSpPr>
          <p:cNvPr id="18" name="a4-s"/>
          <p:cNvSpPr/>
          <p:nvPr/>
        </p:nvSpPr>
        <p:spPr>
          <a:xfrm>
            <a:off x="7452360" y="2560320"/>
            <a:ext cx="914" cy="274320"/>
          </a:xfrm>
          <a:prstGeom prst="line">
            <a:avLst/>
          </a:prstGeom>
          <a:noFill/>
          <a:ln w="28575">
            <a:solidFill>
              <a:schemeClr val="tx1"/>
            </a:solidFill>
            <a:prstDash val="solid"/>
            <a:tailEnd type="triangle"/>
          </a:ln>
        </p:spPr>
      </p:sp>
      <p:sp>
        <p:nvSpPr>
          <p:cNvPr id="19" name="a4-s"/>
          <p:cNvSpPr/>
          <p:nvPr/>
        </p:nvSpPr>
        <p:spPr>
          <a:xfrm>
            <a:off x="6217920" y="2880360"/>
            <a:ext cx="2468880" cy="1188720"/>
          </a:xfrm>
          <a:prstGeom prst="roundRect">
            <a:avLst>
              <a:gd name="adj" fmla="val 9231"/>
            </a:avLst>
          </a:prstGeom>
          <a:solidFill>
            <a:schemeClr val="bg2"/>
          </a:solidFill>
          <a:ln/>
        </p:spPr>
      </p:sp>
      <p:sp>
        <p:nvSpPr>
          <p:cNvPr id="20" name="a4-s"/>
          <p:cNvSpPr txBox="1"/>
          <p:nvPr/>
        </p:nvSpPr>
        <p:spPr>
          <a:xfrm>
            <a:off x="6355080" y="301752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1" name="a4-s"/>
          <p:cNvSpPr txBox="1"/>
          <p:nvPr/>
        </p:nvSpPr>
        <p:spPr>
          <a:xfrm>
            <a:off x="6858000" y="2990088"/>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Beri bukti</a:t>
            </a:r>
            <a:endParaRPr lang="en-US" sz="1400" dirty="0"/>
          </a:p>
        </p:txBody>
      </p:sp>
      <p:sp>
        <p:nvSpPr>
          <p:cNvPr id="22" name="a4-s"/>
          <p:cNvSpPr txBox="1"/>
          <p:nvPr/>
        </p:nvSpPr>
        <p:spPr>
          <a:xfrm>
            <a:off x="6355080" y="3502152"/>
            <a:ext cx="2240280" cy="530352"/>
          </a:xfrm>
          <a:prstGeom prst="rect">
            <a:avLst/>
          </a:prstGeom>
          <a:noFill/>
          <a:ln/>
        </p:spPr>
        <p:txBody>
          <a:bodyPr wrap="square" lIns="0" tIns="0" rIns="0" bIns="0" rtlCol="0" anchor="t"/>
          <a:lstStyle/>
          <a:p>
            <a:pPr marL="0" indent="0">
              <a:buNone/>
            </a:pPr>
            <a:r>
              <a:rPr lang="en-US" sz="1300" i="1" dirty="0">
                <a:solidFill>
                  <a:schemeClr val="tx2"/>
                </a:solidFill>
              </a:rPr>
              <a:t>Toko percontohan, data jualan, cerita tukang.</a:t>
            </a:r>
            <a:endParaRPr lang="en-US" sz="1300" dirty="0"/>
          </a:p>
        </p:txBody>
      </p:sp>
      <p:sp>
        <p:nvSpPr>
          <p:cNvPr id="23" name="a5-s"/>
          <p:cNvSpPr/>
          <p:nvPr/>
        </p:nvSpPr>
        <p:spPr>
          <a:xfrm flipH="1">
            <a:off x="5852160" y="3474720"/>
            <a:ext cx="320040" cy="914"/>
          </a:xfrm>
          <a:prstGeom prst="line">
            <a:avLst/>
          </a:prstGeom>
          <a:noFill/>
          <a:ln w="28575">
            <a:solidFill>
              <a:schemeClr val="tx1"/>
            </a:solidFill>
            <a:prstDash val="solid"/>
            <a:tailEnd type="triangle"/>
          </a:ln>
        </p:spPr>
      </p:sp>
      <p:sp>
        <p:nvSpPr>
          <p:cNvPr id="24" name="a5-s"/>
          <p:cNvSpPr/>
          <p:nvPr/>
        </p:nvSpPr>
        <p:spPr>
          <a:xfrm>
            <a:off x="3337560" y="2880360"/>
            <a:ext cx="2468880" cy="1188720"/>
          </a:xfrm>
          <a:prstGeom prst="roundRect">
            <a:avLst>
              <a:gd name="adj" fmla="val 9231"/>
            </a:avLst>
          </a:prstGeom>
          <a:solidFill>
            <a:schemeClr val="bg2"/>
          </a:solidFill>
          <a:ln/>
        </p:spPr>
      </p:sp>
      <p:sp>
        <p:nvSpPr>
          <p:cNvPr id="25" name="a5-s"/>
          <p:cNvSpPr txBox="1"/>
          <p:nvPr/>
        </p:nvSpPr>
        <p:spPr>
          <a:xfrm>
            <a:off x="3474720" y="301752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26" name="a5-s"/>
          <p:cNvSpPr txBox="1"/>
          <p:nvPr/>
        </p:nvSpPr>
        <p:spPr>
          <a:xfrm>
            <a:off x="3977640" y="2990088"/>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Usulkan langkah kecil</a:t>
            </a:r>
            <a:endParaRPr lang="en-US" sz="1400" dirty="0"/>
          </a:p>
        </p:txBody>
      </p:sp>
      <p:sp>
        <p:nvSpPr>
          <p:cNvPr id="27" name="a5-s"/>
          <p:cNvSpPr txBox="1"/>
          <p:nvPr/>
        </p:nvSpPr>
        <p:spPr>
          <a:xfrm>
            <a:off x="3474720" y="3502152"/>
            <a:ext cx="2240280" cy="530352"/>
          </a:xfrm>
          <a:prstGeom prst="rect">
            <a:avLst/>
          </a:prstGeom>
          <a:noFill/>
          <a:ln/>
        </p:spPr>
        <p:txBody>
          <a:bodyPr wrap="square" lIns="0" tIns="0" rIns="0" bIns="0" rtlCol="0" anchor="t"/>
          <a:lstStyle/>
          <a:p>
            <a:pPr marL="0" indent="0">
              <a:buNone/>
            </a:pPr>
            <a:r>
              <a:rPr lang="en-US" sz="1300" i="1" dirty="0">
                <a:solidFill>
                  <a:schemeClr val="tx2"/>
                </a:solidFill>
              </a:rPr>
              <a:t>Order uji coba yang jumlahnya sudah dihitung.</a:t>
            </a:r>
            <a:endParaRPr lang="en-US" sz="1300" dirty="0"/>
          </a:p>
        </p:txBody>
      </p:sp>
      <p:sp>
        <p:nvSpPr>
          <p:cNvPr id="28" name="a6-s"/>
          <p:cNvSpPr/>
          <p:nvPr/>
        </p:nvSpPr>
        <p:spPr>
          <a:xfrm flipH="1">
            <a:off x="2971800" y="3474720"/>
            <a:ext cx="320040" cy="914"/>
          </a:xfrm>
          <a:prstGeom prst="line">
            <a:avLst/>
          </a:prstGeom>
          <a:noFill/>
          <a:ln w="28575">
            <a:solidFill>
              <a:schemeClr val="tx1"/>
            </a:solidFill>
            <a:prstDash val="solid"/>
            <a:tailEnd type="triangle"/>
          </a:ln>
        </p:spPr>
      </p:sp>
      <p:sp>
        <p:nvSpPr>
          <p:cNvPr id="29" name="a6-s"/>
          <p:cNvSpPr/>
          <p:nvPr/>
        </p:nvSpPr>
        <p:spPr>
          <a:xfrm>
            <a:off x="457200" y="2880360"/>
            <a:ext cx="2468880" cy="1188720"/>
          </a:xfrm>
          <a:prstGeom prst="roundRect">
            <a:avLst>
              <a:gd name="adj" fmla="val 9231"/>
            </a:avLst>
          </a:prstGeom>
          <a:solidFill>
            <a:schemeClr val="accent1"/>
          </a:solidFill>
          <a:ln/>
        </p:spPr>
      </p:sp>
      <p:sp>
        <p:nvSpPr>
          <p:cNvPr id="30" name="a6-s"/>
          <p:cNvSpPr txBox="1"/>
          <p:nvPr/>
        </p:nvSpPr>
        <p:spPr>
          <a:xfrm>
            <a:off x="594360" y="3017520"/>
            <a:ext cx="411480" cy="411480"/>
          </a:xfrm>
          <a:prstGeom prst="ellipse">
            <a:avLst/>
          </a:prstGeom>
          <a:solidFill>
            <a:schemeClr val="tx1"/>
          </a:solidFill>
          <a:ln/>
        </p:spPr>
        <p:txBody>
          <a:bodyPr wrap="square" lIns="0" tIns="0" rIns="0" bIns="0" rtlCol="0" anchor="ctr"/>
          <a:lstStyle/>
          <a:p>
            <a:pPr marL="0" indent="0" algn="ctr">
              <a:buNone/>
            </a:pPr>
            <a:r>
              <a:rPr lang="en-US" sz="1600" b="1" dirty="0">
                <a:solidFill>
                  <a:schemeClr val="accent1"/>
                </a:solidFill>
              </a:rPr>
              <a:t>6</a:t>
            </a:r>
            <a:endParaRPr lang="en-US" sz="1600" dirty="0"/>
          </a:p>
        </p:txBody>
      </p:sp>
      <p:sp>
        <p:nvSpPr>
          <p:cNvPr id="31" name="a6-s"/>
          <p:cNvSpPr txBox="1"/>
          <p:nvPr/>
        </p:nvSpPr>
        <p:spPr>
          <a:xfrm>
            <a:off x="1097280" y="2990088"/>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Minta komitmen</a:t>
            </a:r>
            <a:endParaRPr lang="en-US" sz="1400" dirty="0"/>
          </a:p>
        </p:txBody>
      </p:sp>
      <p:sp>
        <p:nvSpPr>
          <p:cNvPr id="32" name="a6-s"/>
          <p:cNvSpPr txBox="1"/>
          <p:nvPr/>
        </p:nvSpPr>
        <p:spPr>
          <a:xfrm>
            <a:off x="594360" y="3502152"/>
            <a:ext cx="2240280" cy="530352"/>
          </a:xfrm>
          <a:prstGeom prst="rect">
            <a:avLst/>
          </a:prstGeom>
          <a:noFill/>
          <a:ln/>
        </p:spPr>
        <p:txBody>
          <a:bodyPr wrap="square" lIns="0" tIns="0" rIns="0" bIns="0" rtlCol="0" anchor="t"/>
          <a:lstStyle/>
          <a:p>
            <a:pPr marL="0" indent="0">
              <a:buNone/>
            </a:pPr>
            <a:r>
              <a:rPr lang="en-US" sz="1300" i="1" dirty="0">
                <a:solidFill>
                  <a:schemeClr val="tx2"/>
                </a:solidFill>
              </a:rPr>
              <a:t>“Dikirim bareng semen hari Kamis, Pak?”</a:t>
            </a:r>
            <a:endParaRPr lang="en-US" sz="1300" dirty="0"/>
          </a:p>
        </p:txBody>
      </p:sp>
      <p:pic>
        <p:nvPicPr>
          <p:cNvPr id="33" name="a7-tip" descr="preencoded.png"/>
          <p:cNvPicPr>
            <a:picLocks noChangeAspect="1"/>
          </p:cNvPicPr>
          <p:nvPr/>
        </p:nvPicPr>
        <p:blipFill>
          <a:blip r:embed="rId3"/>
          <a:stretch>
            <a:fillRect/>
          </a:stretch>
        </p:blipFill>
        <p:spPr>
          <a:xfrm>
            <a:off x="457200" y="4224528"/>
            <a:ext cx="274320" cy="274320"/>
          </a:xfrm>
          <a:prstGeom prst="rect">
            <a:avLst/>
          </a:prstGeom>
        </p:spPr>
      </p:pic>
      <p:sp>
        <p:nvSpPr>
          <p:cNvPr id="34" name="a7-tip"/>
          <p:cNvSpPr txBox="1"/>
          <p:nvPr/>
        </p:nvSpPr>
        <p:spPr>
          <a:xfrm>
            <a:off x="822960" y="4206240"/>
            <a:ext cx="7863840" cy="320040"/>
          </a:xfrm>
          <a:prstGeom prst="rect">
            <a:avLst/>
          </a:prstGeom>
          <a:noFill/>
          <a:ln/>
        </p:spPr>
        <p:txBody>
          <a:bodyPr wrap="square" lIns="0" tIns="0" rIns="0" bIns="0" rtlCol="0" anchor="ctr"/>
          <a:lstStyle/>
          <a:p>
            <a:pPr marL="0" indent="0">
              <a:buNone/>
            </a:pPr>
            <a:r>
              <a:rPr lang="en-US" sz="1500" b="1" i="1" dirty="0">
                <a:solidFill>
                  <a:schemeClr val="tx1"/>
                </a:solidFill>
              </a:rPr>
              <a:t>Angka yang ditulis di depan pemilik toko lebih meyakinkan daripada seribu kata.</a:t>
            </a:r>
            <a:endParaRPr lang="en-US" sz="1500" dirty="0"/>
          </a:p>
        </p:txBody>
      </p:sp>
      <p:sp>
        <p:nvSpPr>
          <p:cNvPr id="3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4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par>
                          <p:cTn id="33" fill="hold">
                            <p:stCondLst>
                              <p:cond delay="800"/>
                            </p:stCondLst>
                            <p:childTnLst>
                              <p:par>
                                <p:cTn id="34" presetID="10"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par>
                          <p:cTn id="49" fill="hold">
                            <p:stCondLst>
                              <p:cond delay="1200"/>
                            </p:stCondLst>
                            <p:childTnLst>
                              <p:par>
                                <p:cTn id="50" presetID="10" presetClass="entr" presetSubtype="0" fill="hold"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par>
                          <p:cTn id="65" fill="hold">
                            <p:stCondLst>
                              <p:cond delay="1600"/>
                            </p:stCondLst>
                            <p:childTnLst>
                              <p:par>
                                <p:cTn id="66" presetID="10" presetClass="entr" presetSubtype="0"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childTnLst>
                          </p:cTn>
                        </p:par>
                        <p:par>
                          <p:cTn id="81" fill="hold">
                            <p:stCondLst>
                              <p:cond delay="2000"/>
                            </p:stCondLst>
                            <p:childTnLst>
                              <p:par>
                                <p:cTn id="82" presetID="10" presetClass="entr" presetSubtype="0" fill="hold" nodeType="after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500"/>
                                        <p:tgtEl>
                                          <p:spTgt spid="32"/>
                                        </p:tgtEl>
                                      </p:cBhvr>
                                    </p:animEffect>
                                  </p:childTnLst>
                                </p:cTn>
                              </p:par>
                            </p:childTnLst>
                          </p:cTn>
                        </p:par>
                        <p:par>
                          <p:cTn id="97" fill="hold">
                            <p:stCondLst>
                              <p:cond delay="2400"/>
                            </p:stCondLst>
                            <p:childTnLst>
                              <p:par>
                                <p:cTn id="98" presetID="10" presetClass="entr" presetSubtype="0" fill="hold" nodeType="after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502920"/>
            <a:ext cx="2286000" cy="1188720"/>
          </a:xfrm>
          <a:prstGeom prst="rect">
            <a:avLst/>
          </a:prstGeom>
          <a:noFill/>
          <a:ln/>
        </p:spPr>
        <p:txBody>
          <a:bodyPr wrap="square" lIns="0" tIns="0" rIns="0" bIns="0" rtlCol="0" anchor="ctr"/>
          <a:lstStyle/>
          <a:p>
            <a:pPr marL="0" indent="0">
              <a:buNone/>
            </a:pPr>
            <a:r>
              <a:rPr lang="en-US" sz="8800" b="1" dirty="0">
                <a:solidFill>
                  <a:schemeClr val="accent1"/>
                </a:solidFill>
                <a:latin typeface="Arial" pitchFamily="34" charset="0"/>
                <a:ea typeface="Arial" pitchFamily="34" charset="-122"/>
                <a:cs typeface="Arial" pitchFamily="34" charset="-120"/>
              </a:rPr>
              <a:t>03</a:t>
            </a:r>
            <a:endParaRPr lang="en-US" sz="8800" dirty="0"/>
          </a:p>
        </p:txBody>
      </p:sp>
      <p:sp>
        <p:nvSpPr>
          <p:cNvPr id="3" name="Text 0"/>
          <p:cNvSpPr>
            <a:spLocks noGrp="1"/>
          </p:cNvSpPr>
          <p:nvPr>
            <p:ph type="title" idx="100" hasCustomPrompt="1"/>
          </p:nvPr>
        </p:nvSpPr>
        <p:spPr>
          <a:xfrm>
            <a:off x="548640" y="1874520"/>
            <a:ext cx="4846320" cy="1188720"/>
          </a:xfrm>
          <a:prstGeom prst="rect">
            <a:avLst/>
          </a:prstGeom>
          <a:noFill/>
          <a:ln/>
        </p:spPr>
        <p:txBody>
          <a:bodyPr wrap="square" lIns="0" tIns="0" rIns="0" bIns="0" rtlCol="0" anchor="t"/>
          <a:lstStyle/>
          <a:p>
            <a:pPr marL="0" indent="0" algn="l">
              <a:buNone/>
            </a:pPr>
            <a:r>
              <a:rPr lang="en-US" sz="3600" b="1" dirty="0">
                <a:solidFill>
                  <a:schemeClr val="accent1"/>
                </a:solidFill>
              </a:rPr>
              <a:t>Menjawab Keberatan “Takut Tidak Laku”</a:t>
            </a:r>
            <a:endParaRPr lang="en-US" sz="3600" dirty="0"/>
          </a:p>
        </p:txBody>
      </p:sp>
      <p:sp>
        <p:nvSpPr>
          <p:cNvPr id="4" name="Text 0"/>
          <p:cNvSpPr>
            <a:spLocks noGrp="1"/>
          </p:cNvSpPr>
          <p:nvPr>
            <p:ph type="body" idx="101" hasCustomPrompt="1"/>
          </p:nvPr>
        </p:nvSpPr>
        <p:spPr>
          <a:xfrm>
            <a:off x="548640" y="3108960"/>
            <a:ext cx="4754880" cy="731520"/>
          </a:xfrm>
          <a:prstGeom prst="rect">
            <a:avLst/>
          </a:prstGeom>
          <a:noFill/>
          <a:ln/>
        </p:spPr>
        <p:txBody>
          <a:bodyPr wrap="square" lIns="0" tIns="0" rIns="0" bIns="0" rtlCol="0" anchor="t"/>
          <a:lstStyle/>
          <a:p>
            <a:pPr marL="0" indent="0" algn="l">
              <a:buNone/>
            </a:pPr>
            <a:r>
              <a:rPr lang="en-US" sz="1800" dirty="0">
                <a:solidFill>
                  <a:schemeClr val="bg1"/>
                </a:solidFill>
              </a:rPr>
              <a:t>Keberatan bukan penolakan. Itu tanda toko sedang menimbang.</a:t>
            </a:r>
            <a:endParaRPr lang="en-US" sz="1800" dirty="0"/>
          </a:p>
        </p:txBody>
      </p:sp>
      <p:pic>
        <p:nvPicPr>
          <p:cNvPr id="5" name="a1-illus" descr="preencoded.png"/>
          <p:cNvPicPr>
            <a:picLocks noChangeAspect="1"/>
          </p:cNvPicPr>
          <p:nvPr/>
        </p:nvPicPr>
        <p:blipFill>
          <a:blip r:embed="rId3"/>
          <a:stretch>
            <a:fillRect/>
          </a:stretch>
        </p:blipFill>
        <p:spPr>
          <a:xfrm>
            <a:off x="5577840" y="1097280"/>
            <a:ext cx="2926080" cy="2651760"/>
          </a:xfrm>
          <a:prstGeom prst="rect">
            <a:avLst/>
          </a:prstGeom>
        </p:spPr>
      </p:pic>
      <p:sp>
        <p:nvSpPr>
          <p:cNvPr id="6" name="a2-topics"/>
          <p:cNvSpPr txBox="1"/>
          <p:nvPr/>
        </p:nvSpPr>
        <p:spPr>
          <a:xfrm>
            <a:off x="548640" y="4343400"/>
            <a:ext cx="8138160" cy="274320"/>
          </a:xfrm>
          <a:prstGeom prst="rect">
            <a:avLst/>
          </a:prstGeom>
          <a:noFill/>
          <a:ln/>
        </p:spPr>
        <p:txBody>
          <a:bodyPr wrap="square" lIns="0" tIns="0" rIns="0" bIns="0" rtlCol="0" anchor="t"/>
          <a:lstStyle/>
          <a:p>
            <a:pPr marL="0" indent="0">
              <a:buNone/>
            </a:pPr>
            <a:r>
              <a:rPr lang="en-US" sz="1200" dirty="0">
                <a:solidFill>
                  <a:srgbClr val="BBBBBB"/>
                </a:solidFill>
              </a:rPr>
              <a:t>Akar keberatan  ·  Teknik menggali  ·  Urutan senjata  ·  Uji coba pasti berhasil  ·  Tangga komitmen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Kalimatnya Sama, Akar Masalahnya Beda</a:t>
            </a:r>
            <a:endParaRPr lang="en-US" sz="2800" dirty="0"/>
          </a:p>
        </p:txBody>
      </p:sp>
      <p:sp>
        <p:nvSpPr>
          <p:cNvPr id="3" name="pill"/>
          <p:cNvSpPr txBox="1"/>
          <p:nvPr/>
        </p:nvSpPr>
        <p:spPr>
          <a:xfrm>
            <a:off x="457200" y="237744"/>
            <a:ext cx="231709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3.1  ·  AKAR KEBERATAN</a:t>
            </a:r>
            <a:endParaRPr lang="en-US" sz="1000" dirty="0"/>
          </a:p>
        </p:txBody>
      </p:sp>
      <p:sp>
        <p:nvSpPr>
          <p:cNvPr id="4" name="a1-root"/>
          <p:cNvSpPr/>
          <p:nvPr/>
        </p:nvSpPr>
        <p:spPr>
          <a:xfrm>
            <a:off x="457200" y="2240280"/>
            <a:ext cx="2011680" cy="1417320"/>
          </a:xfrm>
          <a:prstGeom prst="roundRect">
            <a:avLst>
              <a:gd name="adj" fmla="val 7742"/>
            </a:avLst>
          </a:prstGeom>
          <a:solidFill>
            <a:schemeClr val="tx1"/>
          </a:solidFill>
          <a:ln/>
        </p:spPr>
      </p:sp>
      <p:sp>
        <p:nvSpPr>
          <p:cNvPr id="5" name="a1-root"/>
          <p:cNvSpPr txBox="1"/>
          <p:nvPr/>
        </p:nvSpPr>
        <p:spPr>
          <a:xfrm>
            <a:off x="566928" y="2240280"/>
            <a:ext cx="1792224" cy="1417320"/>
          </a:xfrm>
          <a:prstGeom prst="rect">
            <a:avLst/>
          </a:prstGeom>
          <a:noFill/>
          <a:ln/>
        </p:spPr>
        <p:txBody>
          <a:bodyPr wrap="square" lIns="0" tIns="0" rIns="0" bIns="0" rtlCol="0" anchor="ctr"/>
          <a:lstStyle/>
          <a:p>
            <a:pPr marL="0" indent="0" algn="ctr">
              <a:buNone/>
            </a:pPr>
            <a:r>
              <a:rPr lang="en-US" sz="1800" b="1" dirty="0">
                <a:solidFill>
                  <a:schemeClr val="accent1"/>
                </a:solidFill>
              </a:rPr>
              <a:t>“Takut nggak laku”</a:t>
            </a:r>
            <a:endParaRPr lang="en-US" sz="1400" dirty="0"/>
          </a:p>
          <a:p>
            <a:pPr marL="0" indent="0" algn="ctr">
              <a:buNone/>
            </a:pPr>
            <a:r>
              <a:rPr lang="en-US" sz="1200" dirty="0">
                <a:solidFill>
                  <a:schemeClr val="bg1"/>
                </a:solidFill>
              </a:rPr>
              <a:t>yang terdengar di permukaan</a:t>
            </a:r>
            <a:endParaRPr lang="en-US" sz="1400" dirty="0"/>
          </a:p>
        </p:txBody>
      </p:sp>
      <p:sp>
        <p:nvSpPr>
          <p:cNvPr id="6" name="Text 4"/>
          <p:cNvSpPr txBox="1"/>
          <p:nvPr/>
        </p:nvSpPr>
        <p:spPr>
          <a:xfrm>
            <a:off x="2880360" y="1280160"/>
            <a:ext cx="210312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AKAR SEBENARNYA</a:t>
            </a:r>
            <a:endParaRPr lang="en-US" sz="1100" dirty="0"/>
          </a:p>
        </p:txBody>
      </p:sp>
      <p:sp>
        <p:nvSpPr>
          <p:cNvPr id="7" name="Text 5"/>
          <p:cNvSpPr txBox="1"/>
          <p:nvPr/>
        </p:nvSpPr>
        <p:spPr>
          <a:xfrm>
            <a:off x="5120640" y="1280160"/>
            <a:ext cx="356616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CARA MENJAWAB</a:t>
            </a:r>
            <a:endParaRPr lang="en-US" sz="1100" dirty="0"/>
          </a:p>
        </p:txBody>
      </p:sp>
      <p:sp>
        <p:nvSpPr>
          <p:cNvPr id="8" name="a2-r"/>
          <p:cNvSpPr/>
          <p:nvPr/>
        </p:nvSpPr>
        <p:spPr>
          <a:xfrm flipV="1">
            <a:off x="2468880" y="1783080"/>
            <a:ext cx="411480" cy="1165860"/>
          </a:xfrm>
          <a:prstGeom prst="line">
            <a:avLst/>
          </a:prstGeom>
          <a:noFill/>
          <a:ln w="25400">
            <a:solidFill>
              <a:schemeClr val="accent1"/>
            </a:solidFill>
            <a:prstDash val="solid"/>
          </a:ln>
        </p:spPr>
      </p:sp>
      <p:sp>
        <p:nvSpPr>
          <p:cNvPr id="9" name="a2-r"/>
          <p:cNvSpPr/>
          <p:nvPr/>
        </p:nvSpPr>
        <p:spPr>
          <a:xfrm>
            <a:off x="2880360" y="1572768"/>
            <a:ext cx="2148840" cy="420624"/>
          </a:xfrm>
          <a:prstGeom prst="roundRect">
            <a:avLst>
              <a:gd name="adj" fmla="val 17391"/>
            </a:avLst>
          </a:prstGeom>
          <a:solidFill>
            <a:schemeClr val="accent2"/>
          </a:solidFill>
          <a:ln/>
        </p:spPr>
      </p:sp>
      <p:sp>
        <p:nvSpPr>
          <p:cNvPr id="10" name="a2-r"/>
          <p:cNvSpPr txBox="1"/>
          <p:nvPr/>
        </p:nvSpPr>
        <p:spPr>
          <a:xfrm>
            <a:off x="2990088" y="1572768"/>
            <a:ext cx="1965960" cy="420624"/>
          </a:xfrm>
          <a:prstGeom prst="rect">
            <a:avLst/>
          </a:prstGeom>
          <a:noFill/>
          <a:ln/>
        </p:spPr>
        <p:txBody>
          <a:bodyPr wrap="square" lIns="0" tIns="0" rIns="0" bIns="0" rtlCol="0" anchor="ctr"/>
          <a:lstStyle/>
          <a:p>
            <a:pPr marL="0" indent="0">
              <a:buNone/>
            </a:pPr>
            <a:r>
              <a:rPr lang="en-US" sz="1400" b="1" dirty="0">
                <a:solidFill>
                  <a:schemeClr val="tx1"/>
                </a:solidFill>
              </a:rPr>
              <a:t>Ragu ada permintaan</a:t>
            </a:r>
            <a:endParaRPr lang="en-US" sz="1400" dirty="0"/>
          </a:p>
        </p:txBody>
      </p:sp>
      <p:sp>
        <p:nvSpPr>
          <p:cNvPr id="11" name="a2-r"/>
          <p:cNvSpPr/>
          <p:nvPr/>
        </p:nvSpPr>
        <p:spPr>
          <a:xfrm>
            <a:off x="5120640" y="1572768"/>
            <a:ext cx="3566160" cy="420624"/>
          </a:xfrm>
          <a:prstGeom prst="roundRect">
            <a:avLst>
              <a:gd name="adj" fmla="val 17391"/>
            </a:avLst>
          </a:prstGeom>
          <a:solidFill>
            <a:schemeClr val="bg2"/>
          </a:solidFill>
          <a:ln/>
        </p:spPr>
      </p:sp>
      <p:sp>
        <p:nvSpPr>
          <p:cNvPr id="12" name="a2-r"/>
          <p:cNvSpPr txBox="1"/>
          <p:nvPr/>
        </p:nvSpPr>
        <p:spPr>
          <a:xfrm>
            <a:off x="5230368" y="1572768"/>
            <a:ext cx="3383280" cy="420624"/>
          </a:xfrm>
          <a:prstGeom prst="rect">
            <a:avLst/>
          </a:prstGeom>
          <a:noFill/>
          <a:ln/>
        </p:spPr>
        <p:txBody>
          <a:bodyPr wrap="square" lIns="0" tIns="0" rIns="0" bIns="0" rtlCol="0" anchor="ctr"/>
          <a:lstStyle/>
          <a:p>
            <a:pPr marL="0" indent="0">
              <a:buNone/>
            </a:pPr>
            <a:r>
              <a:rPr lang="en-US" sz="1300" dirty="0">
                <a:solidFill>
                  <a:schemeClr val="tx1"/>
                </a:solidFill>
              </a:rPr>
              <a:t>Bukti toko sekitar + kenalkan ke tukang langganan</a:t>
            </a:r>
            <a:endParaRPr lang="en-US" sz="1300" dirty="0"/>
          </a:p>
        </p:txBody>
      </p:sp>
      <p:sp>
        <p:nvSpPr>
          <p:cNvPr id="13" name="a3-r"/>
          <p:cNvSpPr/>
          <p:nvPr/>
        </p:nvSpPr>
        <p:spPr>
          <a:xfrm flipV="1">
            <a:off x="2468880" y="2267712"/>
            <a:ext cx="411480" cy="681228"/>
          </a:xfrm>
          <a:prstGeom prst="line">
            <a:avLst/>
          </a:prstGeom>
          <a:noFill/>
          <a:ln w="25400">
            <a:solidFill>
              <a:schemeClr val="accent1"/>
            </a:solidFill>
            <a:prstDash val="solid"/>
          </a:ln>
        </p:spPr>
      </p:sp>
      <p:sp>
        <p:nvSpPr>
          <p:cNvPr id="14" name="a3-r"/>
          <p:cNvSpPr/>
          <p:nvPr/>
        </p:nvSpPr>
        <p:spPr>
          <a:xfrm>
            <a:off x="2880360" y="2057400"/>
            <a:ext cx="2148840" cy="420624"/>
          </a:xfrm>
          <a:prstGeom prst="roundRect">
            <a:avLst>
              <a:gd name="adj" fmla="val 17391"/>
            </a:avLst>
          </a:prstGeom>
          <a:solidFill>
            <a:schemeClr val="accent2"/>
          </a:solidFill>
          <a:ln/>
        </p:spPr>
      </p:sp>
      <p:sp>
        <p:nvSpPr>
          <p:cNvPr id="15" name="a3-r"/>
          <p:cNvSpPr txBox="1"/>
          <p:nvPr/>
        </p:nvSpPr>
        <p:spPr>
          <a:xfrm>
            <a:off x="2990088" y="2057400"/>
            <a:ext cx="1965960" cy="420624"/>
          </a:xfrm>
          <a:prstGeom prst="rect">
            <a:avLst/>
          </a:prstGeom>
          <a:noFill/>
          <a:ln/>
        </p:spPr>
        <p:txBody>
          <a:bodyPr wrap="square" lIns="0" tIns="0" rIns="0" bIns="0" rtlCol="0" anchor="ctr"/>
          <a:lstStyle/>
          <a:p>
            <a:pPr marL="0" indent="0">
              <a:buNone/>
            </a:pPr>
            <a:r>
              <a:rPr lang="en-US" sz="1400" b="1" dirty="0">
                <a:solidFill>
                  <a:schemeClr val="tx1"/>
                </a:solidFill>
              </a:rPr>
              <a:t>Modal terbatas</a:t>
            </a:r>
            <a:endParaRPr lang="en-US" sz="1400" dirty="0"/>
          </a:p>
        </p:txBody>
      </p:sp>
      <p:sp>
        <p:nvSpPr>
          <p:cNvPr id="16" name="a3-r"/>
          <p:cNvSpPr/>
          <p:nvPr/>
        </p:nvSpPr>
        <p:spPr>
          <a:xfrm>
            <a:off x="5120640" y="2057400"/>
            <a:ext cx="3566160" cy="420624"/>
          </a:xfrm>
          <a:prstGeom prst="roundRect">
            <a:avLst>
              <a:gd name="adj" fmla="val 17391"/>
            </a:avLst>
          </a:prstGeom>
          <a:solidFill>
            <a:schemeClr val="bg2"/>
          </a:solidFill>
          <a:ln/>
        </p:spPr>
      </p:sp>
      <p:sp>
        <p:nvSpPr>
          <p:cNvPr id="17" name="a3-r"/>
          <p:cNvSpPr txBox="1"/>
          <p:nvPr/>
        </p:nvSpPr>
        <p:spPr>
          <a:xfrm>
            <a:off x="5230368" y="2057400"/>
            <a:ext cx="3383280" cy="420624"/>
          </a:xfrm>
          <a:prstGeom prst="rect">
            <a:avLst/>
          </a:prstGeom>
          <a:noFill/>
          <a:ln/>
        </p:spPr>
        <p:txBody>
          <a:bodyPr wrap="square" lIns="0" tIns="0" rIns="0" bIns="0" rtlCol="0" anchor="ctr"/>
          <a:lstStyle/>
          <a:p>
            <a:pPr marL="0" indent="0">
              <a:buNone/>
            </a:pPr>
            <a:r>
              <a:rPr lang="en-US" sz="1300" dirty="0">
                <a:solidFill>
                  <a:schemeClr val="tx1"/>
                </a:solidFill>
              </a:rPr>
              <a:t>Order kecil + manfaatkan tempo (modal nol)</a:t>
            </a:r>
            <a:endParaRPr lang="en-US" sz="1300" dirty="0"/>
          </a:p>
        </p:txBody>
      </p:sp>
      <p:sp>
        <p:nvSpPr>
          <p:cNvPr id="18" name="a4-r"/>
          <p:cNvSpPr/>
          <p:nvPr/>
        </p:nvSpPr>
        <p:spPr>
          <a:xfrm flipV="1">
            <a:off x="2468880" y="2752344"/>
            <a:ext cx="411480" cy="196596"/>
          </a:xfrm>
          <a:prstGeom prst="line">
            <a:avLst/>
          </a:prstGeom>
          <a:noFill/>
          <a:ln w="25400">
            <a:solidFill>
              <a:schemeClr val="accent1"/>
            </a:solidFill>
            <a:prstDash val="solid"/>
          </a:ln>
        </p:spPr>
      </p:sp>
      <p:sp>
        <p:nvSpPr>
          <p:cNvPr id="19" name="a4-r"/>
          <p:cNvSpPr/>
          <p:nvPr/>
        </p:nvSpPr>
        <p:spPr>
          <a:xfrm>
            <a:off x="2880360" y="2542032"/>
            <a:ext cx="2148840" cy="420624"/>
          </a:xfrm>
          <a:prstGeom prst="roundRect">
            <a:avLst>
              <a:gd name="adj" fmla="val 17391"/>
            </a:avLst>
          </a:prstGeom>
          <a:solidFill>
            <a:schemeClr val="accent2"/>
          </a:solidFill>
          <a:ln/>
        </p:spPr>
      </p:sp>
      <p:sp>
        <p:nvSpPr>
          <p:cNvPr id="20" name="a4-r"/>
          <p:cNvSpPr txBox="1"/>
          <p:nvPr/>
        </p:nvSpPr>
        <p:spPr>
          <a:xfrm>
            <a:off x="2990088" y="2542032"/>
            <a:ext cx="1965960" cy="420624"/>
          </a:xfrm>
          <a:prstGeom prst="rect">
            <a:avLst/>
          </a:prstGeom>
          <a:noFill/>
          <a:ln/>
        </p:spPr>
        <p:txBody>
          <a:bodyPr wrap="square" lIns="0" tIns="0" rIns="0" bIns="0" rtlCol="0" anchor="ctr"/>
          <a:lstStyle/>
          <a:p>
            <a:pPr marL="0" indent="0">
              <a:buNone/>
            </a:pPr>
            <a:r>
              <a:rPr lang="en-US" sz="1400" b="1" dirty="0">
                <a:solidFill>
                  <a:schemeClr val="tx1"/>
                </a:solidFill>
              </a:rPr>
              <a:t>Gudang penuh</a:t>
            </a:r>
            <a:endParaRPr lang="en-US" sz="1400" dirty="0"/>
          </a:p>
        </p:txBody>
      </p:sp>
      <p:sp>
        <p:nvSpPr>
          <p:cNvPr id="21" name="a4-r"/>
          <p:cNvSpPr/>
          <p:nvPr/>
        </p:nvSpPr>
        <p:spPr>
          <a:xfrm>
            <a:off x="5120640" y="2542032"/>
            <a:ext cx="3566160" cy="420624"/>
          </a:xfrm>
          <a:prstGeom prst="roundRect">
            <a:avLst>
              <a:gd name="adj" fmla="val 17391"/>
            </a:avLst>
          </a:prstGeom>
          <a:solidFill>
            <a:schemeClr val="bg2"/>
          </a:solidFill>
          <a:ln/>
        </p:spPr>
      </p:sp>
      <p:sp>
        <p:nvSpPr>
          <p:cNvPr id="22" name="a4-r"/>
          <p:cNvSpPr txBox="1"/>
          <p:nvPr/>
        </p:nvSpPr>
        <p:spPr>
          <a:xfrm>
            <a:off x="5230368" y="2542032"/>
            <a:ext cx="3383280" cy="420624"/>
          </a:xfrm>
          <a:prstGeom prst="rect">
            <a:avLst/>
          </a:prstGeom>
          <a:noFill/>
          <a:ln/>
        </p:spPr>
        <p:txBody>
          <a:bodyPr wrap="square" lIns="0" tIns="0" rIns="0" bIns="0" rtlCol="0" anchor="ctr"/>
          <a:lstStyle/>
          <a:p>
            <a:pPr marL="0" indent="0">
              <a:buNone/>
            </a:pPr>
            <a:r>
              <a:rPr lang="en-US" sz="1300" dirty="0">
                <a:solidFill>
                  <a:schemeClr val="tx1"/>
                </a:solidFill>
              </a:rPr>
              <a:t>Order kecil, pengiriman lebih sering</a:t>
            </a:r>
            <a:endParaRPr lang="en-US" sz="1300" dirty="0"/>
          </a:p>
        </p:txBody>
      </p:sp>
      <p:sp>
        <p:nvSpPr>
          <p:cNvPr id="23" name="a5-r"/>
          <p:cNvSpPr/>
          <p:nvPr/>
        </p:nvSpPr>
        <p:spPr>
          <a:xfrm>
            <a:off x="2468880" y="2948940"/>
            <a:ext cx="411480" cy="288036"/>
          </a:xfrm>
          <a:prstGeom prst="line">
            <a:avLst/>
          </a:prstGeom>
          <a:noFill/>
          <a:ln w="25400">
            <a:solidFill>
              <a:schemeClr val="accent1"/>
            </a:solidFill>
            <a:prstDash val="solid"/>
          </a:ln>
        </p:spPr>
      </p:sp>
      <p:sp>
        <p:nvSpPr>
          <p:cNvPr id="24" name="a5-r"/>
          <p:cNvSpPr/>
          <p:nvPr/>
        </p:nvSpPr>
        <p:spPr>
          <a:xfrm>
            <a:off x="2880360" y="3026664"/>
            <a:ext cx="2148840" cy="420624"/>
          </a:xfrm>
          <a:prstGeom prst="roundRect">
            <a:avLst>
              <a:gd name="adj" fmla="val 17391"/>
            </a:avLst>
          </a:prstGeom>
          <a:solidFill>
            <a:schemeClr val="accent2"/>
          </a:solidFill>
          <a:ln/>
        </p:spPr>
      </p:sp>
      <p:sp>
        <p:nvSpPr>
          <p:cNvPr id="25" name="a5-r"/>
          <p:cNvSpPr txBox="1"/>
          <p:nvPr/>
        </p:nvSpPr>
        <p:spPr>
          <a:xfrm>
            <a:off x="2990088" y="3026664"/>
            <a:ext cx="1965960" cy="420624"/>
          </a:xfrm>
          <a:prstGeom prst="rect">
            <a:avLst/>
          </a:prstGeom>
          <a:noFill/>
          <a:ln/>
        </p:spPr>
        <p:txBody>
          <a:bodyPr wrap="square" lIns="0" tIns="0" rIns="0" bIns="0" rtlCol="0" anchor="ctr"/>
          <a:lstStyle/>
          <a:p>
            <a:pPr marL="0" indent="0">
              <a:buNone/>
            </a:pPr>
            <a:r>
              <a:rPr lang="en-US" sz="1400" b="1" dirty="0">
                <a:solidFill>
                  <a:schemeClr val="tx1"/>
                </a:solidFill>
              </a:rPr>
              <a:t>Pengalaman buruk dulu</a:t>
            </a:r>
            <a:endParaRPr lang="en-US" sz="1400" dirty="0"/>
          </a:p>
        </p:txBody>
      </p:sp>
      <p:sp>
        <p:nvSpPr>
          <p:cNvPr id="26" name="a5-r"/>
          <p:cNvSpPr/>
          <p:nvPr/>
        </p:nvSpPr>
        <p:spPr>
          <a:xfrm>
            <a:off x="5120640" y="3026664"/>
            <a:ext cx="3566160" cy="420624"/>
          </a:xfrm>
          <a:prstGeom prst="roundRect">
            <a:avLst>
              <a:gd name="adj" fmla="val 17391"/>
            </a:avLst>
          </a:prstGeom>
          <a:solidFill>
            <a:schemeClr val="bg2"/>
          </a:solidFill>
          <a:ln/>
        </p:spPr>
      </p:sp>
      <p:sp>
        <p:nvSpPr>
          <p:cNvPr id="27" name="a5-r"/>
          <p:cNvSpPr txBox="1"/>
          <p:nvPr/>
        </p:nvSpPr>
        <p:spPr>
          <a:xfrm>
            <a:off x="5230368" y="3026664"/>
            <a:ext cx="3383280" cy="420624"/>
          </a:xfrm>
          <a:prstGeom prst="rect">
            <a:avLst/>
          </a:prstGeom>
          <a:noFill/>
          <a:ln/>
        </p:spPr>
        <p:txBody>
          <a:bodyPr wrap="square" lIns="0" tIns="0" rIns="0" bIns="0" rtlCol="0" anchor="ctr"/>
          <a:lstStyle/>
          <a:p>
            <a:pPr marL="0" indent="0">
              <a:buNone/>
            </a:pPr>
            <a:r>
              <a:rPr lang="en-US" sz="1300" dirty="0">
                <a:solidFill>
                  <a:schemeClr val="tx1"/>
                </a:solidFill>
              </a:rPr>
              <a:t>Gali penyebabnya, tunjukkan bedanya sekarang</a:t>
            </a:r>
            <a:endParaRPr lang="en-US" sz="1300" dirty="0"/>
          </a:p>
        </p:txBody>
      </p:sp>
      <p:sp>
        <p:nvSpPr>
          <p:cNvPr id="28" name="a6-r"/>
          <p:cNvSpPr/>
          <p:nvPr/>
        </p:nvSpPr>
        <p:spPr>
          <a:xfrm>
            <a:off x="2468880" y="2948940"/>
            <a:ext cx="411480" cy="772668"/>
          </a:xfrm>
          <a:prstGeom prst="line">
            <a:avLst/>
          </a:prstGeom>
          <a:noFill/>
          <a:ln w="25400">
            <a:solidFill>
              <a:schemeClr val="accent1"/>
            </a:solidFill>
            <a:prstDash val="solid"/>
          </a:ln>
        </p:spPr>
      </p:sp>
      <p:sp>
        <p:nvSpPr>
          <p:cNvPr id="29" name="a6-r"/>
          <p:cNvSpPr/>
          <p:nvPr/>
        </p:nvSpPr>
        <p:spPr>
          <a:xfrm>
            <a:off x="2880360" y="3511296"/>
            <a:ext cx="2148840" cy="420624"/>
          </a:xfrm>
          <a:prstGeom prst="roundRect">
            <a:avLst>
              <a:gd name="adj" fmla="val 17391"/>
            </a:avLst>
          </a:prstGeom>
          <a:solidFill>
            <a:schemeClr val="accent2"/>
          </a:solidFill>
          <a:ln/>
        </p:spPr>
      </p:sp>
      <p:sp>
        <p:nvSpPr>
          <p:cNvPr id="30" name="a6-r"/>
          <p:cNvSpPr txBox="1"/>
          <p:nvPr/>
        </p:nvSpPr>
        <p:spPr>
          <a:xfrm>
            <a:off x="2990088" y="3511296"/>
            <a:ext cx="1965960" cy="420624"/>
          </a:xfrm>
          <a:prstGeom prst="rect">
            <a:avLst/>
          </a:prstGeom>
          <a:noFill/>
          <a:ln/>
        </p:spPr>
        <p:txBody>
          <a:bodyPr wrap="square" lIns="0" tIns="0" rIns="0" bIns="0" rtlCol="0" anchor="ctr"/>
          <a:lstStyle/>
          <a:p>
            <a:pPr marL="0" indent="0">
              <a:buNone/>
            </a:pPr>
            <a:r>
              <a:rPr lang="en-US" sz="1400" b="1" dirty="0">
                <a:solidFill>
                  <a:schemeClr val="tx1"/>
                </a:solidFill>
              </a:rPr>
              <a:t>Loyal ke kompetitor</a:t>
            </a:r>
            <a:endParaRPr lang="en-US" sz="1400" dirty="0"/>
          </a:p>
        </p:txBody>
      </p:sp>
      <p:sp>
        <p:nvSpPr>
          <p:cNvPr id="31" name="a6-r"/>
          <p:cNvSpPr/>
          <p:nvPr/>
        </p:nvSpPr>
        <p:spPr>
          <a:xfrm>
            <a:off x="5120640" y="3511296"/>
            <a:ext cx="3566160" cy="420624"/>
          </a:xfrm>
          <a:prstGeom prst="roundRect">
            <a:avLst>
              <a:gd name="adj" fmla="val 17391"/>
            </a:avLst>
          </a:prstGeom>
          <a:solidFill>
            <a:schemeClr val="bg2"/>
          </a:solidFill>
          <a:ln/>
        </p:spPr>
      </p:sp>
      <p:sp>
        <p:nvSpPr>
          <p:cNvPr id="32" name="a6-r"/>
          <p:cNvSpPr txBox="1"/>
          <p:nvPr/>
        </p:nvSpPr>
        <p:spPr>
          <a:xfrm>
            <a:off x="5230368" y="3511296"/>
            <a:ext cx="3383280" cy="420624"/>
          </a:xfrm>
          <a:prstGeom prst="rect">
            <a:avLst/>
          </a:prstGeom>
          <a:noFill/>
          <a:ln/>
        </p:spPr>
        <p:txBody>
          <a:bodyPr wrap="square" lIns="0" tIns="0" rIns="0" bIns="0" rtlCol="0" anchor="ctr"/>
          <a:lstStyle/>
          <a:p>
            <a:pPr marL="0" indent="0">
              <a:buNone/>
            </a:pPr>
            <a:r>
              <a:rPr lang="en-US" sz="1300" dirty="0">
                <a:solidFill>
                  <a:schemeClr val="tx1"/>
                </a:solidFill>
              </a:rPr>
              <a:t>Jadi cadangan saat stok mereka kosong</a:t>
            </a:r>
            <a:endParaRPr lang="en-US" sz="1300" dirty="0"/>
          </a:p>
        </p:txBody>
      </p:sp>
      <p:sp>
        <p:nvSpPr>
          <p:cNvPr id="33" name="a7-r"/>
          <p:cNvSpPr/>
          <p:nvPr/>
        </p:nvSpPr>
        <p:spPr>
          <a:xfrm>
            <a:off x="2468880" y="2948940"/>
            <a:ext cx="411480" cy="1257300"/>
          </a:xfrm>
          <a:prstGeom prst="line">
            <a:avLst/>
          </a:prstGeom>
          <a:noFill/>
          <a:ln w="25400">
            <a:solidFill>
              <a:schemeClr val="accent1"/>
            </a:solidFill>
            <a:prstDash val="solid"/>
          </a:ln>
        </p:spPr>
      </p:sp>
      <p:sp>
        <p:nvSpPr>
          <p:cNvPr id="34" name="a7-r"/>
          <p:cNvSpPr/>
          <p:nvPr/>
        </p:nvSpPr>
        <p:spPr>
          <a:xfrm>
            <a:off x="2880360" y="3995928"/>
            <a:ext cx="2148840" cy="420624"/>
          </a:xfrm>
          <a:prstGeom prst="roundRect">
            <a:avLst>
              <a:gd name="adj" fmla="val 17391"/>
            </a:avLst>
          </a:prstGeom>
          <a:solidFill>
            <a:schemeClr val="accent2"/>
          </a:solidFill>
          <a:ln/>
        </p:spPr>
      </p:sp>
      <p:sp>
        <p:nvSpPr>
          <p:cNvPr id="35" name="a7-r"/>
          <p:cNvSpPr txBox="1"/>
          <p:nvPr/>
        </p:nvSpPr>
        <p:spPr>
          <a:xfrm>
            <a:off x="2990088" y="3995928"/>
            <a:ext cx="1965960" cy="420624"/>
          </a:xfrm>
          <a:prstGeom prst="rect">
            <a:avLst/>
          </a:prstGeom>
          <a:noFill/>
          <a:ln/>
        </p:spPr>
        <p:txBody>
          <a:bodyPr wrap="square" lIns="0" tIns="0" rIns="0" bIns="0" rtlCol="0" anchor="ctr"/>
          <a:lstStyle/>
          <a:p>
            <a:pPr marL="0" indent="0">
              <a:buNone/>
            </a:pPr>
            <a:r>
              <a:rPr lang="en-US" sz="1400" b="1" dirty="0">
                <a:solidFill>
                  <a:schemeClr val="tx1"/>
                </a:solidFill>
              </a:rPr>
              <a:t>Belum percaya ke kita</a:t>
            </a:r>
            <a:endParaRPr lang="en-US" sz="1400" dirty="0"/>
          </a:p>
        </p:txBody>
      </p:sp>
      <p:sp>
        <p:nvSpPr>
          <p:cNvPr id="36" name="a7-r"/>
          <p:cNvSpPr/>
          <p:nvPr/>
        </p:nvSpPr>
        <p:spPr>
          <a:xfrm>
            <a:off x="5120640" y="3995928"/>
            <a:ext cx="3566160" cy="420624"/>
          </a:xfrm>
          <a:prstGeom prst="roundRect">
            <a:avLst>
              <a:gd name="adj" fmla="val 17391"/>
            </a:avLst>
          </a:prstGeom>
          <a:solidFill>
            <a:schemeClr val="bg2"/>
          </a:solidFill>
          <a:ln/>
        </p:spPr>
      </p:sp>
      <p:sp>
        <p:nvSpPr>
          <p:cNvPr id="37" name="a7-r"/>
          <p:cNvSpPr txBox="1"/>
          <p:nvPr/>
        </p:nvSpPr>
        <p:spPr>
          <a:xfrm>
            <a:off x="5230368" y="3995928"/>
            <a:ext cx="3383280" cy="420624"/>
          </a:xfrm>
          <a:prstGeom prst="rect">
            <a:avLst/>
          </a:prstGeom>
          <a:noFill/>
          <a:ln/>
        </p:spPr>
        <p:txBody>
          <a:bodyPr wrap="square" lIns="0" tIns="0" rIns="0" bIns="0" rtlCol="0" anchor="ctr"/>
          <a:lstStyle/>
          <a:p>
            <a:pPr marL="0" indent="0">
              <a:buNone/>
            </a:pPr>
            <a:r>
              <a:rPr lang="en-US" sz="1300" dirty="0">
                <a:solidFill>
                  <a:schemeClr val="tx1"/>
                </a:solidFill>
              </a:rPr>
              <a:t>Jangan memaksa. Tepati janji kecil dulu</a:t>
            </a:r>
            <a:endParaRPr lang="en-US" sz="1300" dirty="0"/>
          </a:p>
        </p:txBody>
      </p:sp>
      <p:sp>
        <p:nvSpPr>
          <p:cNvPr id="38"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400"/>
                            </p:stCondLst>
                            <p:childTnLst>
                              <p:par>
                                <p:cTn id="12" presetID="10"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par>
                          <p:cTn id="27" fill="hold">
                            <p:stCondLst>
                              <p:cond delay="800"/>
                            </p:stCondLst>
                            <p:childTnLst>
                              <p:par>
                                <p:cTn id="28" presetID="10" presetClass="entr" presetSubtype="0"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childTnLst>
                          </p:cTn>
                        </p:par>
                        <p:par>
                          <p:cTn id="59" fill="hold">
                            <p:stCondLst>
                              <p:cond delay="1600"/>
                            </p:stCondLst>
                            <p:childTnLst>
                              <p:par>
                                <p:cTn id="60" presetID="10" presetClass="entr" presetSubtype="0" fill="hold" nodeType="after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par>
                                <p:cTn id="72" presetID="10" presetClass="entr" presetSubtype="0"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childTnLst>
                          </p:cTn>
                        </p:par>
                        <p:par>
                          <p:cTn id="75" fill="hold">
                            <p:stCondLst>
                              <p:cond delay="2000"/>
                            </p:stCondLst>
                            <p:childTnLst>
                              <p:par>
                                <p:cTn id="76" presetID="10" presetClass="entr" presetSubtype="0" fill="hold" nodeType="after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childTnLst>
                          </p:cTn>
                        </p:par>
                        <p:par>
                          <p:cTn id="91" fill="hold">
                            <p:stCondLst>
                              <p:cond delay="2400"/>
                            </p:stCondLst>
                            <p:childTnLst>
                              <p:par>
                                <p:cTn id="92" presetID="10" presetClass="entr" presetSubtype="0" fill="hold" nodeType="after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500"/>
                                        <p:tgtEl>
                                          <p:spTgt spid="33"/>
                                        </p:tgtEl>
                                      </p:cBhvr>
                                    </p:animEffect>
                                  </p:childTnLst>
                                </p:cTn>
                              </p:par>
                              <p:par>
                                <p:cTn id="95" presetID="10" presetClass="entr" presetSubtype="0" fill="hold"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par>
                                <p:cTn id="98" presetID="10" presetClass="entr" presetSubtype="0" fill="hold"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500"/>
                                        <p:tgtEl>
                                          <p:spTgt spid="35"/>
                                        </p:tgtEl>
                                      </p:cBhvr>
                                    </p:animEffect>
                                  </p:childTnLst>
                                </p:cTn>
                              </p:par>
                              <p:par>
                                <p:cTn id="101" presetID="10" presetClass="entr" presetSubtype="0" fill="hold"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500"/>
                                        <p:tgtEl>
                                          <p:spTgt spid="36"/>
                                        </p:tgtEl>
                                      </p:cBhvr>
                                    </p:animEffect>
                                  </p:childTnLst>
                                </p:cTn>
                              </p:par>
                              <p:par>
                                <p:cTn id="104" presetID="10" presetClass="entr" presetSubtype="0" fill="hold"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Gali Dulu, Baru Jawab</a:t>
            </a:r>
            <a:endParaRPr lang="en-US" sz="2800" dirty="0"/>
          </a:p>
        </p:txBody>
      </p:sp>
      <p:sp>
        <p:nvSpPr>
          <p:cNvPr id="3" name="pill"/>
          <p:cNvSpPr txBox="1"/>
          <p:nvPr/>
        </p:nvSpPr>
        <p:spPr>
          <a:xfrm>
            <a:off x="457200" y="237744"/>
            <a:ext cx="2388413"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3.2  ·  TEKNIK MENGGALI</a:t>
            </a:r>
            <a:endParaRPr lang="en-US" sz="1000" dirty="0"/>
          </a:p>
        </p:txBody>
      </p:sp>
      <p:sp>
        <p:nvSpPr>
          <p:cNvPr id="4" name="a1-s"/>
          <p:cNvSpPr/>
          <p:nvPr/>
        </p:nvSpPr>
        <p:spPr>
          <a:xfrm>
            <a:off x="457200" y="1325880"/>
            <a:ext cx="1874520" cy="1234440"/>
          </a:xfrm>
          <a:prstGeom prst="roundRect">
            <a:avLst>
              <a:gd name="adj" fmla="val 8889"/>
            </a:avLst>
          </a:prstGeom>
          <a:solidFill>
            <a:schemeClr val="bg2"/>
          </a:solidFill>
          <a:ln/>
        </p:spPr>
      </p:sp>
      <p:sp>
        <p:nvSpPr>
          <p:cNvPr id="5" name="a1-s"/>
          <p:cNvSpPr txBox="1"/>
          <p:nvPr/>
        </p:nvSpPr>
        <p:spPr>
          <a:xfrm>
            <a:off x="576072" y="1417320"/>
            <a:ext cx="1645920" cy="109728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1  Dengarkan</a:t>
            </a:r>
            <a:endParaRPr lang="en-US" sz="1400" dirty="0"/>
          </a:p>
          <a:p>
            <a:pPr marL="0" indent="0">
              <a:spcAft>
                <a:spcPts val="400"/>
              </a:spcAft>
              <a:buNone/>
            </a:pPr>
            <a:r>
              <a:rPr lang="en-US" sz="1300" dirty="0">
                <a:solidFill>
                  <a:schemeClr val="tx2"/>
                </a:solidFill>
              </a:rPr>
              <a:t>Sampai selesai, jangan memotong.</a:t>
            </a:r>
            <a:endParaRPr lang="en-US" sz="1400" dirty="0"/>
          </a:p>
        </p:txBody>
      </p:sp>
      <p:sp>
        <p:nvSpPr>
          <p:cNvPr id="6" name="a2-s"/>
          <p:cNvSpPr/>
          <p:nvPr/>
        </p:nvSpPr>
        <p:spPr>
          <a:xfrm>
            <a:off x="2350008" y="1938528"/>
            <a:ext cx="192024" cy="914"/>
          </a:xfrm>
          <a:prstGeom prst="line">
            <a:avLst/>
          </a:prstGeom>
          <a:noFill/>
          <a:ln w="28575">
            <a:solidFill>
              <a:schemeClr val="tx1"/>
            </a:solidFill>
            <a:prstDash val="solid"/>
            <a:tailEnd type="triangle"/>
          </a:ln>
        </p:spPr>
      </p:sp>
      <p:sp>
        <p:nvSpPr>
          <p:cNvPr id="7" name="a2-s"/>
          <p:cNvSpPr/>
          <p:nvPr/>
        </p:nvSpPr>
        <p:spPr>
          <a:xfrm>
            <a:off x="2560320" y="1325880"/>
            <a:ext cx="1874520" cy="1234440"/>
          </a:xfrm>
          <a:prstGeom prst="roundRect">
            <a:avLst>
              <a:gd name="adj" fmla="val 8889"/>
            </a:avLst>
          </a:prstGeom>
          <a:solidFill>
            <a:schemeClr val="bg2"/>
          </a:solidFill>
          <a:ln/>
        </p:spPr>
      </p:sp>
      <p:sp>
        <p:nvSpPr>
          <p:cNvPr id="8" name="a2-s"/>
          <p:cNvSpPr txBox="1"/>
          <p:nvPr/>
        </p:nvSpPr>
        <p:spPr>
          <a:xfrm>
            <a:off x="2679192" y="1417320"/>
            <a:ext cx="1645920" cy="109728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2  Akui</a:t>
            </a:r>
            <a:endParaRPr lang="en-US" sz="1400" dirty="0"/>
          </a:p>
          <a:p>
            <a:pPr marL="0" indent="0">
              <a:spcAft>
                <a:spcPts val="400"/>
              </a:spcAft>
              <a:buNone/>
            </a:pPr>
            <a:r>
              <a:rPr lang="en-US" sz="1300" dirty="0">
                <a:solidFill>
                  <a:schemeClr val="tx2"/>
                </a:solidFill>
              </a:rPr>
              <a:t>“Wajar, Pak, barang baru memang belum tentu langsung jalan.”</a:t>
            </a:r>
            <a:endParaRPr lang="en-US" sz="1400" dirty="0"/>
          </a:p>
        </p:txBody>
      </p:sp>
      <p:sp>
        <p:nvSpPr>
          <p:cNvPr id="9" name="a3-s"/>
          <p:cNvSpPr/>
          <p:nvPr/>
        </p:nvSpPr>
        <p:spPr>
          <a:xfrm>
            <a:off x="4453128" y="1938528"/>
            <a:ext cx="192024" cy="914"/>
          </a:xfrm>
          <a:prstGeom prst="line">
            <a:avLst/>
          </a:prstGeom>
          <a:noFill/>
          <a:ln w="28575">
            <a:solidFill>
              <a:schemeClr val="tx1"/>
            </a:solidFill>
            <a:prstDash val="solid"/>
            <a:tailEnd type="triangle"/>
          </a:ln>
        </p:spPr>
      </p:sp>
      <p:sp>
        <p:nvSpPr>
          <p:cNvPr id="10" name="a3-s"/>
          <p:cNvSpPr/>
          <p:nvPr/>
        </p:nvSpPr>
        <p:spPr>
          <a:xfrm>
            <a:off x="4663440" y="1325880"/>
            <a:ext cx="1874520" cy="1234440"/>
          </a:xfrm>
          <a:prstGeom prst="roundRect">
            <a:avLst>
              <a:gd name="adj" fmla="val 8889"/>
            </a:avLst>
          </a:prstGeom>
          <a:solidFill>
            <a:schemeClr val="bg2"/>
          </a:solidFill>
          <a:ln/>
        </p:spPr>
      </p:sp>
      <p:sp>
        <p:nvSpPr>
          <p:cNvPr id="11" name="a3-s"/>
          <p:cNvSpPr txBox="1"/>
          <p:nvPr/>
        </p:nvSpPr>
        <p:spPr>
          <a:xfrm>
            <a:off x="4782312" y="1417320"/>
            <a:ext cx="1645920" cy="109728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3  Beri bukti</a:t>
            </a:r>
            <a:endParaRPr lang="en-US" sz="1400" dirty="0"/>
          </a:p>
          <a:p>
            <a:pPr marL="0" indent="0">
              <a:spcAft>
                <a:spcPts val="400"/>
              </a:spcAft>
              <a:buNone/>
            </a:pPr>
            <a:r>
              <a:rPr lang="en-US" sz="1300" dirty="0">
                <a:solidFill>
                  <a:schemeClr val="tx2"/>
                </a:solidFill>
              </a:rPr>
              <a:t>Data toko lain dan kebutuhan toko ini.</a:t>
            </a:r>
            <a:endParaRPr lang="en-US" sz="1400" dirty="0"/>
          </a:p>
        </p:txBody>
      </p:sp>
      <p:sp>
        <p:nvSpPr>
          <p:cNvPr id="12" name="a4-s"/>
          <p:cNvSpPr/>
          <p:nvPr/>
        </p:nvSpPr>
        <p:spPr>
          <a:xfrm>
            <a:off x="6556248" y="1938528"/>
            <a:ext cx="192024" cy="914"/>
          </a:xfrm>
          <a:prstGeom prst="line">
            <a:avLst/>
          </a:prstGeom>
          <a:noFill/>
          <a:ln w="28575">
            <a:solidFill>
              <a:schemeClr val="tx1"/>
            </a:solidFill>
            <a:prstDash val="solid"/>
            <a:tailEnd type="triangle"/>
          </a:ln>
        </p:spPr>
      </p:sp>
      <p:sp>
        <p:nvSpPr>
          <p:cNvPr id="13" name="a4-s"/>
          <p:cNvSpPr/>
          <p:nvPr/>
        </p:nvSpPr>
        <p:spPr>
          <a:xfrm>
            <a:off x="6766560" y="1325880"/>
            <a:ext cx="1874520" cy="1234440"/>
          </a:xfrm>
          <a:prstGeom prst="roundRect">
            <a:avLst>
              <a:gd name="adj" fmla="val 8889"/>
            </a:avLst>
          </a:prstGeom>
          <a:solidFill>
            <a:schemeClr val="accent1"/>
          </a:solidFill>
          <a:ln/>
        </p:spPr>
      </p:sp>
      <p:sp>
        <p:nvSpPr>
          <p:cNvPr id="14" name="a4-s"/>
          <p:cNvSpPr txBox="1"/>
          <p:nvPr/>
        </p:nvSpPr>
        <p:spPr>
          <a:xfrm>
            <a:off x="6885432" y="1417320"/>
            <a:ext cx="1645920" cy="109728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4  Langkah kecil</a:t>
            </a:r>
            <a:endParaRPr lang="en-US" sz="1400" dirty="0"/>
          </a:p>
          <a:p>
            <a:pPr marL="0" indent="0">
              <a:spcAft>
                <a:spcPts val="400"/>
              </a:spcAft>
              <a:buNone/>
            </a:pPr>
            <a:r>
              <a:rPr lang="en-US" sz="1300" dirty="0">
                <a:solidFill>
                  <a:schemeClr val="tx2"/>
                </a:solidFill>
              </a:rPr>
              <a:t>“Ambil sedikit dulu buat tes, Pak?”</a:t>
            </a:r>
            <a:endParaRPr lang="en-US" sz="1400" dirty="0"/>
          </a:p>
        </p:txBody>
      </p:sp>
      <p:sp>
        <p:nvSpPr>
          <p:cNvPr id="15" name="a5-h"/>
          <p:cNvSpPr txBox="1"/>
          <p:nvPr/>
        </p:nvSpPr>
        <p:spPr>
          <a:xfrm>
            <a:off x="457200" y="2706624"/>
            <a:ext cx="822960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DUA PERTANYAAN UNTUK MENEMUKAN AKARNYA</a:t>
            </a:r>
            <a:endParaRPr lang="en-US" sz="1100" dirty="0"/>
          </a:p>
        </p:txBody>
      </p:sp>
      <p:sp>
        <p:nvSpPr>
          <p:cNvPr id="16" name="a5-b1"/>
          <p:cNvSpPr/>
          <p:nvPr/>
        </p:nvSpPr>
        <p:spPr>
          <a:xfrm>
            <a:off x="457200" y="2971800"/>
            <a:ext cx="4023360" cy="1554480"/>
          </a:xfrm>
          <a:prstGeom prst="roundRect">
            <a:avLst>
              <a:gd name="adj" fmla="val 7059"/>
            </a:avLst>
          </a:prstGeom>
          <a:solidFill>
            <a:schemeClr val="accent1"/>
          </a:solidFill>
          <a:ln/>
        </p:spPr>
      </p:sp>
      <p:sp>
        <p:nvSpPr>
          <p:cNvPr id="17" name="a5-b1"/>
          <p:cNvSpPr/>
          <p:nvPr/>
        </p:nvSpPr>
        <p:spPr>
          <a:xfrm>
            <a:off x="621792" y="3127248"/>
            <a:ext cx="502920" cy="502920"/>
          </a:xfrm>
          <a:prstGeom prst="ellipse">
            <a:avLst/>
          </a:prstGeom>
          <a:solidFill>
            <a:schemeClr val="tx1"/>
          </a:solidFill>
          <a:ln/>
        </p:spPr>
      </p:sp>
      <p:pic>
        <p:nvPicPr>
          <p:cNvPr id="18" name="a5-b1" descr="preencoded.png"/>
          <p:cNvPicPr>
            <a:picLocks noChangeAspect="1"/>
          </p:cNvPicPr>
          <p:nvPr/>
        </p:nvPicPr>
        <p:blipFill>
          <a:blip r:embed="rId3"/>
          <a:stretch>
            <a:fillRect/>
          </a:stretch>
        </p:blipFill>
        <p:spPr>
          <a:xfrm>
            <a:off x="752551" y="3258007"/>
            <a:ext cx="241402" cy="241402"/>
          </a:xfrm>
          <a:prstGeom prst="rect">
            <a:avLst/>
          </a:prstGeom>
        </p:spPr>
      </p:pic>
      <p:sp>
        <p:nvSpPr>
          <p:cNvPr id="19" name="a5-b1"/>
          <p:cNvSpPr txBox="1"/>
          <p:nvPr/>
        </p:nvSpPr>
        <p:spPr>
          <a:xfrm>
            <a:off x="1234440" y="3127248"/>
            <a:ext cx="3108960" cy="502920"/>
          </a:xfrm>
          <a:prstGeom prst="rect">
            <a:avLst/>
          </a:prstGeom>
          <a:noFill/>
          <a:ln/>
        </p:spPr>
        <p:txBody>
          <a:bodyPr wrap="square" lIns="0" tIns="0" rIns="0" bIns="0" rtlCol="0" anchor="ctr"/>
          <a:lstStyle/>
          <a:p>
            <a:pPr marL="0" indent="0">
              <a:buNone/>
            </a:pPr>
            <a:r>
              <a:rPr lang="en-US" sz="1500" b="1" dirty="0">
                <a:solidFill>
                  <a:schemeClr val="tx1"/>
                </a:solidFill>
              </a:rPr>
              <a:t>Pertanyaan pilihan</a:t>
            </a:r>
            <a:endParaRPr lang="en-US" sz="1500" dirty="0"/>
          </a:p>
        </p:txBody>
      </p:sp>
      <p:sp>
        <p:nvSpPr>
          <p:cNvPr id="20" name="a5-b1"/>
          <p:cNvSpPr txBox="1"/>
          <p:nvPr/>
        </p:nvSpPr>
        <p:spPr>
          <a:xfrm>
            <a:off x="640080" y="3703320"/>
            <a:ext cx="3703320" cy="731520"/>
          </a:xfrm>
          <a:prstGeom prst="rect">
            <a:avLst/>
          </a:prstGeom>
          <a:noFill/>
          <a:ln/>
        </p:spPr>
        <p:txBody>
          <a:bodyPr wrap="square" lIns="0" tIns="0" rIns="0" bIns="0" rtlCol="0" anchor="t"/>
          <a:lstStyle/>
          <a:p>
            <a:pPr marL="0" indent="0">
              <a:buNone/>
            </a:pPr>
            <a:r>
              <a:rPr lang="en-US" sz="1400" i="1" dirty="0">
                <a:solidFill>
                  <a:schemeClr val="tx1"/>
                </a:solidFill>
              </a:rPr>
              <a:t>“Yang bikin Bapak ragu, lebih ke soal pelanggannya, atau soal modal dan tempat?”</a:t>
            </a:r>
            <a:endParaRPr lang="en-US" sz="1400" dirty="0"/>
          </a:p>
        </p:txBody>
      </p:sp>
      <p:sp>
        <p:nvSpPr>
          <p:cNvPr id="21" name="a6-b2"/>
          <p:cNvSpPr/>
          <p:nvPr/>
        </p:nvSpPr>
        <p:spPr>
          <a:xfrm>
            <a:off x="4663440" y="2971800"/>
            <a:ext cx="4023360" cy="1554480"/>
          </a:xfrm>
          <a:prstGeom prst="roundRect">
            <a:avLst>
              <a:gd name="adj" fmla="val 7059"/>
            </a:avLst>
          </a:prstGeom>
          <a:solidFill>
            <a:schemeClr val="tx1"/>
          </a:solidFill>
          <a:ln/>
        </p:spPr>
      </p:sp>
      <p:sp>
        <p:nvSpPr>
          <p:cNvPr id="22" name="a6-b2"/>
          <p:cNvSpPr/>
          <p:nvPr/>
        </p:nvSpPr>
        <p:spPr>
          <a:xfrm>
            <a:off x="4828032" y="3127248"/>
            <a:ext cx="502920" cy="502920"/>
          </a:xfrm>
          <a:prstGeom prst="ellipse">
            <a:avLst/>
          </a:prstGeom>
          <a:solidFill>
            <a:schemeClr val="accent1"/>
          </a:solidFill>
          <a:ln/>
        </p:spPr>
      </p:sp>
      <p:pic>
        <p:nvPicPr>
          <p:cNvPr id="23" name="a6-b2" descr="preencoded.png"/>
          <p:cNvPicPr>
            <a:picLocks noChangeAspect="1"/>
          </p:cNvPicPr>
          <p:nvPr/>
        </p:nvPicPr>
        <p:blipFill>
          <a:blip r:embed="rId4"/>
          <a:stretch>
            <a:fillRect/>
          </a:stretch>
        </p:blipFill>
        <p:spPr>
          <a:xfrm>
            <a:off x="4958791" y="3258007"/>
            <a:ext cx="241402" cy="241402"/>
          </a:xfrm>
          <a:prstGeom prst="rect">
            <a:avLst/>
          </a:prstGeom>
        </p:spPr>
      </p:pic>
      <p:sp>
        <p:nvSpPr>
          <p:cNvPr id="24" name="a6-b2"/>
          <p:cNvSpPr txBox="1"/>
          <p:nvPr/>
        </p:nvSpPr>
        <p:spPr>
          <a:xfrm>
            <a:off x="5440680" y="3127248"/>
            <a:ext cx="3108960" cy="502920"/>
          </a:xfrm>
          <a:prstGeom prst="rect">
            <a:avLst/>
          </a:prstGeom>
          <a:noFill/>
          <a:ln/>
        </p:spPr>
        <p:txBody>
          <a:bodyPr wrap="square" lIns="0" tIns="0" rIns="0" bIns="0" rtlCol="0" anchor="ctr"/>
          <a:lstStyle/>
          <a:p>
            <a:pPr marL="0" indent="0">
              <a:buNone/>
            </a:pPr>
            <a:r>
              <a:rPr lang="en-US" sz="1500" b="1" dirty="0">
                <a:solidFill>
                  <a:schemeClr val="accent1"/>
                </a:solidFill>
              </a:rPr>
              <a:t>Isolasi keberatan</a:t>
            </a:r>
            <a:endParaRPr lang="en-US" sz="1500" dirty="0"/>
          </a:p>
        </p:txBody>
      </p:sp>
      <p:sp>
        <p:nvSpPr>
          <p:cNvPr id="25" name="a6-b2"/>
          <p:cNvSpPr txBox="1"/>
          <p:nvPr/>
        </p:nvSpPr>
        <p:spPr>
          <a:xfrm>
            <a:off x="4846320" y="3657600"/>
            <a:ext cx="3703320" cy="822960"/>
          </a:xfrm>
          <a:prstGeom prst="rect">
            <a:avLst/>
          </a:prstGeom>
          <a:noFill/>
          <a:ln/>
        </p:spPr>
        <p:txBody>
          <a:bodyPr wrap="square" lIns="0" tIns="0" rIns="0" bIns="0" rtlCol="0" anchor="t"/>
          <a:lstStyle/>
          <a:p>
            <a:pPr marL="0" indent="0">
              <a:spcAft>
                <a:spcPts val="200"/>
              </a:spcAft>
              <a:buNone/>
            </a:pPr>
            <a:r>
              <a:rPr lang="en-US" sz="1400" i="1" dirty="0">
                <a:solidFill>
                  <a:schemeClr val="bg1"/>
                </a:solidFill>
              </a:rPr>
              <a:t>“Kalau soal laku ini terjawab, ada hal lain yang bikin Bapak ragu?”</a:t>
            </a:r>
            <a:endParaRPr lang="en-US" sz="1400" dirty="0"/>
          </a:p>
          <a:p>
            <a:pPr marL="0" indent="0">
              <a:spcAft>
                <a:spcPts val="200"/>
              </a:spcAft>
              <a:buNone/>
            </a:pPr>
            <a:r>
              <a:rPr lang="en-US" sz="1200" dirty="0">
                <a:solidFill>
                  <a:schemeClr val="accent1"/>
                </a:solidFill>
              </a:rPr>
              <a:t>Jawab “tidak ada”? Tinggal selesaikan satu masalah.</a:t>
            </a:r>
            <a:endParaRPr lang="en-US" sz="1400" dirty="0"/>
          </a:p>
        </p:txBody>
      </p:sp>
      <p:sp>
        <p:nvSpPr>
          <p:cNvPr id="2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400"/>
                            </p:stCondLst>
                            <p:childTnLst>
                              <p:par>
                                <p:cTn id="12" presetID="10"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800"/>
                            </p:stCondLst>
                            <p:childTnLst>
                              <p:par>
                                <p:cTn id="22" presetID="10"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par>
                          <p:cTn id="31" fill="hold">
                            <p:stCondLst>
                              <p:cond delay="1200"/>
                            </p:stCondLst>
                            <p:childTnLst>
                              <p:par>
                                <p:cTn id="32" presetID="10" presetClass="entr" presetSubtype="0"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par>
                          <p:cTn id="41" fill="hold">
                            <p:stCondLst>
                              <p:cond delay="1600"/>
                            </p:stCondLst>
                            <p:childTnLst>
                              <p:par>
                                <p:cTn id="42" presetID="10" presetClass="entr" presetSubtype="0" fill="hold"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Urutan Senjata: Diskon Paling Akhir</a:t>
            </a:r>
            <a:endParaRPr lang="en-US" sz="2800" dirty="0"/>
          </a:p>
        </p:txBody>
      </p:sp>
      <p:sp>
        <p:nvSpPr>
          <p:cNvPr id="3" name="pill"/>
          <p:cNvSpPr txBox="1"/>
          <p:nvPr/>
        </p:nvSpPr>
        <p:spPr>
          <a:xfrm>
            <a:off x="457200" y="237744"/>
            <a:ext cx="231709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3.3  ·  URUTAN SENJATA</a:t>
            </a:r>
            <a:endParaRPr lang="en-US" sz="1000" dirty="0"/>
          </a:p>
        </p:txBody>
      </p:sp>
      <p:sp>
        <p:nvSpPr>
          <p:cNvPr id="4" name="a1-lead"/>
          <p:cNvSpPr txBox="1"/>
          <p:nvPr/>
        </p:nvSpPr>
        <p:spPr>
          <a:xfrm>
            <a:off x="457200" y="1325880"/>
            <a:ext cx="3931920" cy="822960"/>
          </a:xfrm>
          <a:prstGeom prst="rect">
            <a:avLst/>
          </a:prstGeom>
          <a:noFill/>
          <a:ln/>
        </p:spPr>
        <p:txBody>
          <a:bodyPr wrap="square" lIns="0" tIns="0" rIns="0" bIns="0" rtlCol="0" anchor="t"/>
          <a:lstStyle/>
          <a:p>
            <a:pPr marL="0" indent="0">
              <a:buNone/>
            </a:pPr>
            <a:r>
              <a:rPr lang="en-US" sz="1500" dirty="0">
                <a:solidFill>
                  <a:schemeClr val="tx2"/>
                </a:solidFill>
              </a:rPr>
              <a:t>Sales sering langsung kasih diskon. Padahal itu memotong margin dan membuat toko terbiasa menunggu potongan harga.</a:t>
            </a:r>
            <a:endParaRPr lang="en-US" sz="1500" dirty="0"/>
          </a:p>
        </p:txBody>
      </p:sp>
      <p:sp>
        <p:nvSpPr>
          <p:cNvPr id="5" name="a2-s"/>
          <p:cNvSpPr/>
          <p:nvPr/>
        </p:nvSpPr>
        <p:spPr>
          <a:xfrm>
            <a:off x="457200" y="3566160"/>
            <a:ext cx="1280160" cy="868680"/>
          </a:xfrm>
          <a:prstGeom prst="roundRect">
            <a:avLst>
              <a:gd name="adj" fmla="val 8421"/>
            </a:avLst>
          </a:prstGeom>
          <a:solidFill>
            <a:schemeClr val="accent1"/>
          </a:solidFill>
          <a:ln/>
        </p:spPr>
      </p:sp>
      <p:sp>
        <p:nvSpPr>
          <p:cNvPr id="6" name="a2-s"/>
          <p:cNvSpPr txBox="1"/>
          <p:nvPr/>
        </p:nvSpPr>
        <p:spPr>
          <a:xfrm>
            <a:off x="886968" y="3063240"/>
            <a:ext cx="420624" cy="420624"/>
          </a:xfrm>
          <a:prstGeom prst="ellipse">
            <a:avLst/>
          </a:prstGeom>
          <a:solidFill>
            <a:schemeClr val="tx1"/>
          </a:solidFill>
          <a:ln/>
        </p:spPr>
        <p:txBody>
          <a:bodyPr wrap="square" lIns="0" tIns="0" rIns="0" bIns="0" rtlCol="0" anchor="ctr"/>
          <a:lstStyle/>
          <a:p>
            <a:pPr marL="0" indent="0" algn="ctr">
              <a:buNone/>
            </a:pPr>
            <a:r>
              <a:rPr lang="en-US" sz="1500" b="1" dirty="0">
                <a:solidFill>
                  <a:schemeClr val="accent1"/>
                </a:solidFill>
              </a:rPr>
              <a:t>1</a:t>
            </a:r>
            <a:endParaRPr lang="en-US" sz="1500" dirty="0"/>
          </a:p>
        </p:txBody>
      </p:sp>
      <p:sp>
        <p:nvSpPr>
          <p:cNvPr id="7" name="a2-s"/>
          <p:cNvSpPr txBox="1"/>
          <p:nvPr/>
        </p:nvSpPr>
        <p:spPr>
          <a:xfrm>
            <a:off x="548640" y="3675888"/>
            <a:ext cx="1097280" cy="685800"/>
          </a:xfrm>
          <a:prstGeom prst="rect">
            <a:avLst/>
          </a:prstGeom>
          <a:noFill/>
          <a:ln/>
        </p:spPr>
        <p:txBody>
          <a:bodyPr wrap="square" lIns="0" tIns="0" rIns="0" bIns="0" rtlCol="0" anchor="t"/>
          <a:lstStyle/>
          <a:p>
            <a:pPr marL="0" indent="0" algn="ctr">
              <a:buNone/>
            </a:pPr>
            <a:r>
              <a:rPr lang="en-US" sz="1300" b="1" dirty="0">
                <a:solidFill>
                  <a:schemeClr val="tx1"/>
                </a:solidFill>
              </a:rPr>
              <a:t>Hitungan untung</a:t>
            </a:r>
            <a:endParaRPr lang="en-US" sz="1300" dirty="0"/>
          </a:p>
        </p:txBody>
      </p:sp>
      <p:sp>
        <p:nvSpPr>
          <p:cNvPr id="8" name="a3-s"/>
          <p:cNvSpPr/>
          <p:nvPr/>
        </p:nvSpPr>
        <p:spPr>
          <a:xfrm>
            <a:off x="1847088" y="3291840"/>
            <a:ext cx="1280160" cy="1143000"/>
          </a:xfrm>
          <a:prstGeom prst="roundRect">
            <a:avLst>
              <a:gd name="adj" fmla="val 6400"/>
            </a:avLst>
          </a:prstGeom>
          <a:solidFill>
            <a:schemeClr val="accent1"/>
          </a:solidFill>
          <a:ln/>
        </p:spPr>
      </p:sp>
      <p:sp>
        <p:nvSpPr>
          <p:cNvPr id="9" name="a3-s"/>
          <p:cNvSpPr txBox="1"/>
          <p:nvPr/>
        </p:nvSpPr>
        <p:spPr>
          <a:xfrm>
            <a:off x="2276856" y="2788920"/>
            <a:ext cx="420624" cy="420624"/>
          </a:xfrm>
          <a:prstGeom prst="ellipse">
            <a:avLst/>
          </a:prstGeom>
          <a:solidFill>
            <a:schemeClr val="tx1"/>
          </a:solidFill>
          <a:ln/>
        </p:spPr>
        <p:txBody>
          <a:bodyPr wrap="square" lIns="0" tIns="0" rIns="0" bIns="0" rtlCol="0" anchor="ctr"/>
          <a:lstStyle/>
          <a:p>
            <a:pPr marL="0" indent="0" algn="ctr">
              <a:buNone/>
            </a:pPr>
            <a:r>
              <a:rPr lang="en-US" sz="1500" b="1" dirty="0">
                <a:solidFill>
                  <a:schemeClr val="accent1"/>
                </a:solidFill>
              </a:rPr>
              <a:t>2</a:t>
            </a:r>
            <a:endParaRPr lang="en-US" sz="1500" dirty="0"/>
          </a:p>
        </p:txBody>
      </p:sp>
      <p:sp>
        <p:nvSpPr>
          <p:cNvPr id="10" name="a3-s"/>
          <p:cNvSpPr txBox="1"/>
          <p:nvPr/>
        </p:nvSpPr>
        <p:spPr>
          <a:xfrm>
            <a:off x="1938528" y="3401568"/>
            <a:ext cx="1097280" cy="960120"/>
          </a:xfrm>
          <a:prstGeom prst="rect">
            <a:avLst/>
          </a:prstGeom>
          <a:noFill/>
          <a:ln/>
        </p:spPr>
        <p:txBody>
          <a:bodyPr wrap="square" lIns="0" tIns="0" rIns="0" bIns="0" rtlCol="0" anchor="t"/>
          <a:lstStyle/>
          <a:p>
            <a:pPr marL="0" indent="0" algn="ctr">
              <a:buNone/>
            </a:pPr>
            <a:r>
              <a:rPr lang="en-US" sz="1300" b="1" dirty="0">
                <a:solidFill>
                  <a:schemeClr val="tx1"/>
                </a:solidFill>
              </a:rPr>
              <a:t>Bukti dari toko lain</a:t>
            </a:r>
            <a:endParaRPr lang="en-US" sz="1300" dirty="0"/>
          </a:p>
        </p:txBody>
      </p:sp>
      <p:sp>
        <p:nvSpPr>
          <p:cNvPr id="11" name="a4-s"/>
          <p:cNvSpPr/>
          <p:nvPr/>
        </p:nvSpPr>
        <p:spPr>
          <a:xfrm>
            <a:off x="3236976" y="3017520"/>
            <a:ext cx="1280160" cy="1417320"/>
          </a:xfrm>
          <a:prstGeom prst="roundRect">
            <a:avLst>
              <a:gd name="adj" fmla="val 5714"/>
            </a:avLst>
          </a:prstGeom>
          <a:solidFill>
            <a:schemeClr val="accent1"/>
          </a:solidFill>
          <a:ln/>
        </p:spPr>
      </p:sp>
      <p:sp>
        <p:nvSpPr>
          <p:cNvPr id="12" name="a4-s"/>
          <p:cNvSpPr txBox="1"/>
          <p:nvPr/>
        </p:nvSpPr>
        <p:spPr>
          <a:xfrm>
            <a:off x="3666744" y="2514600"/>
            <a:ext cx="420624" cy="420624"/>
          </a:xfrm>
          <a:prstGeom prst="ellipse">
            <a:avLst/>
          </a:prstGeom>
          <a:solidFill>
            <a:schemeClr val="tx1"/>
          </a:solidFill>
          <a:ln/>
        </p:spPr>
        <p:txBody>
          <a:bodyPr wrap="square" lIns="0" tIns="0" rIns="0" bIns="0" rtlCol="0" anchor="ctr"/>
          <a:lstStyle/>
          <a:p>
            <a:pPr marL="0" indent="0" algn="ctr">
              <a:buNone/>
            </a:pPr>
            <a:r>
              <a:rPr lang="en-US" sz="1500" b="1" dirty="0">
                <a:solidFill>
                  <a:schemeClr val="accent1"/>
                </a:solidFill>
              </a:rPr>
              <a:t>3</a:t>
            </a:r>
            <a:endParaRPr lang="en-US" sz="1500" dirty="0"/>
          </a:p>
        </p:txBody>
      </p:sp>
      <p:sp>
        <p:nvSpPr>
          <p:cNvPr id="13" name="a4-s"/>
          <p:cNvSpPr txBox="1"/>
          <p:nvPr/>
        </p:nvSpPr>
        <p:spPr>
          <a:xfrm>
            <a:off x="3328416" y="3127248"/>
            <a:ext cx="1097280" cy="1234440"/>
          </a:xfrm>
          <a:prstGeom prst="rect">
            <a:avLst/>
          </a:prstGeom>
          <a:noFill/>
          <a:ln/>
        </p:spPr>
        <p:txBody>
          <a:bodyPr wrap="square" lIns="0" tIns="0" rIns="0" bIns="0" rtlCol="0" anchor="t"/>
          <a:lstStyle/>
          <a:p>
            <a:pPr marL="0" indent="0" algn="ctr">
              <a:buNone/>
            </a:pPr>
            <a:r>
              <a:rPr lang="en-US" sz="1300" b="1" dirty="0">
                <a:solidFill>
                  <a:schemeClr val="tx1"/>
                </a:solidFill>
              </a:rPr>
              <a:t>Order kecil / uji coba</a:t>
            </a:r>
            <a:endParaRPr lang="en-US" sz="1300" dirty="0"/>
          </a:p>
        </p:txBody>
      </p:sp>
      <p:sp>
        <p:nvSpPr>
          <p:cNvPr id="14" name="a5-s"/>
          <p:cNvSpPr/>
          <p:nvPr/>
        </p:nvSpPr>
        <p:spPr>
          <a:xfrm>
            <a:off x="4626864" y="2743200"/>
            <a:ext cx="1280160" cy="1691640"/>
          </a:xfrm>
          <a:prstGeom prst="roundRect">
            <a:avLst>
              <a:gd name="adj" fmla="val 5714"/>
            </a:avLst>
          </a:prstGeom>
          <a:solidFill>
            <a:schemeClr val="accent2"/>
          </a:solidFill>
          <a:ln/>
        </p:spPr>
      </p:sp>
      <p:sp>
        <p:nvSpPr>
          <p:cNvPr id="15" name="a5-s"/>
          <p:cNvSpPr txBox="1"/>
          <p:nvPr/>
        </p:nvSpPr>
        <p:spPr>
          <a:xfrm>
            <a:off x="5056632" y="2240280"/>
            <a:ext cx="420624" cy="420624"/>
          </a:xfrm>
          <a:prstGeom prst="ellipse">
            <a:avLst/>
          </a:prstGeom>
          <a:solidFill>
            <a:schemeClr val="tx1"/>
          </a:solidFill>
          <a:ln/>
        </p:spPr>
        <p:txBody>
          <a:bodyPr wrap="square" lIns="0" tIns="0" rIns="0" bIns="0" rtlCol="0" anchor="ctr"/>
          <a:lstStyle/>
          <a:p>
            <a:pPr marL="0" indent="0" algn="ctr">
              <a:buNone/>
            </a:pPr>
            <a:r>
              <a:rPr lang="en-US" sz="1500" b="1" dirty="0">
                <a:solidFill>
                  <a:schemeClr val="accent1"/>
                </a:solidFill>
              </a:rPr>
              <a:t>4</a:t>
            </a:r>
            <a:endParaRPr lang="en-US" sz="1500" dirty="0"/>
          </a:p>
        </p:txBody>
      </p:sp>
      <p:sp>
        <p:nvSpPr>
          <p:cNvPr id="16" name="a5-s"/>
          <p:cNvSpPr txBox="1"/>
          <p:nvPr/>
        </p:nvSpPr>
        <p:spPr>
          <a:xfrm>
            <a:off x="4718304" y="2852928"/>
            <a:ext cx="1097280" cy="1508760"/>
          </a:xfrm>
          <a:prstGeom prst="rect">
            <a:avLst/>
          </a:prstGeom>
          <a:noFill/>
          <a:ln/>
        </p:spPr>
        <p:txBody>
          <a:bodyPr wrap="square" lIns="0" tIns="0" rIns="0" bIns="0" rtlCol="0" anchor="t"/>
          <a:lstStyle/>
          <a:p>
            <a:pPr marL="0" indent="0" algn="ctr">
              <a:buNone/>
            </a:pPr>
            <a:r>
              <a:rPr lang="en-US" sz="1300" b="1" dirty="0">
                <a:solidFill>
                  <a:schemeClr val="tx1"/>
                </a:solidFill>
              </a:rPr>
              <a:t>Dukungan jual: pajangan, brosur, tukang</a:t>
            </a:r>
            <a:endParaRPr lang="en-US" sz="1300" dirty="0"/>
          </a:p>
        </p:txBody>
      </p:sp>
      <p:sp>
        <p:nvSpPr>
          <p:cNvPr id="17" name="a6-s"/>
          <p:cNvSpPr/>
          <p:nvPr/>
        </p:nvSpPr>
        <p:spPr>
          <a:xfrm>
            <a:off x="6016752" y="2468880"/>
            <a:ext cx="1280160" cy="1965960"/>
          </a:xfrm>
          <a:prstGeom prst="roundRect">
            <a:avLst>
              <a:gd name="adj" fmla="val 5714"/>
            </a:avLst>
          </a:prstGeom>
          <a:solidFill>
            <a:schemeClr val="accent2"/>
          </a:solidFill>
          <a:ln/>
        </p:spPr>
      </p:sp>
      <p:sp>
        <p:nvSpPr>
          <p:cNvPr id="18" name="a6-s"/>
          <p:cNvSpPr txBox="1"/>
          <p:nvPr/>
        </p:nvSpPr>
        <p:spPr>
          <a:xfrm>
            <a:off x="6446520" y="1965960"/>
            <a:ext cx="420624" cy="420624"/>
          </a:xfrm>
          <a:prstGeom prst="ellipse">
            <a:avLst/>
          </a:prstGeom>
          <a:solidFill>
            <a:schemeClr val="tx1"/>
          </a:solidFill>
          <a:ln/>
        </p:spPr>
        <p:txBody>
          <a:bodyPr wrap="square" lIns="0" tIns="0" rIns="0" bIns="0" rtlCol="0" anchor="ctr"/>
          <a:lstStyle/>
          <a:p>
            <a:pPr marL="0" indent="0" algn="ctr">
              <a:buNone/>
            </a:pPr>
            <a:r>
              <a:rPr lang="en-US" sz="1500" b="1" dirty="0">
                <a:solidFill>
                  <a:schemeClr val="accent1"/>
                </a:solidFill>
              </a:rPr>
              <a:t>5</a:t>
            </a:r>
            <a:endParaRPr lang="en-US" sz="1500" dirty="0"/>
          </a:p>
        </p:txBody>
      </p:sp>
      <p:sp>
        <p:nvSpPr>
          <p:cNvPr id="19" name="a6-s"/>
          <p:cNvSpPr txBox="1"/>
          <p:nvPr/>
        </p:nvSpPr>
        <p:spPr>
          <a:xfrm>
            <a:off x="6108192" y="2578608"/>
            <a:ext cx="1097280" cy="1783080"/>
          </a:xfrm>
          <a:prstGeom prst="rect">
            <a:avLst/>
          </a:prstGeom>
          <a:noFill/>
          <a:ln/>
        </p:spPr>
        <p:txBody>
          <a:bodyPr wrap="square" lIns="0" tIns="0" rIns="0" bIns="0" rtlCol="0" anchor="t"/>
          <a:lstStyle/>
          <a:p>
            <a:pPr marL="0" indent="0" algn="ctr">
              <a:buNone/>
            </a:pPr>
            <a:r>
              <a:rPr lang="en-US" sz="1300" b="1" dirty="0">
                <a:solidFill>
                  <a:schemeClr val="tx1"/>
                </a:solidFill>
              </a:rPr>
              <a:t>Kemudahan bayar / retur (sesuai kebijakan)</a:t>
            </a:r>
            <a:endParaRPr lang="en-US" sz="1300" dirty="0"/>
          </a:p>
        </p:txBody>
      </p:sp>
      <p:sp>
        <p:nvSpPr>
          <p:cNvPr id="20" name="a7-s"/>
          <p:cNvSpPr/>
          <p:nvPr/>
        </p:nvSpPr>
        <p:spPr>
          <a:xfrm>
            <a:off x="7406640" y="2194560"/>
            <a:ext cx="1280160" cy="2240280"/>
          </a:xfrm>
          <a:prstGeom prst="roundRect">
            <a:avLst>
              <a:gd name="adj" fmla="val 5714"/>
            </a:avLst>
          </a:prstGeom>
          <a:solidFill>
            <a:schemeClr val="tx1"/>
          </a:solidFill>
          <a:ln/>
        </p:spPr>
      </p:sp>
      <p:sp>
        <p:nvSpPr>
          <p:cNvPr id="21" name="a7-s"/>
          <p:cNvSpPr txBox="1"/>
          <p:nvPr/>
        </p:nvSpPr>
        <p:spPr>
          <a:xfrm>
            <a:off x="7836408" y="1691640"/>
            <a:ext cx="420624" cy="420624"/>
          </a:xfrm>
          <a:prstGeom prst="ellipse">
            <a:avLst/>
          </a:prstGeom>
          <a:solidFill>
            <a:schemeClr val="accent3"/>
          </a:solidFill>
          <a:ln/>
        </p:spPr>
        <p:txBody>
          <a:bodyPr wrap="square" lIns="0" tIns="0" rIns="0" bIns="0" rtlCol="0" anchor="ctr"/>
          <a:lstStyle/>
          <a:p>
            <a:pPr marL="0" indent="0" algn="ctr">
              <a:buNone/>
            </a:pPr>
            <a:r>
              <a:rPr lang="en-US" sz="1500" b="1" dirty="0">
                <a:solidFill>
                  <a:schemeClr val="bg1"/>
                </a:solidFill>
              </a:rPr>
              <a:t>6</a:t>
            </a:r>
            <a:endParaRPr lang="en-US" sz="1500" dirty="0"/>
          </a:p>
        </p:txBody>
      </p:sp>
      <p:sp>
        <p:nvSpPr>
          <p:cNvPr id="22" name="a7-s"/>
          <p:cNvSpPr txBox="1"/>
          <p:nvPr/>
        </p:nvSpPr>
        <p:spPr>
          <a:xfrm>
            <a:off x="7498080" y="2304288"/>
            <a:ext cx="1097280" cy="2057400"/>
          </a:xfrm>
          <a:prstGeom prst="rect">
            <a:avLst/>
          </a:prstGeom>
          <a:noFill/>
          <a:ln/>
        </p:spPr>
        <p:txBody>
          <a:bodyPr wrap="square" lIns="0" tIns="0" rIns="0" bIns="0" rtlCol="0" anchor="t"/>
          <a:lstStyle/>
          <a:p>
            <a:pPr marL="0" indent="0" algn="ctr">
              <a:buNone/>
            </a:pPr>
            <a:r>
              <a:rPr lang="en-US" sz="1300" b="1" dirty="0">
                <a:solidFill>
                  <a:schemeClr val="accent1"/>
                </a:solidFill>
              </a:rPr>
              <a:t>Promo / diskon</a:t>
            </a:r>
            <a:endParaRPr lang="en-US" sz="1300" dirty="0"/>
          </a:p>
        </p:txBody>
      </p:sp>
      <p:pic>
        <p:nvPicPr>
          <p:cNvPr id="23" name="a7-s" descr="preencoded.png"/>
          <p:cNvPicPr>
            <a:picLocks noChangeAspect="1"/>
          </p:cNvPicPr>
          <p:nvPr/>
        </p:nvPicPr>
        <p:blipFill>
          <a:blip r:embed="rId3"/>
          <a:stretch>
            <a:fillRect/>
          </a:stretch>
        </p:blipFill>
        <p:spPr>
          <a:xfrm>
            <a:off x="7909560" y="2971800"/>
            <a:ext cx="274320" cy="274320"/>
          </a:xfrm>
          <a:prstGeom prst="rect">
            <a:avLst/>
          </a:prstGeom>
        </p:spPr>
      </p:pic>
      <p:sp>
        <p:nvSpPr>
          <p:cNvPr id="24" name="a7-s"/>
          <p:cNvSpPr txBox="1"/>
          <p:nvPr/>
        </p:nvSpPr>
        <p:spPr>
          <a:xfrm>
            <a:off x="7498080" y="3291840"/>
            <a:ext cx="1097280" cy="274320"/>
          </a:xfrm>
          <a:prstGeom prst="rect">
            <a:avLst/>
          </a:prstGeom>
          <a:noFill/>
          <a:ln/>
        </p:spPr>
        <p:txBody>
          <a:bodyPr wrap="square" lIns="0" tIns="0" rIns="0" bIns="0" rtlCol="0" anchor="t"/>
          <a:lstStyle/>
          <a:p>
            <a:pPr marL="0" indent="0" algn="ctr">
              <a:buNone/>
            </a:pPr>
            <a:r>
              <a:rPr lang="en-US" sz="1200" i="1" dirty="0">
                <a:solidFill>
                  <a:schemeClr val="bg1"/>
                </a:solidFill>
              </a:rPr>
              <a:t>pilihan terakhir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800"/>
                            </p:stCondLst>
                            <p:childTnLst>
                              <p:par>
                                <p:cTn id="19" presetID="10"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1200"/>
                            </p:stCondLst>
                            <p:childTnLst>
                              <p:par>
                                <p:cTn id="29" presetID="10" presetClass="entr" presetSubtype="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par>
                          <p:cTn id="38" fill="hold">
                            <p:stCondLst>
                              <p:cond delay="1600"/>
                            </p:stCondLst>
                            <p:childTnLst>
                              <p:par>
                                <p:cTn id="39" presetID="10" presetClass="entr" presetSubtype="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childTnLst>
                          </p:cTn>
                        </p:par>
                        <p:par>
                          <p:cTn id="58" fill="hold">
                            <p:stCondLst>
                              <p:cond delay="2400"/>
                            </p:stCondLst>
                            <p:childTnLst>
                              <p:par>
                                <p:cTn id="59" presetID="10" presetClass="entr" presetSubtype="0" fill="hold"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Uji Coba yang Pasti Berhasil</a:t>
            </a:r>
            <a:endParaRPr lang="en-US" sz="2800" dirty="0"/>
          </a:p>
        </p:txBody>
      </p:sp>
      <p:sp>
        <p:nvSpPr>
          <p:cNvPr id="3" name="pill"/>
          <p:cNvSpPr txBox="1"/>
          <p:nvPr/>
        </p:nvSpPr>
        <p:spPr>
          <a:xfrm>
            <a:off x="457200" y="237744"/>
            <a:ext cx="2388413"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3.4  ·  DESAIN UJI COBA</a:t>
            </a:r>
            <a:endParaRPr lang="en-US" sz="1000" dirty="0"/>
          </a:p>
        </p:txBody>
      </p:sp>
      <p:sp>
        <p:nvSpPr>
          <p:cNvPr id="4" name="a1-b"/>
          <p:cNvSpPr/>
          <p:nvPr/>
        </p:nvSpPr>
        <p:spPr>
          <a:xfrm>
            <a:off x="457200" y="1325880"/>
            <a:ext cx="1691640" cy="1234440"/>
          </a:xfrm>
          <a:prstGeom prst="roundRect">
            <a:avLst>
              <a:gd name="adj" fmla="val 8889"/>
            </a:avLst>
          </a:prstGeom>
          <a:solidFill>
            <a:schemeClr val="bg2"/>
          </a:solidFill>
          <a:ln/>
        </p:spPr>
      </p:sp>
      <p:pic>
        <p:nvPicPr>
          <p:cNvPr id="5" name="a1-b" descr="preencoded.png"/>
          <p:cNvPicPr>
            <a:picLocks noChangeAspect="1"/>
          </p:cNvPicPr>
          <p:nvPr/>
        </p:nvPicPr>
        <p:blipFill>
          <a:blip r:embed="rId3"/>
          <a:stretch>
            <a:fillRect/>
          </a:stretch>
        </p:blipFill>
        <p:spPr>
          <a:xfrm>
            <a:off x="594360" y="1463040"/>
            <a:ext cx="310896" cy="310896"/>
          </a:xfrm>
          <a:prstGeom prst="rect">
            <a:avLst/>
          </a:prstGeom>
        </p:spPr>
      </p:pic>
      <p:sp>
        <p:nvSpPr>
          <p:cNvPr id="6" name="a1-b"/>
          <p:cNvSpPr txBox="1"/>
          <p:nvPr/>
        </p:nvSpPr>
        <p:spPr>
          <a:xfrm>
            <a:off x="594360" y="1810512"/>
            <a:ext cx="146304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5 tukang</a:t>
            </a:r>
            <a:endParaRPr lang="en-US" sz="2000" dirty="0"/>
          </a:p>
        </p:txBody>
      </p:sp>
      <p:sp>
        <p:nvSpPr>
          <p:cNvPr id="7" name="a1-b"/>
          <p:cNvSpPr txBox="1"/>
          <p:nvPr/>
        </p:nvSpPr>
        <p:spPr>
          <a:xfrm>
            <a:off x="594360" y="2167128"/>
            <a:ext cx="1463040" cy="365760"/>
          </a:xfrm>
          <a:prstGeom prst="rect">
            <a:avLst/>
          </a:prstGeom>
          <a:noFill/>
          <a:ln/>
        </p:spPr>
        <p:txBody>
          <a:bodyPr wrap="square" lIns="0" tIns="0" rIns="0" bIns="0" rtlCol="0" anchor="t"/>
          <a:lstStyle/>
          <a:p>
            <a:pPr marL="0" indent="0">
              <a:buNone/>
            </a:pPr>
            <a:r>
              <a:rPr lang="en-US" sz="1200" dirty="0">
                <a:solidFill>
                  <a:schemeClr val="tx2"/>
                </a:solidFill>
              </a:rPr>
              <a:t>renovasi belanja per minggu</a:t>
            </a:r>
            <a:endParaRPr lang="en-US" sz="1200" dirty="0"/>
          </a:p>
        </p:txBody>
      </p:sp>
      <p:sp>
        <p:nvSpPr>
          <p:cNvPr id="8" name="a2-b"/>
          <p:cNvSpPr txBox="1"/>
          <p:nvPr/>
        </p:nvSpPr>
        <p:spPr>
          <a:xfrm>
            <a:off x="2148840" y="1325880"/>
            <a:ext cx="484632" cy="1234440"/>
          </a:xfrm>
          <a:prstGeom prst="rect">
            <a:avLst/>
          </a:prstGeom>
          <a:noFill/>
          <a:ln/>
        </p:spPr>
        <p:txBody>
          <a:bodyPr wrap="square" lIns="0" tIns="0" rIns="0" bIns="0" rtlCol="0" anchor="ctr"/>
          <a:lstStyle/>
          <a:p>
            <a:pPr marL="0" indent="0" algn="ctr">
              <a:buNone/>
            </a:pPr>
            <a:r>
              <a:rPr lang="en-US" sz="2600" b="1" dirty="0">
                <a:solidFill>
                  <a:schemeClr val="tx1"/>
                </a:solidFill>
              </a:rPr>
              <a:t>×</a:t>
            </a:r>
            <a:endParaRPr lang="en-US" sz="2600" dirty="0"/>
          </a:p>
        </p:txBody>
      </p:sp>
      <p:sp>
        <p:nvSpPr>
          <p:cNvPr id="9" name="a2-b"/>
          <p:cNvSpPr/>
          <p:nvPr/>
        </p:nvSpPr>
        <p:spPr>
          <a:xfrm>
            <a:off x="2633472" y="1325880"/>
            <a:ext cx="1691640" cy="1234440"/>
          </a:xfrm>
          <a:prstGeom prst="roundRect">
            <a:avLst>
              <a:gd name="adj" fmla="val 8889"/>
            </a:avLst>
          </a:prstGeom>
          <a:solidFill>
            <a:schemeClr val="bg2"/>
          </a:solidFill>
          <a:ln/>
        </p:spPr>
      </p:sp>
      <p:pic>
        <p:nvPicPr>
          <p:cNvPr id="10" name="a2-b" descr="preencoded.png"/>
          <p:cNvPicPr>
            <a:picLocks noChangeAspect="1"/>
          </p:cNvPicPr>
          <p:nvPr/>
        </p:nvPicPr>
        <p:blipFill>
          <a:blip r:embed="rId4"/>
          <a:stretch>
            <a:fillRect/>
          </a:stretch>
        </p:blipFill>
        <p:spPr>
          <a:xfrm>
            <a:off x="2770632" y="1463040"/>
            <a:ext cx="310896" cy="310896"/>
          </a:xfrm>
          <a:prstGeom prst="rect">
            <a:avLst/>
          </a:prstGeom>
        </p:spPr>
      </p:pic>
      <p:sp>
        <p:nvSpPr>
          <p:cNvPr id="11" name="a2-b"/>
          <p:cNvSpPr txBox="1"/>
          <p:nvPr/>
        </p:nvSpPr>
        <p:spPr>
          <a:xfrm>
            <a:off x="2770632" y="1810512"/>
            <a:ext cx="146304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4 sak</a:t>
            </a:r>
            <a:endParaRPr lang="en-US" sz="2000" dirty="0"/>
          </a:p>
        </p:txBody>
      </p:sp>
      <p:sp>
        <p:nvSpPr>
          <p:cNvPr id="12" name="a2-b"/>
          <p:cNvSpPr txBox="1"/>
          <p:nvPr/>
        </p:nvSpPr>
        <p:spPr>
          <a:xfrm>
            <a:off x="2770632" y="2167128"/>
            <a:ext cx="1463040" cy="365760"/>
          </a:xfrm>
          <a:prstGeom prst="rect">
            <a:avLst/>
          </a:prstGeom>
          <a:noFill/>
          <a:ln/>
        </p:spPr>
        <p:txBody>
          <a:bodyPr wrap="square" lIns="0" tIns="0" rIns="0" bIns="0" rtlCol="0" anchor="t"/>
          <a:lstStyle/>
          <a:p>
            <a:pPr marL="0" indent="0">
              <a:buNone/>
            </a:pPr>
            <a:r>
              <a:rPr lang="en-US" sz="1200" dirty="0">
                <a:solidFill>
                  <a:schemeClr val="tx2"/>
                </a:solidFill>
              </a:rPr>
              <a:t>per tukang per minggu</a:t>
            </a:r>
            <a:endParaRPr lang="en-US" sz="1200" dirty="0"/>
          </a:p>
        </p:txBody>
      </p:sp>
      <p:sp>
        <p:nvSpPr>
          <p:cNvPr id="13" name="a3-b"/>
          <p:cNvSpPr txBox="1"/>
          <p:nvPr/>
        </p:nvSpPr>
        <p:spPr>
          <a:xfrm>
            <a:off x="4325112" y="1325880"/>
            <a:ext cx="484632" cy="1234440"/>
          </a:xfrm>
          <a:prstGeom prst="rect">
            <a:avLst/>
          </a:prstGeom>
          <a:noFill/>
          <a:ln/>
        </p:spPr>
        <p:txBody>
          <a:bodyPr wrap="square" lIns="0" tIns="0" rIns="0" bIns="0" rtlCol="0" anchor="ctr"/>
          <a:lstStyle/>
          <a:p>
            <a:pPr marL="0" indent="0" algn="ctr">
              <a:buNone/>
            </a:pPr>
            <a:r>
              <a:rPr lang="en-US" sz="2600" b="1" dirty="0">
                <a:solidFill>
                  <a:schemeClr val="tx1"/>
                </a:solidFill>
              </a:rPr>
              <a:t>=</a:t>
            </a:r>
            <a:endParaRPr lang="en-US" sz="2600" dirty="0"/>
          </a:p>
        </p:txBody>
      </p:sp>
      <p:sp>
        <p:nvSpPr>
          <p:cNvPr id="14" name="a3-b"/>
          <p:cNvSpPr/>
          <p:nvPr/>
        </p:nvSpPr>
        <p:spPr>
          <a:xfrm>
            <a:off x="4809744" y="1325880"/>
            <a:ext cx="1691640" cy="1234440"/>
          </a:xfrm>
          <a:prstGeom prst="roundRect">
            <a:avLst>
              <a:gd name="adj" fmla="val 8889"/>
            </a:avLst>
          </a:prstGeom>
          <a:solidFill>
            <a:schemeClr val="bg2"/>
          </a:solidFill>
          <a:ln/>
        </p:spPr>
      </p:sp>
      <p:pic>
        <p:nvPicPr>
          <p:cNvPr id="15" name="a3-b" descr="preencoded.png"/>
          <p:cNvPicPr>
            <a:picLocks noChangeAspect="1"/>
          </p:cNvPicPr>
          <p:nvPr/>
        </p:nvPicPr>
        <p:blipFill>
          <a:blip r:embed="rId5"/>
          <a:stretch>
            <a:fillRect/>
          </a:stretch>
        </p:blipFill>
        <p:spPr>
          <a:xfrm>
            <a:off x="4946904" y="1463040"/>
            <a:ext cx="310896" cy="310896"/>
          </a:xfrm>
          <a:prstGeom prst="rect">
            <a:avLst/>
          </a:prstGeom>
        </p:spPr>
      </p:pic>
      <p:sp>
        <p:nvSpPr>
          <p:cNvPr id="16" name="a3-b"/>
          <p:cNvSpPr txBox="1"/>
          <p:nvPr/>
        </p:nvSpPr>
        <p:spPr>
          <a:xfrm>
            <a:off x="4946904" y="1810512"/>
            <a:ext cx="146304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±20 sak</a:t>
            </a:r>
            <a:endParaRPr lang="en-US" sz="2000" dirty="0"/>
          </a:p>
        </p:txBody>
      </p:sp>
      <p:sp>
        <p:nvSpPr>
          <p:cNvPr id="17" name="a3-b"/>
          <p:cNvSpPr txBox="1"/>
          <p:nvPr/>
        </p:nvSpPr>
        <p:spPr>
          <a:xfrm>
            <a:off x="4946904" y="2167128"/>
            <a:ext cx="1463040" cy="365760"/>
          </a:xfrm>
          <a:prstGeom prst="rect">
            <a:avLst/>
          </a:prstGeom>
          <a:noFill/>
          <a:ln/>
        </p:spPr>
        <p:txBody>
          <a:bodyPr wrap="square" lIns="0" tIns="0" rIns="0" bIns="0" rtlCol="0" anchor="t"/>
          <a:lstStyle/>
          <a:p>
            <a:pPr marL="0" indent="0">
              <a:buNone/>
            </a:pPr>
            <a:r>
              <a:rPr lang="en-US" sz="1200" dirty="0">
                <a:solidFill>
                  <a:schemeClr val="tx2"/>
                </a:solidFill>
              </a:rPr>
              <a:t>terjual per minggu</a:t>
            </a:r>
            <a:endParaRPr lang="en-US" sz="1200" dirty="0"/>
          </a:p>
        </p:txBody>
      </p:sp>
      <p:sp>
        <p:nvSpPr>
          <p:cNvPr id="18" name="a4-b"/>
          <p:cNvSpPr txBox="1"/>
          <p:nvPr/>
        </p:nvSpPr>
        <p:spPr>
          <a:xfrm>
            <a:off x="6501384" y="1325880"/>
            <a:ext cx="484632" cy="1234440"/>
          </a:xfrm>
          <a:prstGeom prst="rect">
            <a:avLst/>
          </a:prstGeom>
          <a:noFill/>
          <a:ln/>
        </p:spPr>
        <p:txBody>
          <a:bodyPr wrap="square" lIns="0" tIns="0" rIns="0" bIns="0" rtlCol="0" anchor="ctr"/>
          <a:lstStyle/>
          <a:p>
            <a:pPr marL="0" indent="0" algn="ctr">
              <a:buNone/>
            </a:pPr>
            <a:r>
              <a:rPr lang="en-US" sz="2600" b="1" dirty="0">
                <a:solidFill>
                  <a:schemeClr val="tx1"/>
                </a:solidFill>
              </a:rPr>
              <a:t>→</a:t>
            </a:r>
            <a:endParaRPr lang="en-US" sz="2600" dirty="0"/>
          </a:p>
        </p:txBody>
      </p:sp>
      <p:sp>
        <p:nvSpPr>
          <p:cNvPr id="19" name="a4-b"/>
          <p:cNvSpPr/>
          <p:nvPr/>
        </p:nvSpPr>
        <p:spPr>
          <a:xfrm>
            <a:off x="6986016" y="1325880"/>
            <a:ext cx="1691640" cy="1234440"/>
          </a:xfrm>
          <a:prstGeom prst="roundRect">
            <a:avLst>
              <a:gd name="adj" fmla="val 8889"/>
            </a:avLst>
          </a:prstGeom>
          <a:solidFill>
            <a:schemeClr val="accent1"/>
          </a:solidFill>
          <a:ln/>
        </p:spPr>
      </p:sp>
      <p:pic>
        <p:nvPicPr>
          <p:cNvPr id="20" name="a4-b" descr="preencoded.png"/>
          <p:cNvPicPr>
            <a:picLocks noChangeAspect="1"/>
          </p:cNvPicPr>
          <p:nvPr/>
        </p:nvPicPr>
        <p:blipFill>
          <a:blip r:embed="rId6"/>
          <a:stretch>
            <a:fillRect/>
          </a:stretch>
        </p:blipFill>
        <p:spPr>
          <a:xfrm>
            <a:off x="7123176" y="1463040"/>
            <a:ext cx="310896" cy="310896"/>
          </a:xfrm>
          <a:prstGeom prst="rect">
            <a:avLst/>
          </a:prstGeom>
        </p:spPr>
      </p:pic>
      <p:sp>
        <p:nvSpPr>
          <p:cNvPr id="21" name="a4-b"/>
          <p:cNvSpPr txBox="1"/>
          <p:nvPr/>
        </p:nvSpPr>
        <p:spPr>
          <a:xfrm>
            <a:off x="7123176" y="1810512"/>
            <a:ext cx="146304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20–30 sak</a:t>
            </a:r>
            <a:endParaRPr lang="en-US" sz="2000" dirty="0"/>
          </a:p>
        </p:txBody>
      </p:sp>
      <p:sp>
        <p:nvSpPr>
          <p:cNvPr id="22" name="a4-b"/>
          <p:cNvSpPr txBox="1"/>
          <p:nvPr/>
        </p:nvSpPr>
        <p:spPr>
          <a:xfrm>
            <a:off x="7123176" y="2167128"/>
            <a:ext cx="1463040" cy="365760"/>
          </a:xfrm>
          <a:prstGeom prst="rect">
            <a:avLst/>
          </a:prstGeom>
          <a:noFill/>
          <a:ln/>
        </p:spPr>
        <p:txBody>
          <a:bodyPr wrap="square" lIns="0" tIns="0" rIns="0" bIns="0" rtlCol="0" anchor="t"/>
          <a:lstStyle/>
          <a:p>
            <a:pPr marL="0" indent="0">
              <a:buNone/>
            </a:pPr>
            <a:r>
              <a:rPr lang="en-US" sz="1200" dirty="0">
                <a:solidFill>
                  <a:schemeClr val="tx2"/>
                </a:solidFill>
              </a:rPr>
              <a:t>order uji coba (bukan 100!)</a:t>
            </a:r>
            <a:endParaRPr lang="en-US" sz="1200" dirty="0"/>
          </a:p>
        </p:txBody>
      </p:sp>
      <p:sp>
        <p:nvSpPr>
          <p:cNvPr id="23" name="a5-w"/>
          <p:cNvSpPr txBox="1"/>
          <p:nvPr/>
        </p:nvSpPr>
        <p:spPr>
          <a:xfrm>
            <a:off x="457200" y="2697480"/>
            <a:ext cx="8229600" cy="502920"/>
          </a:xfrm>
          <a:prstGeom prst="roundRect">
            <a:avLst>
              <a:gd name="adj" fmla="val 21818"/>
            </a:avLst>
          </a:prstGeom>
          <a:solidFill>
            <a:schemeClr val="tx1"/>
          </a:solidFill>
          <a:ln/>
        </p:spPr>
        <p:txBody>
          <a:bodyPr wrap="square" lIns="0" tIns="0" rIns="0" bIns="0" rtlCol="0" anchor="ctr"/>
          <a:lstStyle/>
          <a:p>
            <a:pPr marL="0" indent="0" algn="ctr">
              <a:buNone/>
            </a:pPr>
            <a:r>
              <a:rPr lang="en-US" sz="1400" b="1" dirty="0">
                <a:solidFill>
                  <a:schemeClr val="accent1"/>
                </a:solidFill>
              </a:rPr>
              <a:t>Uji coba gagal = toko menolak produk itu lama. </a:t>
            </a:r>
            <a:r>
              <a:rPr lang="en-US" sz="1400" dirty="0">
                <a:solidFill>
                  <a:schemeClr val="bg1"/>
                </a:solidFill>
              </a:rPr>
              <a:t>Hitung jumlahnya supaya habis ≤ 2 minggu, jangan ditebak.</a:t>
            </a:r>
            <a:endParaRPr lang="en-US" sz="1400" dirty="0"/>
          </a:p>
        </p:txBody>
      </p:sp>
      <p:sp>
        <p:nvSpPr>
          <p:cNvPr id="24" name="a6-h"/>
          <p:cNvSpPr txBox="1"/>
          <p:nvPr/>
        </p:nvSpPr>
        <p:spPr>
          <a:xfrm>
            <a:off x="457200" y="3310128"/>
            <a:ext cx="822960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PENDUKUNG AGAR UJI COBA BERHASIL</a:t>
            </a:r>
            <a:endParaRPr lang="en-US" sz="1100" dirty="0"/>
          </a:p>
        </p:txBody>
      </p:sp>
      <p:sp>
        <p:nvSpPr>
          <p:cNvPr id="25" name="a6-sp"/>
          <p:cNvSpPr/>
          <p:nvPr/>
        </p:nvSpPr>
        <p:spPr>
          <a:xfrm>
            <a:off x="457200" y="3584448"/>
            <a:ext cx="2651760" cy="896112"/>
          </a:xfrm>
          <a:prstGeom prst="roundRect">
            <a:avLst>
              <a:gd name="adj" fmla="val 12245"/>
            </a:avLst>
          </a:prstGeom>
          <a:solidFill>
            <a:schemeClr val="accent2"/>
          </a:solidFill>
          <a:ln/>
        </p:spPr>
      </p:sp>
      <p:sp>
        <p:nvSpPr>
          <p:cNvPr id="26" name="a6-sp"/>
          <p:cNvSpPr/>
          <p:nvPr/>
        </p:nvSpPr>
        <p:spPr>
          <a:xfrm>
            <a:off x="594360" y="3776472"/>
            <a:ext cx="502920" cy="502920"/>
          </a:xfrm>
          <a:prstGeom prst="ellipse">
            <a:avLst/>
          </a:prstGeom>
          <a:solidFill>
            <a:schemeClr val="accent1"/>
          </a:solidFill>
          <a:ln/>
        </p:spPr>
      </p:sp>
      <p:pic>
        <p:nvPicPr>
          <p:cNvPr id="27" name="a6-sp" descr="preencoded.png"/>
          <p:cNvPicPr>
            <a:picLocks noChangeAspect="1"/>
          </p:cNvPicPr>
          <p:nvPr/>
        </p:nvPicPr>
        <p:blipFill>
          <a:blip r:embed="rId7"/>
          <a:stretch>
            <a:fillRect/>
          </a:stretch>
        </p:blipFill>
        <p:spPr>
          <a:xfrm>
            <a:off x="725119" y="3907231"/>
            <a:ext cx="241402" cy="241402"/>
          </a:xfrm>
          <a:prstGeom prst="rect">
            <a:avLst/>
          </a:prstGeom>
        </p:spPr>
      </p:pic>
      <p:sp>
        <p:nvSpPr>
          <p:cNvPr id="28" name="a6-sp"/>
          <p:cNvSpPr txBox="1"/>
          <p:nvPr/>
        </p:nvSpPr>
        <p:spPr>
          <a:xfrm>
            <a:off x="1207008" y="3584448"/>
            <a:ext cx="1810512" cy="896112"/>
          </a:xfrm>
          <a:prstGeom prst="rect">
            <a:avLst/>
          </a:prstGeom>
          <a:noFill/>
          <a:ln/>
        </p:spPr>
        <p:txBody>
          <a:bodyPr wrap="square" lIns="0" tIns="0" rIns="0" bIns="0" rtlCol="0" anchor="ctr"/>
          <a:lstStyle/>
          <a:p>
            <a:pPr marL="0" indent="0">
              <a:buNone/>
            </a:pPr>
            <a:r>
              <a:rPr lang="en-US" sz="1300" dirty="0">
                <a:solidFill>
                  <a:schemeClr val="tx1"/>
                </a:solidFill>
              </a:rPr>
              <a:t>Pajang di dekat semen atau kasir, bukan di gudang belakang.</a:t>
            </a:r>
            <a:endParaRPr lang="en-US" sz="1300" dirty="0"/>
          </a:p>
        </p:txBody>
      </p:sp>
      <p:sp>
        <p:nvSpPr>
          <p:cNvPr id="29" name="a7-sp"/>
          <p:cNvSpPr/>
          <p:nvPr/>
        </p:nvSpPr>
        <p:spPr>
          <a:xfrm>
            <a:off x="3246120" y="3584448"/>
            <a:ext cx="2651760" cy="896112"/>
          </a:xfrm>
          <a:prstGeom prst="roundRect">
            <a:avLst>
              <a:gd name="adj" fmla="val 12245"/>
            </a:avLst>
          </a:prstGeom>
          <a:solidFill>
            <a:schemeClr val="accent2"/>
          </a:solidFill>
          <a:ln/>
        </p:spPr>
      </p:sp>
      <p:sp>
        <p:nvSpPr>
          <p:cNvPr id="30" name="a7-sp"/>
          <p:cNvSpPr/>
          <p:nvPr/>
        </p:nvSpPr>
        <p:spPr>
          <a:xfrm>
            <a:off x="3383280" y="3776472"/>
            <a:ext cx="502920" cy="502920"/>
          </a:xfrm>
          <a:prstGeom prst="ellipse">
            <a:avLst/>
          </a:prstGeom>
          <a:solidFill>
            <a:schemeClr val="accent1"/>
          </a:solidFill>
          <a:ln/>
        </p:spPr>
      </p:sp>
      <p:pic>
        <p:nvPicPr>
          <p:cNvPr id="31" name="a7-sp" descr="preencoded.png"/>
          <p:cNvPicPr>
            <a:picLocks noChangeAspect="1"/>
          </p:cNvPicPr>
          <p:nvPr/>
        </p:nvPicPr>
        <p:blipFill>
          <a:blip r:embed="rId8"/>
          <a:stretch>
            <a:fillRect/>
          </a:stretch>
        </p:blipFill>
        <p:spPr>
          <a:xfrm>
            <a:off x="3514039" y="3907231"/>
            <a:ext cx="241402" cy="241402"/>
          </a:xfrm>
          <a:prstGeom prst="rect">
            <a:avLst/>
          </a:prstGeom>
        </p:spPr>
      </p:pic>
      <p:sp>
        <p:nvSpPr>
          <p:cNvPr id="32" name="a7-sp"/>
          <p:cNvSpPr txBox="1"/>
          <p:nvPr/>
        </p:nvSpPr>
        <p:spPr>
          <a:xfrm>
            <a:off x="3995928" y="3584448"/>
            <a:ext cx="1810512" cy="896112"/>
          </a:xfrm>
          <a:prstGeom prst="rect">
            <a:avLst/>
          </a:prstGeom>
          <a:noFill/>
          <a:ln/>
        </p:spPr>
        <p:txBody>
          <a:bodyPr wrap="square" lIns="0" tIns="0" rIns="0" bIns="0" rtlCol="0" anchor="ctr"/>
          <a:lstStyle/>
          <a:p>
            <a:pPr marL="0" indent="0">
              <a:buNone/>
            </a:pPr>
            <a:r>
              <a:rPr lang="en-US" sz="1300" dirty="0">
                <a:solidFill>
                  <a:schemeClr val="tx1"/>
                </a:solidFill>
              </a:rPr>
              <a:t>Ikut kenalkan produk ke tukang langganan toko.</a:t>
            </a:r>
            <a:endParaRPr lang="en-US" sz="1300" dirty="0"/>
          </a:p>
        </p:txBody>
      </p:sp>
      <p:sp>
        <p:nvSpPr>
          <p:cNvPr id="33" name="a8-sp"/>
          <p:cNvSpPr/>
          <p:nvPr/>
        </p:nvSpPr>
        <p:spPr>
          <a:xfrm>
            <a:off x="6035040" y="3584448"/>
            <a:ext cx="2651760" cy="896112"/>
          </a:xfrm>
          <a:prstGeom prst="roundRect">
            <a:avLst>
              <a:gd name="adj" fmla="val 12245"/>
            </a:avLst>
          </a:prstGeom>
          <a:solidFill>
            <a:schemeClr val="accent2"/>
          </a:solidFill>
          <a:ln/>
        </p:spPr>
      </p:sp>
      <p:sp>
        <p:nvSpPr>
          <p:cNvPr id="34" name="a8-sp"/>
          <p:cNvSpPr/>
          <p:nvPr/>
        </p:nvSpPr>
        <p:spPr>
          <a:xfrm>
            <a:off x="6172200" y="3776472"/>
            <a:ext cx="502920" cy="502920"/>
          </a:xfrm>
          <a:prstGeom prst="ellipse">
            <a:avLst/>
          </a:prstGeom>
          <a:solidFill>
            <a:schemeClr val="accent1"/>
          </a:solidFill>
          <a:ln/>
        </p:spPr>
      </p:sp>
      <p:pic>
        <p:nvPicPr>
          <p:cNvPr id="35" name="a8-sp" descr="preencoded.png"/>
          <p:cNvPicPr>
            <a:picLocks noChangeAspect="1"/>
          </p:cNvPicPr>
          <p:nvPr/>
        </p:nvPicPr>
        <p:blipFill>
          <a:blip r:embed="rId9"/>
          <a:stretch>
            <a:fillRect/>
          </a:stretch>
        </p:blipFill>
        <p:spPr>
          <a:xfrm>
            <a:off x="6302959" y="3907231"/>
            <a:ext cx="241402" cy="241402"/>
          </a:xfrm>
          <a:prstGeom prst="rect">
            <a:avLst/>
          </a:prstGeom>
        </p:spPr>
      </p:pic>
      <p:sp>
        <p:nvSpPr>
          <p:cNvPr id="36" name="a8-sp"/>
          <p:cNvSpPr txBox="1"/>
          <p:nvPr/>
        </p:nvSpPr>
        <p:spPr>
          <a:xfrm>
            <a:off x="6784848" y="3584448"/>
            <a:ext cx="1810512" cy="896112"/>
          </a:xfrm>
          <a:prstGeom prst="rect">
            <a:avLst/>
          </a:prstGeom>
          <a:noFill/>
          <a:ln/>
        </p:spPr>
        <p:txBody>
          <a:bodyPr wrap="square" lIns="0" tIns="0" rIns="0" bIns="0" rtlCol="0" anchor="ctr"/>
          <a:lstStyle/>
          <a:p>
            <a:pPr marL="0" indent="0">
              <a:buNone/>
            </a:pPr>
            <a:r>
              <a:rPr lang="en-US" sz="1300" dirty="0">
                <a:solidFill>
                  <a:schemeClr val="tx1"/>
                </a:solidFill>
              </a:rPr>
              <a:t>Kunjungi lagi hari ke-7 dan ke-14, cek dan atasi hambatan.</a:t>
            </a:r>
            <a:endParaRPr lang="en-US" sz="1300" dirty="0"/>
          </a:p>
        </p:txBody>
      </p:sp>
      <p:sp>
        <p:nvSpPr>
          <p:cNvPr id="37"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4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par>
                          <p:cTn id="33" fill="hold">
                            <p:stCondLst>
                              <p:cond delay="800"/>
                            </p:stCondLst>
                            <p:childTnLst>
                              <p:par>
                                <p:cTn id="34" presetID="10"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par>
                          <p:cTn id="49" fill="hold">
                            <p:stCondLst>
                              <p:cond delay="1200"/>
                            </p:stCondLst>
                            <p:childTnLst>
                              <p:par>
                                <p:cTn id="50" presetID="10" presetClass="entr" presetSubtype="0" fill="hold"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par>
                          <p:cTn id="65" fill="hold">
                            <p:stCondLst>
                              <p:cond delay="1600"/>
                            </p:stCondLst>
                            <p:childTnLst>
                              <p:par>
                                <p:cTn id="66" presetID="10" presetClass="entr" presetSubtype="0"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childTnLst>
                          </p:cTn>
                        </p:par>
                        <p:par>
                          <p:cTn id="69" fill="hold">
                            <p:stCondLst>
                              <p:cond delay="2000"/>
                            </p:stCondLst>
                            <p:childTnLst>
                              <p:par>
                                <p:cTn id="70" presetID="10" presetClass="entr" presetSubtype="0" fill="hold"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childTnLst>
                          </p:cTn>
                        </p:par>
                        <p:par>
                          <p:cTn id="85" fill="hold">
                            <p:stCondLst>
                              <p:cond delay="2400"/>
                            </p:stCondLst>
                            <p:childTnLst>
                              <p:par>
                                <p:cTn id="86" presetID="10" presetClass="entr" presetSubtype="0" fill="hold" nodeType="after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childTnLst>
                          </p:cTn>
                        </p:par>
                        <p:par>
                          <p:cTn id="98" fill="hold">
                            <p:stCondLst>
                              <p:cond delay="2800"/>
                            </p:stCondLst>
                            <p:childTnLst>
                              <p:par>
                                <p:cTn id="99" presetID="10" presetClass="entr" presetSubtype="0" fill="hold" nodeType="after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par>
                                <p:cTn id="105" presetID="10" presetClass="entr" presetSubtype="0" fill="hold"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500"/>
                                        <p:tgtEl>
                                          <p:spTgt spid="35"/>
                                        </p:tgtEl>
                                      </p:cBhvr>
                                    </p:animEffect>
                                  </p:childTnLst>
                                </p:cTn>
                              </p:par>
                              <p:par>
                                <p:cTn id="108" presetID="10" presetClass="entr" presetSubtype="0" fill="hold" nodeType="with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Menutup: Naik Tangga Komitmen</a:t>
            </a:r>
            <a:endParaRPr lang="en-US" sz="2800" dirty="0"/>
          </a:p>
        </p:txBody>
      </p:sp>
      <p:sp>
        <p:nvSpPr>
          <p:cNvPr id="3" name="pill"/>
          <p:cNvSpPr txBox="1"/>
          <p:nvPr/>
        </p:nvSpPr>
        <p:spPr>
          <a:xfrm>
            <a:off x="457200" y="237744"/>
            <a:ext cx="2531059"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MODUL 3.5  ·  MENUTUP PENJUALAN</a:t>
            </a:r>
            <a:endParaRPr lang="en-US" sz="1000" dirty="0"/>
          </a:p>
        </p:txBody>
      </p:sp>
      <p:sp>
        <p:nvSpPr>
          <p:cNvPr id="4" name="a2-st"/>
          <p:cNvSpPr/>
          <p:nvPr/>
        </p:nvSpPr>
        <p:spPr>
          <a:xfrm>
            <a:off x="457200" y="3566160"/>
            <a:ext cx="1234440" cy="868680"/>
          </a:xfrm>
          <a:prstGeom prst="roundRect">
            <a:avLst>
              <a:gd name="adj" fmla="val 8421"/>
            </a:avLst>
          </a:prstGeom>
          <a:solidFill>
            <a:schemeClr val="bg2"/>
          </a:solidFill>
          <a:ln/>
        </p:spPr>
      </p:sp>
      <p:sp>
        <p:nvSpPr>
          <p:cNvPr id="5" name="a2-st"/>
          <p:cNvSpPr txBox="1"/>
          <p:nvPr/>
        </p:nvSpPr>
        <p:spPr>
          <a:xfrm>
            <a:off x="548640" y="3639312"/>
            <a:ext cx="1051560" cy="777240"/>
          </a:xfrm>
          <a:prstGeom prst="rect">
            <a:avLst/>
          </a:prstGeom>
          <a:noFill/>
          <a:ln/>
        </p:spPr>
        <p:txBody>
          <a:bodyPr wrap="square" lIns="0" tIns="0" rIns="0" bIns="0" rtlCol="0" anchor="t"/>
          <a:lstStyle/>
          <a:p>
            <a:pPr marL="0" indent="0" algn="ctr">
              <a:buNone/>
            </a:pPr>
            <a:r>
              <a:rPr lang="en-US" sz="2200" b="1" dirty="0">
                <a:solidFill>
                  <a:schemeClr val="tx1"/>
                </a:solidFill>
              </a:rPr>
              <a:t>1</a:t>
            </a:r>
            <a:endParaRPr lang="en-US" sz="1400" dirty="0"/>
          </a:p>
          <a:p>
            <a:pPr marL="0" indent="0" algn="ctr">
              <a:buNone/>
            </a:pPr>
            <a:r>
              <a:rPr lang="en-US" sz="1300" b="1" dirty="0">
                <a:solidFill>
                  <a:schemeClr val="tx1"/>
                </a:solidFill>
              </a:rPr>
              <a:t>Pajang contoh barang</a:t>
            </a:r>
            <a:endParaRPr lang="en-US" sz="1400" dirty="0"/>
          </a:p>
        </p:txBody>
      </p:sp>
      <p:sp>
        <p:nvSpPr>
          <p:cNvPr id="6" name="a3-st"/>
          <p:cNvSpPr/>
          <p:nvPr/>
        </p:nvSpPr>
        <p:spPr>
          <a:xfrm>
            <a:off x="1764792" y="2999232"/>
            <a:ext cx="1234440" cy="1435608"/>
          </a:xfrm>
          <a:prstGeom prst="roundRect">
            <a:avLst>
              <a:gd name="adj" fmla="val 5926"/>
            </a:avLst>
          </a:prstGeom>
          <a:solidFill>
            <a:schemeClr val="accent2"/>
          </a:solidFill>
          <a:ln/>
        </p:spPr>
      </p:sp>
      <p:sp>
        <p:nvSpPr>
          <p:cNvPr id="7" name="a3-st"/>
          <p:cNvSpPr txBox="1"/>
          <p:nvPr/>
        </p:nvSpPr>
        <p:spPr>
          <a:xfrm>
            <a:off x="1856232" y="3072384"/>
            <a:ext cx="1051560" cy="868680"/>
          </a:xfrm>
          <a:prstGeom prst="rect">
            <a:avLst/>
          </a:prstGeom>
          <a:noFill/>
          <a:ln/>
        </p:spPr>
        <p:txBody>
          <a:bodyPr wrap="square" lIns="0" tIns="0" rIns="0" bIns="0" rtlCol="0" anchor="t"/>
          <a:lstStyle/>
          <a:p>
            <a:pPr marL="0" indent="0" algn="ctr">
              <a:buNone/>
            </a:pPr>
            <a:r>
              <a:rPr lang="en-US" sz="2200" b="1" dirty="0">
                <a:solidFill>
                  <a:schemeClr val="tx1"/>
                </a:solidFill>
              </a:rPr>
              <a:t>2</a:t>
            </a:r>
            <a:endParaRPr lang="en-US" sz="1400" dirty="0"/>
          </a:p>
          <a:p>
            <a:pPr marL="0" indent="0" algn="ctr">
              <a:buNone/>
            </a:pPr>
            <a:r>
              <a:rPr lang="en-US" sz="1300" b="1" dirty="0">
                <a:solidFill>
                  <a:schemeClr val="tx1"/>
                </a:solidFill>
              </a:rPr>
              <a:t>Order uji coba</a:t>
            </a:r>
            <a:endParaRPr lang="en-US" sz="1400" dirty="0"/>
          </a:p>
        </p:txBody>
      </p:sp>
      <p:sp>
        <p:nvSpPr>
          <p:cNvPr id="8" name="a4-st"/>
          <p:cNvSpPr/>
          <p:nvPr/>
        </p:nvSpPr>
        <p:spPr>
          <a:xfrm>
            <a:off x="3072384" y="2432304"/>
            <a:ext cx="1234440" cy="2002536"/>
          </a:xfrm>
          <a:prstGeom prst="roundRect">
            <a:avLst>
              <a:gd name="adj" fmla="val 5926"/>
            </a:avLst>
          </a:prstGeom>
          <a:solidFill>
            <a:schemeClr val="accent1"/>
          </a:solidFill>
          <a:ln/>
        </p:spPr>
      </p:sp>
      <p:sp>
        <p:nvSpPr>
          <p:cNvPr id="9" name="a4-st"/>
          <p:cNvSpPr txBox="1"/>
          <p:nvPr/>
        </p:nvSpPr>
        <p:spPr>
          <a:xfrm>
            <a:off x="3163824" y="2505456"/>
            <a:ext cx="1051560" cy="868680"/>
          </a:xfrm>
          <a:prstGeom prst="rect">
            <a:avLst/>
          </a:prstGeom>
          <a:noFill/>
          <a:ln/>
        </p:spPr>
        <p:txBody>
          <a:bodyPr wrap="square" lIns="0" tIns="0" rIns="0" bIns="0" rtlCol="0" anchor="t"/>
          <a:lstStyle/>
          <a:p>
            <a:pPr marL="0" indent="0" algn="ctr">
              <a:buNone/>
            </a:pPr>
            <a:r>
              <a:rPr lang="en-US" sz="2200" b="1" dirty="0">
                <a:solidFill>
                  <a:schemeClr val="tx1"/>
                </a:solidFill>
              </a:rPr>
              <a:t>3</a:t>
            </a:r>
            <a:endParaRPr lang="en-US" sz="1400" dirty="0"/>
          </a:p>
          <a:p>
            <a:pPr marL="0" indent="0" algn="ctr">
              <a:buNone/>
            </a:pPr>
            <a:r>
              <a:rPr lang="en-US" sz="1300" b="1" dirty="0">
                <a:solidFill>
                  <a:schemeClr val="tx1"/>
                </a:solidFill>
              </a:rPr>
              <a:t>Order rutin</a:t>
            </a:r>
            <a:endParaRPr lang="en-US" sz="1400" dirty="0"/>
          </a:p>
        </p:txBody>
      </p:sp>
      <p:sp>
        <p:nvSpPr>
          <p:cNvPr id="10" name="a5-st"/>
          <p:cNvSpPr/>
          <p:nvPr/>
        </p:nvSpPr>
        <p:spPr>
          <a:xfrm>
            <a:off x="4379976" y="1865376"/>
            <a:ext cx="1234440" cy="2569464"/>
          </a:xfrm>
          <a:prstGeom prst="roundRect">
            <a:avLst>
              <a:gd name="adj" fmla="val 5926"/>
            </a:avLst>
          </a:prstGeom>
          <a:solidFill>
            <a:schemeClr val="tx1"/>
          </a:solidFill>
          <a:ln/>
        </p:spPr>
      </p:sp>
      <p:sp>
        <p:nvSpPr>
          <p:cNvPr id="11" name="a5-st"/>
          <p:cNvSpPr txBox="1"/>
          <p:nvPr/>
        </p:nvSpPr>
        <p:spPr>
          <a:xfrm>
            <a:off x="4471416" y="1938528"/>
            <a:ext cx="1051560" cy="868680"/>
          </a:xfrm>
          <a:prstGeom prst="rect">
            <a:avLst/>
          </a:prstGeom>
          <a:noFill/>
          <a:ln/>
        </p:spPr>
        <p:txBody>
          <a:bodyPr wrap="square" lIns="0" tIns="0" rIns="0" bIns="0" rtlCol="0" anchor="t"/>
          <a:lstStyle/>
          <a:p>
            <a:pPr marL="0" indent="0" algn="ctr">
              <a:buNone/>
            </a:pPr>
            <a:r>
              <a:rPr lang="en-US" sz="2200" b="1" dirty="0">
                <a:solidFill>
                  <a:schemeClr val="accent1"/>
                </a:solidFill>
              </a:rPr>
              <a:t>4</a:t>
            </a:r>
            <a:endParaRPr lang="en-US" sz="1400" dirty="0"/>
          </a:p>
          <a:p>
            <a:pPr marL="0" indent="0" algn="ctr">
              <a:buNone/>
            </a:pPr>
            <a:r>
              <a:rPr lang="en-US" sz="1300" b="1" dirty="0">
                <a:solidFill>
                  <a:schemeClr val="bg1"/>
                </a:solidFill>
              </a:rPr>
              <a:t>Tambah jenis produk</a:t>
            </a:r>
            <a:endParaRPr lang="en-US" sz="1400" dirty="0"/>
          </a:p>
        </p:txBody>
      </p:sp>
      <p:pic>
        <p:nvPicPr>
          <p:cNvPr id="12" name="a1-man" descr="preencoded.png"/>
          <p:cNvPicPr>
            <a:picLocks noChangeAspect="1"/>
          </p:cNvPicPr>
          <p:nvPr/>
        </p:nvPicPr>
        <p:blipFill>
          <a:blip r:embed="rId3"/>
          <a:stretch>
            <a:fillRect/>
          </a:stretch>
        </p:blipFill>
        <p:spPr>
          <a:xfrm>
            <a:off x="658368" y="2514600"/>
            <a:ext cx="822960" cy="1097280"/>
          </a:xfrm>
          <a:prstGeom prst="rect">
            <a:avLst/>
          </a:prstGeom>
        </p:spPr>
      </p:pic>
      <p:sp>
        <p:nvSpPr>
          <p:cNvPr id="13" name="a6-c1"/>
          <p:cNvSpPr txBox="1"/>
          <p:nvPr/>
        </p:nvSpPr>
        <p:spPr>
          <a:xfrm>
            <a:off x="5852160" y="1298448"/>
            <a:ext cx="2743200" cy="228600"/>
          </a:xfrm>
          <a:prstGeom prst="rect">
            <a:avLst/>
          </a:prstGeom>
          <a:noFill/>
          <a:ln/>
        </p:spPr>
        <p:txBody>
          <a:bodyPr wrap="square" lIns="0" tIns="0" rIns="0" bIns="0" rtlCol="0" anchor="t"/>
          <a:lstStyle/>
          <a:p>
            <a:pPr marL="0" indent="0">
              <a:buNone/>
            </a:pPr>
            <a:r>
              <a:rPr lang="en-US" sz="1100" b="1" kern="0" spc="100" dirty="0">
                <a:solidFill>
                  <a:schemeClr val="accent3"/>
                </a:solidFill>
              </a:rPr>
              <a:t>KALIMAT PENUTUP</a:t>
            </a:r>
            <a:endParaRPr lang="en-US" sz="1100" dirty="0"/>
          </a:p>
        </p:txBody>
      </p:sp>
      <p:sp>
        <p:nvSpPr>
          <p:cNvPr id="14" name="a6-c1"/>
          <p:cNvSpPr/>
          <p:nvPr/>
        </p:nvSpPr>
        <p:spPr>
          <a:xfrm>
            <a:off x="5852160" y="1600200"/>
            <a:ext cx="2834640" cy="1005840"/>
          </a:xfrm>
          <a:prstGeom prst="roundRect">
            <a:avLst>
              <a:gd name="adj" fmla="val 10909"/>
            </a:avLst>
          </a:prstGeom>
          <a:solidFill>
            <a:schemeClr val="accent1"/>
          </a:solidFill>
          <a:ln/>
        </p:spPr>
      </p:sp>
      <p:sp>
        <p:nvSpPr>
          <p:cNvPr id="15" name="a6-c1"/>
          <p:cNvSpPr txBox="1"/>
          <p:nvPr/>
        </p:nvSpPr>
        <p:spPr>
          <a:xfrm>
            <a:off x="5989320" y="1664208"/>
            <a:ext cx="2606040" cy="896112"/>
          </a:xfrm>
          <a:prstGeom prst="rect">
            <a:avLst/>
          </a:prstGeom>
          <a:noFill/>
          <a:ln/>
        </p:spPr>
        <p:txBody>
          <a:bodyPr wrap="square" lIns="0" tIns="0" rIns="0" bIns="0" rtlCol="0" anchor="ctr"/>
          <a:lstStyle/>
          <a:p>
            <a:pPr marL="0" indent="0">
              <a:spcAft>
                <a:spcPts val="300"/>
              </a:spcAft>
              <a:buNone/>
            </a:pPr>
            <a:r>
              <a:rPr lang="en-US" sz="1300" b="1" dirty="0">
                <a:solidFill>
                  <a:schemeClr val="tx1"/>
                </a:solidFill>
              </a:rPr>
              <a:t>Beri pilihan, bukan ya/tidak</a:t>
            </a:r>
            <a:endParaRPr lang="en-US" sz="1400" dirty="0"/>
          </a:p>
          <a:p>
            <a:pPr marL="0" indent="0">
              <a:spcAft>
                <a:spcPts val="300"/>
              </a:spcAft>
              <a:buNone/>
            </a:pPr>
            <a:r>
              <a:rPr lang="en-US" sz="1500" i="1" dirty="0">
                <a:solidFill>
                  <a:schemeClr val="tx1"/>
                </a:solidFill>
              </a:rPr>
              <a:t>“Mau ambil 20 atau 30 sak, Pak?”</a:t>
            </a:r>
            <a:endParaRPr lang="en-US" sz="1400" dirty="0"/>
          </a:p>
        </p:txBody>
      </p:sp>
      <p:sp>
        <p:nvSpPr>
          <p:cNvPr id="16" name="a7-c2"/>
          <p:cNvSpPr/>
          <p:nvPr/>
        </p:nvSpPr>
        <p:spPr>
          <a:xfrm>
            <a:off x="5852160" y="2743200"/>
            <a:ext cx="2834640" cy="1005840"/>
          </a:xfrm>
          <a:prstGeom prst="roundRect">
            <a:avLst>
              <a:gd name="adj" fmla="val 10909"/>
            </a:avLst>
          </a:prstGeom>
          <a:solidFill>
            <a:schemeClr val="tx1"/>
          </a:solidFill>
          <a:ln/>
        </p:spPr>
      </p:sp>
      <p:sp>
        <p:nvSpPr>
          <p:cNvPr id="17" name="a7-c2"/>
          <p:cNvSpPr txBox="1"/>
          <p:nvPr/>
        </p:nvSpPr>
        <p:spPr>
          <a:xfrm>
            <a:off x="5989320" y="2807208"/>
            <a:ext cx="2606040" cy="896112"/>
          </a:xfrm>
          <a:prstGeom prst="rect">
            <a:avLst/>
          </a:prstGeom>
          <a:noFill/>
          <a:ln/>
        </p:spPr>
        <p:txBody>
          <a:bodyPr wrap="square" lIns="0" tIns="0" rIns="0" bIns="0" rtlCol="0" anchor="ctr"/>
          <a:lstStyle/>
          <a:p>
            <a:pPr marL="0" indent="0">
              <a:spcAft>
                <a:spcPts val="300"/>
              </a:spcAft>
              <a:buNone/>
            </a:pPr>
            <a:r>
              <a:rPr lang="en-US" sz="1300" b="1" dirty="0">
                <a:solidFill>
                  <a:schemeClr val="accent1"/>
                </a:solidFill>
              </a:rPr>
              <a:t>Ikut pengiriman yang sudah pasti</a:t>
            </a:r>
            <a:endParaRPr lang="en-US" sz="1400" dirty="0"/>
          </a:p>
          <a:p>
            <a:pPr marL="0" indent="0">
              <a:spcAft>
                <a:spcPts val="300"/>
              </a:spcAft>
              <a:buNone/>
            </a:pPr>
            <a:r>
              <a:rPr lang="en-US" sz="1500" i="1" dirty="0">
                <a:solidFill>
                  <a:schemeClr val="bg1"/>
                </a:solidFill>
              </a:rPr>
              <a:t>“Saya ikutkan di kiriman semen hari Kamis, ya?”</a:t>
            </a:r>
            <a:endParaRPr lang="en-US" sz="1400" dirty="0"/>
          </a:p>
        </p:txBody>
      </p:sp>
      <p:sp>
        <p:nvSpPr>
          <p:cNvPr id="18" name="a8-n"/>
          <p:cNvSpPr txBox="1"/>
          <p:nvPr/>
        </p:nvSpPr>
        <p:spPr>
          <a:xfrm>
            <a:off x="5852160" y="3886200"/>
            <a:ext cx="2834640" cy="548640"/>
          </a:xfrm>
          <a:prstGeom prst="rect">
            <a:avLst/>
          </a:prstGeom>
          <a:noFill/>
          <a:ln/>
        </p:spPr>
        <p:txBody>
          <a:bodyPr wrap="square" lIns="0" tIns="0" rIns="0" bIns="0" rtlCol="0" anchor="t"/>
          <a:lstStyle/>
          <a:p>
            <a:pPr marL="0" indent="0">
              <a:buNone/>
            </a:pPr>
            <a:r>
              <a:rPr lang="en-US" sz="1400" b="1" i="1" dirty="0">
                <a:solidFill>
                  <a:schemeClr val="tx1"/>
                </a:solidFill>
              </a:rPr>
              <a:t>Belum mau beli? Turunkan satu anak tangga, jangan berhenti.</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800"/>
                            </p:stCondLst>
                            <p:childTnLst>
                              <p:par>
                                <p:cTn id="16" presetID="10" presetClass="entr" presetSubtype="0"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par>
                          <p:cTn id="22" fill="hold">
                            <p:stCondLst>
                              <p:cond delay="1200"/>
                            </p:stCondLst>
                            <p:childTnLst>
                              <p:par>
                                <p:cTn id="23" presetID="10" presetClass="entr" presetSubtype="0"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par>
                          <p:cTn id="29" fill="hold">
                            <p:stCondLst>
                              <p:cond delay="1600"/>
                            </p:stCondLst>
                            <p:childTnLst>
                              <p:par>
                                <p:cTn id="30" presetID="10" presetClass="entr" presetSubtype="0"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par>
                          <p:cTn id="46" fill="hold">
                            <p:stCondLst>
                              <p:cond delay="2400"/>
                            </p:stCondLst>
                            <p:childTnLst>
                              <p:par>
                                <p:cTn id="47" presetID="10" presetClass="entr" presetSubtype="0" fill="hold"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par>
                          <p:cTn id="53" fill="hold">
                            <p:stCondLst>
                              <p:cond delay="2800"/>
                            </p:stCondLst>
                            <p:childTnLst>
                              <p:par>
                                <p:cTn id="54" presetID="10" presetClass="entr" presetSubtype="0" fill="hold"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66928"/>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Latihan Role Play: Rubrik Penilaian</a:t>
            </a:r>
            <a:endParaRPr lang="en-US" sz="2800" dirty="0"/>
          </a:p>
        </p:txBody>
      </p:sp>
      <p:sp>
        <p:nvSpPr>
          <p:cNvPr id="3" name="pill"/>
          <p:cNvSpPr txBox="1"/>
          <p:nvPr/>
        </p:nvSpPr>
        <p:spPr>
          <a:xfrm>
            <a:off x="457200" y="237744"/>
            <a:ext cx="1817827"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tx1"/>
                </a:solidFill>
              </a:rPr>
              <a:t>LATIHAN  ·  ROLE PLAY</a:t>
            </a:r>
            <a:endParaRPr lang="en-US" sz="1000" dirty="0"/>
          </a:p>
        </p:txBody>
      </p:sp>
      <p:graphicFrame>
        <p:nvGraphicFramePr>
          <p:cNvPr id="34" name="a1-tbl"/>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737360"/>
                <a:gridCol w="2011680"/>
                <a:gridCol w="2103120"/>
                <a:gridCol w="2377440"/>
              </a:tblGrid>
              <a:tr h="438912">
                <a:tc>
                  <a:txBody>
                    <a:bodyPr/>
                    <a:lstStyle/>
                    <a:p>
                      <a:pPr marL="0" indent="0" algn="ctr">
                        <a:buNone/>
                      </a:pPr>
                      <a:r>
                        <a:rPr lang="en-US" sz="1300" b="1" dirty="0">
                          <a:solidFill>
                            <a:schemeClr val="accent1"/>
                          </a:solidFill>
                          <a:latin typeface="Calibri" pitchFamily="34" charset="0"/>
                          <a:ea typeface="Calibri" pitchFamily="34" charset="-122"/>
                          <a:cs typeface="Calibri" pitchFamily="34" charset="-120"/>
                        </a:rPr>
                        <a:t>Aspek</a:t>
                      </a:r>
                      <a:endParaRPr lang="en-US" sz="13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accent1"/>
                          </a:solidFill>
                          <a:latin typeface="Calibri" pitchFamily="34" charset="0"/>
                          <a:ea typeface="Calibri" pitchFamily="34" charset="-122"/>
                          <a:cs typeface="Calibri" pitchFamily="34" charset="-120"/>
                        </a:rPr>
                        <a:t>Belum (1)</a:t>
                      </a:r>
                      <a:endParaRPr lang="en-US" sz="13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accent1"/>
                          </a:solidFill>
                          <a:latin typeface="Calibri" pitchFamily="34" charset="0"/>
                          <a:ea typeface="Calibri" pitchFamily="34" charset="-122"/>
                          <a:cs typeface="Calibri" pitchFamily="34" charset="-120"/>
                        </a:rPr>
                        <a:t>Cukup (2)</a:t>
                      </a:r>
                      <a:endParaRPr lang="en-US" sz="13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Hebat (3)</a:t>
                      </a:r>
                      <a:endParaRPr lang="en-US" sz="13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chemeClr val="accent1"/>
                    </a:solidFill>
                  </a:tcPr>
                </a:tc>
              </a:tr>
              <a:tr h="438912">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Analisis toko</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Langsung menawarkan</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Bertanya, tapi tidak dipakai</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Tawaran jelas berdasar analisis</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chemeClr val="accent2"/>
                    </a:solidFill>
                  </a:tcPr>
                </a:tc>
              </a:tr>
              <a:tr h="438912">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Bahasa untung</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Menyebut spesifikasi</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Menyebut margin saja</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Untung per modal &amp; keranjang hilang</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chemeClr val="accent2"/>
                    </a:solidFill>
                  </a:tcPr>
                </a:tc>
              </a:tr>
              <a:tr h="438912">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Menggali keberatan</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Langsung membantah</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Menjawab di permukaan</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Menemukan akar &amp; mengisolasinya</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chemeClr val="accent2"/>
                    </a:solidFill>
                  </a:tcPr>
                </a:tc>
              </a:tr>
              <a:tr h="438912">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Mengecilkan risiko</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Langsung diskon</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Menawarkan order kecil</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Uji coba terhitung + rencana dukungan</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chemeClr val="accent2"/>
                    </a:solidFill>
                  </a:tcPr>
                </a:tc>
              </a:tr>
              <a:tr h="438912">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Menutup</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Tidak minta komitmen</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“Mau atau tidak?”</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Memberi pilihan &amp; langkah jelas</a:t>
                      </a:r>
                      <a:endParaRPr lang="en-US" sz="1200" dirty="0">
                        <a:latin typeface="Calibri" charset="0"/>
                        <a:ea typeface="Calibri" charset="0"/>
                        <a:cs typeface="Calibri" charset="0"/>
                      </a:endParaRPr>
                    </a:p>
                  </a:txBody>
                  <a:tcPr marL="73152" marR="73152" marT="27432" marB="27432"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chemeClr val="accent2"/>
                    </a:solidFill>
                  </a:tcPr>
                </a:tc>
              </a:tr>
            </a:tbl>
          </a:graphicData>
        </a:graphic>
      </p:graphicFrame>
      <p:sp>
        <p:nvSpPr>
          <p:cNvPr id="5" name="a2-std"/>
          <p:cNvSpPr txBox="1"/>
          <p:nvPr/>
        </p:nvSpPr>
        <p:spPr>
          <a:xfrm>
            <a:off x="457200" y="4114800"/>
            <a:ext cx="3291840" cy="384048"/>
          </a:xfrm>
          <a:prstGeom prst="roundRect">
            <a:avLst>
              <a:gd name="adj" fmla="val 47619"/>
            </a:avLst>
          </a:prstGeom>
          <a:solidFill>
            <a:schemeClr val="tx1"/>
          </a:solidFill>
          <a:ln/>
        </p:spPr>
        <p:txBody>
          <a:bodyPr wrap="square" lIns="0" tIns="0" rIns="0" bIns="0" rtlCol="0" anchor="ctr"/>
          <a:lstStyle/>
          <a:p>
            <a:pPr marL="0" indent="0" algn="ctr">
              <a:buNone/>
            </a:pPr>
            <a:r>
              <a:rPr lang="en-US" sz="1400" dirty="0">
                <a:solidFill>
                  <a:schemeClr val="bg1"/>
                </a:solidFill>
              </a:rPr>
              <a:t>Standar lulus: </a:t>
            </a:r>
            <a:r>
              <a:rPr lang="en-US" sz="1400" b="1" dirty="0">
                <a:solidFill>
                  <a:schemeClr val="accent1"/>
                </a:solidFill>
              </a:rPr>
              <a:t>rata-rata minimal 2,5</a:t>
            </a:r>
            <a:endParaRPr lang="en-US" sz="1400" dirty="0"/>
          </a:p>
        </p:txBody>
      </p:sp>
      <p:sp>
        <p:nvSpPr>
          <p:cNvPr id="6" name="a2-std"/>
          <p:cNvSpPr txBox="1"/>
          <p:nvPr/>
        </p:nvSpPr>
        <p:spPr>
          <a:xfrm>
            <a:off x="3931920" y="4069080"/>
            <a:ext cx="4754880" cy="502920"/>
          </a:xfrm>
          <a:prstGeom prst="rect">
            <a:avLst/>
          </a:prstGeom>
          <a:noFill/>
          <a:ln/>
        </p:spPr>
        <p:txBody>
          <a:bodyPr wrap="square" lIns="0" tIns="0" rIns="0" bIns="0" rtlCol="0" anchor="ctr"/>
          <a:lstStyle/>
          <a:p>
            <a:pPr marL="0" indent="0">
              <a:buNone/>
            </a:pPr>
            <a:r>
              <a:rPr lang="en-US" sz="1300" dirty="0">
                <a:solidFill>
                  <a:schemeClr val="tx2"/>
                </a:solidFill>
              </a:rPr>
              <a:t>Format: berpasangan, satu jadi sales, satu jadi pemilik toko yang keberatan. Lalu bertukar peran.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r"/>
            <a:fld id="{F7021451-1387-4CA6-816F-3879F97B5CBC}" type="slidenum">
              <a:rPr lang="en-US" b="0"/>
              <a:t>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8229600" cy="640080"/>
          </a:xfrm>
          <a:prstGeom prst="rect">
            <a:avLst/>
          </a:prstGeom>
          <a:noFill/>
          <a:ln/>
        </p:spPr>
        <p:txBody>
          <a:bodyPr wrap="square" lIns="0" tIns="0" rIns="0" bIns="0" rtlCol="0" anchor="ctr"/>
          <a:lstStyle/>
          <a:p>
            <a:pPr marL="0" indent="0">
              <a:buNone/>
            </a:pPr>
            <a:r>
              <a:rPr lang="en-US" sz="3000" b="1" dirty="0">
                <a:solidFill>
                  <a:schemeClr val="accent1"/>
                </a:solidFill>
              </a:rPr>
              <a:t>Peta Lengkap Value-Based Selling</a:t>
            </a:r>
            <a:endParaRPr lang="en-US" sz="3000" dirty="0"/>
          </a:p>
        </p:txBody>
      </p:sp>
      <p:sp>
        <p:nvSpPr>
          <p:cNvPr id="3" name="a2-n"/>
          <p:cNvSpPr/>
          <p:nvPr/>
        </p:nvSpPr>
        <p:spPr>
          <a:xfrm>
            <a:off x="1645920" y="2194560"/>
            <a:ext cx="713232" cy="0"/>
          </a:xfrm>
          <a:prstGeom prst="line">
            <a:avLst/>
          </a:prstGeom>
          <a:noFill/>
          <a:ln w="31750">
            <a:solidFill>
              <a:schemeClr val="accent1"/>
            </a:solidFill>
            <a:prstDash val="solid"/>
            <a:tailEnd type="triangle"/>
          </a:ln>
        </p:spPr>
      </p:sp>
      <p:sp>
        <p:nvSpPr>
          <p:cNvPr id="4" name="a1-n"/>
          <p:cNvSpPr/>
          <p:nvPr/>
        </p:nvSpPr>
        <p:spPr>
          <a:xfrm>
            <a:off x="704088" y="1755648"/>
            <a:ext cx="877824" cy="877824"/>
          </a:xfrm>
          <a:prstGeom prst="ellipse">
            <a:avLst/>
          </a:prstGeom>
          <a:solidFill>
            <a:schemeClr val="accent1"/>
          </a:solidFill>
          <a:ln/>
        </p:spPr>
      </p:sp>
      <p:pic>
        <p:nvPicPr>
          <p:cNvPr id="5" name="a1-n" descr="preencoded.png"/>
          <p:cNvPicPr>
            <a:picLocks noChangeAspect="1"/>
          </p:cNvPicPr>
          <p:nvPr/>
        </p:nvPicPr>
        <p:blipFill>
          <a:blip r:embed="rId3"/>
          <a:stretch>
            <a:fillRect/>
          </a:stretch>
        </p:blipFill>
        <p:spPr>
          <a:xfrm>
            <a:off x="932322" y="1983882"/>
            <a:ext cx="421356" cy="421356"/>
          </a:xfrm>
          <a:prstGeom prst="rect">
            <a:avLst/>
          </a:prstGeom>
        </p:spPr>
      </p:pic>
      <p:sp>
        <p:nvSpPr>
          <p:cNvPr id="6" name="a1-n"/>
          <p:cNvSpPr txBox="1"/>
          <p:nvPr/>
        </p:nvSpPr>
        <p:spPr>
          <a:xfrm>
            <a:off x="320040" y="2761488"/>
            <a:ext cx="1645920" cy="320040"/>
          </a:xfrm>
          <a:prstGeom prst="rect">
            <a:avLst/>
          </a:prstGeom>
          <a:noFill/>
          <a:ln/>
        </p:spPr>
        <p:txBody>
          <a:bodyPr wrap="square" lIns="0" tIns="0" rIns="0" bIns="0" rtlCol="0" anchor="t"/>
          <a:lstStyle/>
          <a:p>
            <a:pPr marL="0" indent="0" algn="ctr">
              <a:buNone/>
            </a:pPr>
            <a:r>
              <a:rPr lang="en-US" sz="1500" b="1" dirty="0">
                <a:solidFill>
                  <a:schemeClr val="bg1"/>
                </a:solidFill>
              </a:rPr>
              <a:t>Kenali Toko</a:t>
            </a:r>
            <a:endParaRPr lang="en-US" sz="1500" dirty="0"/>
          </a:p>
        </p:txBody>
      </p:sp>
      <p:sp>
        <p:nvSpPr>
          <p:cNvPr id="7" name="a1-n"/>
          <p:cNvSpPr txBox="1"/>
          <p:nvPr/>
        </p:nvSpPr>
        <p:spPr>
          <a:xfrm>
            <a:off x="320040" y="3063240"/>
            <a:ext cx="1645920" cy="274320"/>
          </a:xfrm>
          <a:prstGeom prst="rect">
            <a:avLst/>
          </a:prstGeom>
          <a:noFill/>
          <a:ln/>
        </p:spPr>
        <p:txBody>
          <a:bodyPr wrap="square" lIns="0" tIns="0" rIns="0" bIns="0" rtlCol="0" anchor="t"/>
          <a:lstStyle/>
          <a:p>
            <a:pPr marL="0" indent="0" algn="ctr">
              <a:buNone/>
            </a:pPr>
            <a:r>
              <a:rPr lang="en-US" sz="1200" dirty="0">
                <a:solidFill>
                  <a:srgbClr val="BBBBBB"/>
                </a:solidFill>
              </a:rPr>
              <a:t>Modul 1</a:t>
            </a:r>
            <a:endParaRPr lang="en-US" sz="1200" dirty="0"/>
          </a:p>
        </p:txBody>
      </p:sp>
      <p:sp>
        <p:nvSpPr>
          <p:cNvPr id="8" name="a3-n"/>
          <p:cNvSpPr/>
          <p:nvPr/>
        </p:nvSpPr>
        <p:spPr>
          <a:xfrm>
            <a:off x="3360420" y="2194560"/>
            <a:ext cx="713232" cy="0"/>
          </a:xfrm>
          <a:prstGeom prst="line">
            <a:avLst/>
          </a:prstGeom>
          <a:noFill/>
          <a:ln w="31750">
            <a:solidFill>
              <a:schemeClr val="accent1"/>
            </a:solidFill>
            <a:prstDash val="solid"/>
            <a:tailEnd type="triangle"/>
          </a:ln>
        </p:spPr>
      </p:sp>
      <p:sp>
        <p:nvSpPr>
          <p:cNvPr id="9" name="a2-n"/>
          <p:cNvSpPr/>
          <p:nvPr/>
        </p:nvSpPr>
        <p:spPr>
          <a:xfrm>
            <a:off x="2418588" y="1755648"/>
            <a:ext cx="877824" cy="877824"/>
          </a:xfrm>
          <a:prstGeom prst="ellipse">
            <a:avLst/>
          </a:prstGeom>
          <a:solidFill>
            <a:schemeClr val="accent1"/>
          </a:solidFill>
          <a:ln/>
        </p:spPr>
      </p:sp>
      <p:pic>
        <p:nvPicPr>
          <p:cNvPr id="10" name="a2-n" descr="preencoded.png"/>
          <p:cNvPicPr>
            <a:picLocks noChangeAspect="1"/>
          </p:cNvPicPr>
          <p:nvPr/>
        </p:nvPicPr>
        <p:blipFill>
          <a:blip r:embed="rId4"/>
          <a:stretch>
            <a:fillRect/>
          </a:stretch>
        </p:blipFill>
        <p:spPr>
          <a:xfrm>
            <a:off x="2646822" y="1983882"/>
            <a:ext cx="421356" cy="421356"/>
          </a:xfrm>
          <a:prstGeom prst="rect">
            <a:avLst/>
          </a:prstGeom>
        </p:spPr>
      </p:pic>
      <p:sp>
        <p:nvSpPr>
          <p:cNvPr id="11" name="a2-n"/>
          <p:cNvSpPr txBox="1"/>
          <p:nvPr/>
        </p:nvSpPr>
        <p:spPr>
          <a:xfrm>
            <a:off x="2034540" y="2761488"/>
            <a:ext cx="1645920" cy="320040"/>
          </a:xfrm>
          <a:prstGeom prst="rect">
            <a:avLst/>
          </a:prstGeom>
          <a:noFill/>
          <a:ln/>
        </p:spPr>
        <p:txBody>
          <a:bodyPr wrap="square" lIns="0" tIns="0" rIns="0" bIns="0" rtlCol="0" anchor="t"/>
          <a:lstStyle/>
          <a:p>
            <a:pPr marL="0" indent="0" algn="ctr">
              <a:buNone/>
            </a:pPr>
            <a:r>
              <a:rPr lang="en-US" sz="1500" b="1" dirty="0">
                <a:solidFill>
                  <a:schemeClr val="bg1"/>
                </a:solidFill>
              </a:rPr>
              <a:t>Bahasa Untung</a:t>
            </a:r>
            <a:endParaRPr lang="en-US" sz="1500" dirty="0"/>
          </a:p>
        </p:txBody>
      </p:sp>
      <p:sp>
        <p:nvSpPr>
          <p:cNvPr id="12" name="a2-n"/>
          <p:cNvSpPr txBox="1"/>
          <p:nvPr/>
        </p:nvSpPr>
        <p:spPr>
          <a:xfrm>
            <a:off x="2034540" y="3063240"/>
            <a:ext cx="1645920" cy="274320"/>
          </a:xfrm>
          <a:prstGeom prst="rect">
            <a:avLst/>
          </a:prstGeom>
          <a:noFill/>
          <a:ln/>
        </p:spPr>
        <p:txBody>
          <a:bodyPr wrap="square" lIns="0" tIns="0" rIns="0" bIns="0" rtlCol="0" anchor="t"/>
          <a:lstStyle/>
          <a:p>
            <a:pPr marL="0" indent="0" algn="ctr">
              <a:buNone/>
            </a:pPr>
            <a:r>
              <a:rPr lang="en-US" sz="1200" dirty="0">
                <a:solidFill>
                  <a:srgbClr val="BBBBBB"/>
                </a:solidFill>
              </a:rPr>
              <a:t>Modul 2</a:t>
            </a:r>
            <a:endParaRPr lang="en-US" sz="1200" dirty="0"/>
          </a:p>
        </p:txBody>
      </p:sp>
      <p:sp>
        <p:nvSpPr>
          <p:cNvPr id="13" name="a4-n"/>
          <p:cNvSpPr/>
          <p:nvPr/>
        </p:nvSpPr>
        <p:spPr>
          <a:xfrm>
            <a:off x="5074920" y="2194560"/>
            <a:ext cx="713232" cy="0"/>
          </a:xfrm>
          <a:prstGeom prst="line">
            <a:avLst/>
          </a:prstGeom>
          <a:noFill/>
          <a:ln w="31750">
            <a:solidFill>
              <a:schemeClr val="accent1"/>
            </a:solidFill>
            <a:prstDash val="solid"/>
            <a:tailEnd type="triangle"/>
          </a:ln>
        </p:spPr>
      </p:sp>
      <p:sp>
        <p:nvSpPr>
          <p:cNvPr id="14" name="a3-n"/>
          <p:cNvSpPr/>
          <p:nvPr/>
        </p:nvSpPr>
        <p:spPr>
          <a:xfrm>
            <a:off x="4133088" y="1755648"/>
            <a:ext cx="877824" cy="877824"/>
          </a:xfrm>
          <a:prstGeom prst="ellipse">
            <a:avLst/>
          </a:prstGeom>
          <a:solidFill>
            <a:schemeClr val="accent1"/>
          </a:solidFill>
          <a:ln/>
        </p:spPr>
      </p:sp>
      <p:pic>
        <p:nvPicPr>
          <p:cNvPr id="15" name="a3-n" descr="preencoded.png"/>
          <p:cNvPicPr>
            <a:picLocks noChangeAspect="1"/>
          </p:cNvPicPr>
          <p:nvPr/>
        </p:nvPicPr>
        <p:blipFill>
          <a:blip r:embed="rId5"/>
          <a:stretch>
            <a:fillRect/>
          </a:stretch>
        </p:blipFill>
        <p:spPr>
          <a:xfrm>
            <a:off x="4361322" y="1983882"/>
            <a:ext cx="421356" cy="421356"/>
          </a:xfrm>
          <a:prstGeom prst="rect">
            <a:avLst/>
          </a:prstGeom>
        </p:spPr>
      </p:pic>
      <p:sp>
        <p:nvSpPr>
          <p:cNvPr id="16" name="a3-n"/>
          <p:cNvSpPr txBox="1"/>
          <p:nvPr/>
        </p:nvSpPr>
        <p:spPr>
          <a:xfrm>
            <a:off x="3749040" y="2761488"/>
            <a:ext cx="1645920" cy="320040"/>
          </a:xfrm>
          <a:prstGeom prst="rect">
            <a:avLst/>
          </a:prstGeom>
          <a:noFill/>
          <a:ln/>
        </p:spPr>
        <p:txBody>
          <a:bodyPr wrap="square" lIns="0" tIns="0" rIns="0" bIns="0" rtlCol="0" anchor="t"/>
          <a:lstStyle/>
          <a:p>
            <a:pPr marL="0" indent="0" algn="ctr">
              <a:buNone/>
            </a:pPr>
            <a:r>
              <a:rPr lang="en-US" sz="1500" b="1" dirty="0">
                <a:solidFill>
                  <a:schemeClr val="bg1"/>
                </a:solidFill>
              </a:rPr>
              <a:t>Jawab Keberatan</a:t>
            </a:r>
            <a:endParaRPr lang="en-US" sz="1500" dirty="0"/>
          </a:p>
        </p:txBody>
      </p:sp>
      <p:sp>
        <p:nvSpPr>
          <p:cNvPr id="17" name="a3-n"/>
          <p:cNvSpPr txBox="1"/>
          <p:nvPr/>
        </p:nvSpPr>
        <p:spPr>
          <a:xfrm>
            <a:off x="3749040" y="3063240"/>
            <a:ext cx="1645920" cy="274320"/>
          </a:xfrm>
          <a:prstGeom prst="rect">
            <a:avLst/>
          </a:prstGeom>
          <a:noFill/>
          <a:ln/>
        </p:spPr>
        <p:txBody>
          <a:bodyPr wrap="square" lIns="0" tIns="0" rIns="0" bIns="0" rtlCol="0" anchor="t"/>
          <a:lstStyle/>
          <a:p>
            <a:pPr marL="0" indent="0" algn="ctr">
              <a:buNone/>
            </a:pPr>
            <a:r>
              <a:rPr lang="en-US" sz="1200" dirty="0">
                <a:solidFill>
                  <a:srgbClr val="BBBBBB"/>
                </a:solidFill>
              </a:rPr>
              <a:t>Modul 3</a:t>
            </a:r>
            <a:endParaRPr lang="en-US" sz="1200" dirty="0"/>
          </a:p>
        </p:txBody>
      </p:sp>
      <p:sp>
        <p:nvSpPr>
          <p:cNvPr id="18" name="a5-n"/>
          <p:cNvSpPr/>
          <p:nvPr/>
        </p:nvSpPr>
        <p:spPr>
          <a:xfrm>
            <a:off x="6789420" y="2194560"/>
            <a:ext cx="713232" cy="0"/>
          </a:xfrm>
          <a:prstGeom prst="line">
            <a:avLst/>
          </a:prstGeom>
          <a:noFill/>
          <a:ln w="31750">
            <a:solidFill>
              <a:schemeClr val="accent1"/>
            </a:solidFill>
            <a:prstDash val="solid"/>
            <a:tailEnd type="triangle"/>
          </a:ln>
        </p:spPr>
      </p:sp>
      <p:sp>
        <p:nvSpPr>
          <p:cNvPr id="19" name="a4-n"/>
          <p:cNvSpPr/>
          <p:nvPr/>
        </p:nvSpPr>
        <p:spPr>
          <a:xfrm>
            <a:off x="5847588" y="1755648"/>
            <a:ext cx="877824" cy="877824"/>
          </a:xfrm>
          <a:prstGeom prst="ellipse">
            <a:avLst/>
          </a:prstGeom>
          <a:solidFill>
            <a:schemeClr val="accent1"/>
          </a:solidFill>
          <a:ln/>
        </p:spPr>
      </p:sp>
      <p:pic>
        <p:nvPicPr>
          <p:cNvPr id="20" name="a4-n" descr="preencoded.png"/>
          <p:cNvPicPr>
            <a:picLocks noChangeAspect="1"/>
          </p:cNvPicPr>
          <p:nvPr/>
        </p:nvPicPr>
        <p:blipFill>
          <a:blip r:embed="rId6"/>
          <a:stretch>
            <a:fillRect/>
          </a:stretch>
        </p:blipFill>
        <p:spPr>
          <a:xfrm>
            <a:off x="6075822" y="1983882"/>
            <a:ext cx="421356" cy="421356"/>
          </a:xfrm>
          <a:prstGeom prst="rect">
            <a:avLst/>
          </a:prstGeom>
        </p:spPr>
      </p:pic>
      <p:sp>
        <p:nvSpPr>
          <p:cNvPr id="21" name="a4-n"/>
          <p:cNvSpPr txBox="1"/>
          <p:nvPr/>
        </p:nvSpPr>
        <p:spPr>
          <a:xfrm>
            <a:off x="5463540" y="2761488"/>
            <a:ext cx="1645920" cy="320040"/>
          </a:xfrm>
          <a:prstGeom prst="rect">
            <a:avLst/>
          </a:prstGeom>
          <a:noFill/>
          <a:ln/>
        </p:spPr>
        <p:txBody>
          <a:bodyPr wrap="square" lIns="0" tIns="0" rIns="0" bIns="0" rtlCol="0" anchor="t"/>
          <a:lstStyle/>
          <a:p>
            <a:pPr marL="0" indent="0" algn="ctr">
              <a:buNone/>
            </a:pPr>
            <a:r>
              <a:rPr lang="en-US" sz="1500" b="1" dirty="0">
                <a:solidFill>
                  <a:schemeClr val="bg1"/>
                </a:solidFill>
              </a:rPr>
              <a:t>Uji Coba Berhasil</a:t>
            </a:r>
            <a:endParaRPr lang="en-US" sz="1500" dirty="0"/>
          </a:p>
        </p:txBody>
      </p:sp>
      <p:sp>
        <p:nvSpPr>
          <p:cNvPr id="22" name="a4-n"/>
          <p:cNvSpPr txBox="1"/>
          <p:nvPr/>
        </p:nvSpPr>
        <p:spPr>
          <a:xfrm>
            <a:off x="5463540" y="3063240"/>
            <a:ext cx="1645920" cy="274320"/>
          </a:xfrm>
          <a:prstGeom prst="rect">
            <a:avLst/>
          </a:prstGeom>
          <a:noFill/>
          <a:ln/>
        </p:spPr>
        <p:txBody>
          <a:bodyPr wrap="square" lIns="0" tIns="0" rIns="0" bIns="0" rtlCol="0" anchor="t"/>
          <a:lstStyle/>
          <a:p>
            <a:pPr marL="0" indent="0" algn="ctr">
              <a:buNone/>
            </a:pPr>
            <a:r>
              <a:rPr lang="en-US" sz="1200" dirty="0">
                <a:solidFill>
                  <a:srgbClr val="BBBBBB"/>
                </a:solidFill>
              </a:rPr>
              <a:t>Habis ≤ 2 minggu</a:t>
            </a:r>
            <a:endParaRPr lang="en-US" sz="1200" dirty="0"/>
          </a:p>
        </p:txBody>
      </p:sp>
      <p:sp>
        <p:nvSpPr>
          <p:cNvPr id="23" name="a5-n"/>
          <p:cNvSpPr/>
          <p:nvPr/>
        </p:nvSpPr>
        <p:spPr>
          <a:xfrm>
            <a:off x="7562088" y="1755648"/>
            <a:ext cx="877824" cy="877824"/>
          </a:xfrm>
          <a:prstGeom prst="ellipse">
            <a:avLst/>
          </a:prstGeom>
          <a:solidFill>
            <a:schemeClr val="bg1"/>
          </a:solidFill>
          <a:ln/>
        </p:spPr>
      </p:sp>
      <p:pic>
        <p:nvPicPr>
          <p:cNvPr id="24" name="a5-n" descr="preencoded.png"/>
          <p:cNvPicPr>
            <a:picLocks noChangeAspect="1"/>
          </p:cNvPicPr>
          <p:nvPr/>
        </p:nvPicPr>
        <p:blipFill>
          <a:blip r:embed="rId7"/>
          <a:stretch>
            <a:fillRect/>
          </a:stretch>
        </p:blipFill>
        <p:spPr>
          <a:xfrm>
            <a:off x="7790322" y="1983882"/>
            <a:ext cx="421356" cy="421356"/>
          </a:xfrm>
          <a:prstGeom prst="rect">
            <a:avLst/>
          </a:prstGeom>
        </p:spPr>
      </p:pic>
      <p:sp>
        <p:nvSpPr>
          <p:cNvPr id="25" name="a5-n"/>
          <p:cNvSpPr txBox="1"/>
          <p:nvPr/>
        </p:nvSpPr>
        <p:spPr>
          <a:xfrm>
            <a:off x="7178040" y="2761488"/>
            <a:ext cx="1645920" cy="320040"/>
          </a:xfrm>
          <a:prstGeom prst="rect">
            <a:avLst/>
          </a:prstGeom>
          <a:noFill/>
          <a:ln/>
        </p:spPr>
        <p:txBody>
          <a:bodyPr wrap="square" lIns="0" tIns="0" rIns="0" bIns="0" rtlCol="0" anchor="t"/>
          <a:lstStyle/>
          <a:p>
            <a:pPr marL="0" indent="0" algn="ctr">
              <a:buNone/>
            </a:pPr>
            <a:r>
              <a:rPr lang="en-US" sz="1500" b="1" dirty="0">
                <a:solidFill>
                  <a:schemeClr val="bg1"/>
                </a:solidFill>
              </a:rPr>
              <a:t>Order Lagi</a:t>
            </a:r>
            <a:endParaRPr lang="en-US" sz="1500" dirty="0"/>
          </a:p>
        </p:txBody>
      </p:sp>
      <p:sp>
        <p:nvSpPr>
          <p:cNvPr id="26" name="a5-n"/>
          <p:cNvSpPr txBox="1"/>
          <p:nvPr/>
        </p:nvSpPr>
        <p:spPr>
          <a:xfrm>
            <a:off x="7178040" y="3063240"/>
            <a:ext cx="1645920" cy="274320"/>
          </a:xfrm>
          <a:prstGeom prst="rect">
            <a:avLst/>
          </a:prstGeom>
          <a:noFill/>
          <a:ln/>
        </p:spPr>
        <p:txBody>
          <a:bodyPr wrap="square" lIns="0" tIns="0" rIns="0" bIns="0" rtlCol="0" anchor="t"/>
          <a:lstStyle/>
          <a:p>
            <a:pPr marL="0" indent="0" algn="ctr">
              <a:buNone/>
            </a:pPr>
            <a:r>
              <a:rPr lang="en-US" sz="1200" dirty="0">
                <a:solidFill>
                  <a:srgbClr val="BBBBBB"/>
                </a:solidFill>
              </a:rPr>
              <a:t>Volume naik</a:t>
            </a:r>
            <a:endParaRPr lang="en-US" sz="1200" dirty="0"/>
          </a:p>
        </p:txBody>
      </p:sp>
      <p:sp>
        <p:nvSpPr>
          <p:cNvPr id="27" name="a6-m"/>
          <p:cNvSpPr txBox="1"/>
          <p:nvPr/>
        </p:nvSpPr>
        <p:spPr>
          <a:xfrm>
            <a:off x="457200" y="3703320"/>
            <a:ext cx="8229600" cy="548640"/>
          </a:xfrm>
          <a:prstGeom prst="rect">
            <a:avLst/>
          </a:prstGeom>
          <a:noFill/>
          <a:ln/>
        </p:spPr>
        <p:txBody>
          <a:bodyPr wrap="square" lIns="0" tIns="0" rIns="0" bIns="0" rtlCol="0" anchor="ctr"/>
          <a:lstStyle/>
          <a:p>
            <a:pPr marL="0" indent="0" algn="ctr">
              <a:buNone/>
            </a:pPr>
            <a:r>
              <a:rPr lang="en-US" sz="2100" b="1" dirty="0">
                <a:solidFill>
                  <a:schemeClr val="accent1"/>
                </a:solidFill>
                <a:latin typeface="Arial" pitchFamily="34" charset="0"/>
                <a:ea typeface="Arial" pitchFamily="34" charset="-122"/>
                <a:cs typeface="Arial" pitchFamily="34" charset="-120"/>
              </a:rPr>
              <a:t>Baca Peluangnya, Tunjukkan Nilainya, Raih Kepercayaannya!</a:t>
            </a:r>
            <a:endParaRPr lang="en-US" sz="2100" dirty="0"/>
          </a:p>
        </p:txBody>
      </p:sp>
      <p:sp>
        <p:nvSpPr>
          <p:cNvPr id="28" name="a7-m"/>
          <p:cNvSpPr txBox="1"/>
          <p:nvPr/>
        </p:nvSpPr>
        <p:spPr>
          <a:xfrm>
            <a:off x="457200" y="4315968"/>
            <a:ext cx="8229600" cy="365760"/>
          </a:xfrm>
          <a:prstGeom prst="rect">
            <a:avLst/>
          </a:prstGeom>
          <a:noFill/>
          <a:ln/>
        </p:spPr>
        <p:txBody>
          <a:bodyPr wrap="square" lIns="0" tIns="0" rIns="0" bIns="0" rtlCol="0" anchor="t"/>
          <a:lstStyle/>
          <a:p>
            <a:pPr marL="0" indent="0" algn="ctr">
              <a:buNone/>
            </a:pPr>
            <a:r>
              <a:rPr lang="en-US" sz="1500" dirty="0">
                <a:solidFill>
                  <a:schemeClr val="bg1"/>
                </a:solidFill>
              </a:rPr>
              <a:t>Mulai besok: pilih 5 toko, isi lembar analisis, tawarkan dengan bahasa untung.</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400"/>
                            </p:stCondLst>
                            <p:childTnLst>
                              <p:par>
                                <p:cTn id="18" presetID="10" presetClass="entr" presetSubtype="0"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par>
                          <p:cTn id="33" fill="hold">
                            <p:stCondLst>
                              <p:cond delay="800"/>
                            </p:stCondLst>
                            <p:childTnLst>
                              <p:par>
                                <p:cTn id="34" presetID="10" presetClass="entr" presetSubtype="0"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par>
                          <p:cTn id="49" fill="hold">
                            <p:stCondLst>
                              <p:cond delay="1200"/>
                            </p:stCondLst>
                            <p:childTnLst>
                              <p:par>
                                <p:cTn id="50" presetID="10" presetClass="entr" presetSubtype="0"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par>
                          <p:cTn id="65" fill="hold">
                            <p:stCondLst>
                              <p:cond delay="1600"/>
                            </p:stCondLst>
                            <p:childTnLst>
                              <p:par>
                                <p:cTn id="66" presetID="10" presetClass="entr" presetSubtype="0" fill="hold"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childTnLst>
                          </p:cTn>
                        </p:par>
                        <p:par>
                          <p:cTn id="81" fill="hold">
                            <p:stCondLst>
                              <p:cond delay="2000"/>
                            </p:stCondLst>
                            <p:childTnLst>
                              <p:par>
                                <p:cTn id="82" presetID="10" presetClass="entr" presetSubtype="0" fill="hold" nodeType="after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childTnLst>
                          </p:cTn>
                        </p:par>
                        <p:par>
                          <p:cTn id="85" fill="hold">
                            <p:stCondLst>
                              <p:cond delay="2400"/>
                            </p:stCondLst>
                            <p:childTnLst>
                              <p:par>
                                <p:cTn id="86" presetID="10" presetClass="entr" presetSubtype="0" fill="hold" nodeType="after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Value-Based Selling">
  <a:themeElements>
    <a:clrScheme name="Value-Based Selling">
      <a:dk1>
        <a:srgbClr val="111111"/>
      </a:dk1>
      <a:lt1>
        <a:srgbClr val="FFFFFF"/>
      </a:lt1>
      <a:dk2>
        <a:srgbClr val="3A3A3A"/>
      </a:dk2>
      <a:lt2>
        <a:srgbClr val="F3F3F3"/>
      </a:lt2>
      <a:accent1>
        <a:srgbClr val="FFC400"/>
      </a:accent1>
      <a:accent2>
        <a:srgbClr val="FFF1B8"/>
      </a:accent2>
      <a:accent3>
        <a:srgbClr val="6B6B6B"/>
      </a:accent3>
      <a:accent4>
        <a:srgbClr val="E9E9E9"/>
      </a:accent4>
      <a:accent5>
        <a:srgbClr val="2E9E5B"/>
      </a:accent5>
      <a:accent6>
        <a:srgbClr val="D93B3B"/>
      </a:accent6>
      <a:hlink>
        <a:srgbClr val="111111"/>
      </a:hlink>
      <a:folHlink>
        <a:srgbClr val="6B6B6B"/>
      </a:folHlink>
    </a:clrScheme>
    <a:fontScheme name="Value-Based Sell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3843</Words>
  <Application>Microsoft Office PowerPoint</Application>
  <PresentationFormat>On-screen Show (16:9)</PresentationFormat>
  <Paragraphs>607</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Value-Based Selling</vt:lpstr>
      <vt:lpstr>PowerPoint Presentation</vt:lpstr>
      <vt:lpstr>Latar Belakang</vt:lpstr>
      <vt:lpstr>Mengapa Value-Based Selling?</vt:lpstr>
      <vt:lpstr>Pendekatan: Analisis + Psikologi Konsumen</vt:lpstr>
      <vt:lpstr>Tujuan Pelatihan</vt:lpstr>
      <vt:lpstr>Fokus Utama: Tiga Kemampuan Kunci</vt:lpstr>
      <vt:lpstr>Goal dan Indikator Keberhasilan</vt:lpstr>
      <vt:lpstr>Kerangka Konsep Pelatihan</vt:lpstr>
      <vt:lpstr>Rancangan Pelaksanaan</vt:lpstr>
      <vt:lpstr>Materi Pelatihan</vt:lpstr>
      <vt:lpstr>Peta Perjalanan Materi</vt:lpstr>
      <vt:lpstr>Apa Isi Kepala Pemilik Toko?</vt:lpstr>
      <vt:lpstr>6 Prinsip Psikologi di Balik Keputusan Toko</vt:lpstr>
      <vt:lpstr>Kenali Toko Sebelum Menawarkan</vt:lpstr>
      <vt:lpstr>Pilih Medan: Potensi × Hubungan</vt:lpstr>
      <vt:lpstr>Siapa yang Sebenarnya Memutuskan?</vt:lpstr>
      <vt:lpstr>Baca Sinyal Toko Tanpa Bertanya</vt:lpstr>
      <vt:lpstr>Berapa Persen Belanja Toko Lewat SID?</vt:lpstr>
      <vt:lpstr>Intip Kompetitor, Temukan Celahnya</vt:lpstr>
      <vt:lpstr>Alat Kerja: Lembar Analisis Toko</vt:lpstr>
      <vt:lpstr>Bicara dengan Bahasa Untung</vt:lpstr>
      <vt:lpstr>Bukan Cuma Margin: Untung per Modal</vt:lpstr>
      <vt:lpstr>Biaya Tersembunyi: Keranjang yang Hilang</vt:lpstr>
      <vt:lpstr>Jualan Tanpa Modal Sendiri</vt:lpstr>
      <vt:lpstr>Ubah Kalimat: Dari Spesifikasi ke Untung</vt:lpstr>
      <vt:lpstr>Resep Penawaran 6 Langkah</vt:lpstr>
      <vt:lpstr>Menjawab Keberatan “Takut Tidak Laku”</vt:lpstr>
      <vt:lpstr>Kalimatnya Sama, Akar Masalahnya Beda</vt:lpstr>
      <vt:lpstr>Gali Dulu, Baru Jawab</vt:lpstr>
      <vt:lpstr>Urutan Senjata: Diskon Paling Akhir</vt:lpstr>
      <vt:lpstr>Uji Coba yang Pasti Berhasil</vt:lpstr>
      <vt:lpstr>Menutup: Naik Tangga Komitmen</vt:lpstr>
      <vt:lpstr>Latihan Role Play: Rubrik Penilaian</vt:lpstr>
      <vt:lpstr>Peta Lengkap Value-Based Selling</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Value-Based Selling – Pelatihan Sales SID</dc:title>
  <dc:subject>PptxGenJS Presentation</dc:subject>
  <dc:creator>PB Team</dc:creator>
  <cp:lastModifiedBy>Microsoft account</cp:lastModifiedBy>
  <cp:revision>2</cp:revision>
  <dcterms:created xsi:type="dcterms:W3CDTF">2026-10-07T07:30:47Z</dcterms:created>
  <dcterms:modified xsi:type="dcterms:W3CDTF">2026-10-07T07:40:16Z</dcterms:modified>
</cp:coreProperties>
</file>