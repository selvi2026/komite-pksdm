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677E813-D5E2-D10E-29DC-96BB80B4B8A2}">
          <p14:sldIdLst>
            <p14:sldId id="256"/>
          </p14:sldIdLst>
        </p14:section>
        <p14:section name="Temuan" id="{B2A1F440-F454-62D0-2E7E-16188CE68A90}">
          <p14:sldIdLst>
            <p14:sldId id="257"/>
            <p14:sldId id="258"/>
            <p14:sldId id="259"/>
            <p14:sldId id="260"/>
          </p14:sldIdLst>
        </p14:section>
        <p14:section name="Usulan" id="{8BA5F1CB-E67E-2E5A-883E-7E974FB6547A}">
          <p14:sldIdLst>
            <p14:sldId id="261"/>
          </p14:sldIdLst>
        </p14:section>
        <p14:section name="Penutup" id="{96AC99DA-78FD-463C-4BD6-E3811E4447C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E6A6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E6A64"/>
                </a:solidFill>
                <a:latin typeface="+mn-lt"/>
              </a:rPr>
              <a:t>Persentase pegawai yang mengisi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Partisipasi</c:v>
                </c:pt>
              </c:strCache>
            </c:strRef>
          </c:tx>
          <c:spPr>
            <a:solidFill>
              <a:srgbClr val="1F6B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F0F1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Luar Pulau</c:v>
                </c:pt>
                <c:pt idx="1">
                  <c:v>Jawa Tengah</c:v>
                </c:pt>
                <c:pt idx="2">
                  <c:v>Jawa Barat</c:v>
                </c:pt>
                <c:pt idx="3">
                  <c:v>Jawa Timur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</c:v>
                </c:pt>
                <c:pt idx="1">
                  <c:v>0.58199999999999996</c:v>
                </c:pt>
                <c:pt idx="2">
                  <c:v>0.48499999999999999</c:v>
                </c:pt>
                <c:pt idx="3">
                  <c:v>0.29799999999999999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640528192"/>
        <c:axId val="640530912"/>
      </c:barChart>
      <c:catAx>
        <c:axId val="640528192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640530912"/>
        <c:crosses val="autoZero"/>
        <c:auto val="1"/>
        <c:lblAlgn val="ctr"/>
        <c:lblOffset val="100"/>
        <c:noMultiLvlLbl val="1"/>
      </c:catAx>
      <c:valAx>
        <c:axId val="640530912"/>
        <c:scaling>
          <c:orientation val="minMax"/>
          <c:max val="1"/>
          <c:min val="0"/>
        </c:scaling>
        <c:delete val="0"/>
        <c:axPos val="t"/>
        <c:majorGridlines>
          <c:spPr>
            <a:ln w="9525" cap="flat">
              <a:solidFill>
                <a:srgbClr val="E2E7E4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640528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E6A6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E6A64"/>
                </a:solidFill>
                <a:latin typeface="+mn-lt"/>
              </a:rPr>
              <a:t>Sebaran jawaban (jumlah responden)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Mudah / Ya</c:v>
                </c:pt>
              </c:strCache>
            </c:strRef>
          </c:tx>
          <c:spPr>
            <a:solidFill>
              <a:srgbClr val="0C44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Tampilan di HP</c:v>
                </c:pt>
                <c:pt idx="1">
                  <c:v>Navigasi &amp; menu</c:v>
                </c:pt>
                <c:pt idx="2">
                  <c:v>Kejelasan SOP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153</c:v>
                </c:pt>
                <c:pt idx="2">
                  <c:v>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Cukup</c:v>
                </c:pt>
              </c:strCache>
            </c:strRef>
          </c:tx>
          <c:spPr>
            <a:solidFill>
              <a:srgbClr val="9CC3A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Tampilan di HP</c:v>
                </c:pt>
                <c:pt idx="1">
                  <c:v>Navigasi &amp; menu</c:v>
                </c:pt>
                <c:pt idx="2">
                  <c:v>Kejelasan SOP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</c:v>
                </c:pt>
                <c:pt idx="1">
                  <c:v>88</c:v>
                </c:pt>
                <c:pt idx="2">
                  <c:v>108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Sulit / Kurang</c:v>
                </c:pt>
              </c:strCache>
            </c:strRef>
          </c:tx>
          <c:spPr>
            <a:solidFill>
              <a:srgbClr val="CF0F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Tampilan di HP</c:v>
                </c:pt>
                <c:pt idx="1">
                  <c:v>Navigasi &amp; menu</c:v>
                </c:pt>
                <c:pt idx="2">
                  <c:v>Kejelasan SOP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640530368"/>
        <c:axId val="640531456"/>
      </c:barChart>
      <c:catAx>
        <c:axId val="640530368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640531456"/>
        <c:crosses val="autoZero"/>
        <c:auto val="1"/>
        <c:lblAlgn val="ctr"/>
        <c:lblOffset val="100"/>
        <c:noMultiLvlLbl val="1"/>
      </c:catAx>
      <c:valAx>
        <c:axId val="640531456"/>
        <c:scaling>
          <c:orientation val="minMax"/>
        </c:scaling>
        <c:delete val="0"/>
        <c:axPos val="t"/>
        <c:majorGridlines>
          <c:spPr>
            <a:ln w="9525" cap="flat">
              <a:solidFill>
                <a:srgbClr val="E2E7E4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+mn-lt"/>
              </a:defRPr>
            </a:pPr>
            <a:endParaRPr lang="en-US"/>
          </a:p>
        </c:txPr>
        <c:crossAx val="640530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5E6A6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E6A64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5E6A64"/>
                </a:solidFill>
                <a:latin typeface="+mn-lt"/>
              </a:rPr>
              <a:t>Jumlah responden per topik (1 orang dihitung 1x per topik)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</c:v>
                </c:pt>
              </c:strCache>
            </c:strRef>
          </c:tx>
          <c:spPr>
            <a:solidFill>
              <a:srgbClr val="CF0F1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6B45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Desain, warna &amp; font</c:v>
                </c:pt>
                <c:pt idx="1">
                  <c:v>Penyederhanaan isi</c:v>
                </c:pt>
                <c:pt idx="2">
                  <c:v>Penambahan materi &amp; template</c:v>
                </c:pt>
                <c:pt idx="3">
                  <c:v>SOP baru (4 topik)</c:v>
                </c:pt>
                <c:pt idx="4">
                  <c:v>Kecepatan &amp; akses website</c:v>
                </c:pt>
                <c:pt idx="5">
                  <c:v>Integrasi ke SACS</c:v>
                </c:pt>
                <c:pt idx="6">
                  <c:v>Video, gambar &amp; flowchart</c:v>
                </c:pt>
                <c:pt idx="7">
                  <c:v>Update &amp; notifikasi SOP</c:v>
                </c:pt>
                <c:pt idx="8">
                  <c:v>Kontak PIC &amp; struktur org.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22</c:v>
                </c:pt>
                <c:pt idx="2">
                  <c:v>18</c:v>
                </c:pt>
                <c:pt idx="3">
                  <c:v>16</c:v>
                </c:pt>
                <c:pt idx="4">
                  <c:v>13</c:v>
                </c:pt>
                <c:pt idx="5">
                  <c:v>13</c:v>
                </c:pt>
                <c:pt idx="6">
                  <c:v>9</c:v>
                </c:pt>
                <c:pt idx="7">
                  <c:v>9</c:v>
                </c:pt>
                <c:pt idx="8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640533632"/>
        <c:axId val="640534176"/>
      </c:barChart>
      <c:catAx>
        <c:axId val="640533632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20"/>
                </a:solidFill>
                <a:latin typeface="+mn-lt"/>
              </a:defRPr>
            </a:pPr>
            <a:endParaRPr lang="en-US"/>
          </a:p>
        </c:txPr>
        <c:crossAx val="640534176"/>
        <c:crosses val="autoZero"/>
        <c:auto val="1"/>
        <c:lblAlgn val="ctr"/>
        <c:lblOffset val="100"/>
        <c:noMultiLvlLbl val="1"/>
      </c:catAx>
      <c:valAx>
        <c:axId val="640534176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640533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68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utama: handbook sudah diterima baik oleh pengguna; fokus perbaikan ada pada tampilan dan penyajian 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143000" cy="4202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</a:rPr>
              <a:t>Evaluasi Handbook Operasional SID · Oktober 2026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9875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303520" y="3017520"/>
            <a:ext cx="6903720" cy="3840480"/>
          </a:xfrm>
          <a:prstGeom prst="rtTriangle">
            <a:avLst/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7863840" y="4206240"/>
            <a:ext cx="4343400" cy="2651760"/>
          </a:xfrm>
          <a:prstGeom prst="rtTriangle">
            <a:avLst/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966960" y="5394960"/>
            <a:ext cx="2240280" cy="1463040"/>
          </a:xfrm>
          <a:prstGeom prst="rtTriangle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914400"/>
            <a:ext cx="1188720" cy="1371600"/>
          </a:xfrm>
          <a:prstGeom prst="chevron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04120" y="914400"/>
            <a:ext cx="1188720" cy="1371600"/>
          </a:xfrm>
          <a:prstGeom prst="chevron">
            <a:avLst/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011680" cy="7395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RINGKASAN HASIL EVALUASI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40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Evaluasi Handbook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Operasional SID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E6A64"/>
                </a:solidFill>
              </a:rPr>
              <a:t>Temuan utama dan usulan program pengembangan dari 242 responden BM, CRO, dan BAO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20"/>
                </a:solidFill>
              </a:rPr>
              <a:t>PT Semen Indonesia Distributor  ·  Oktober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Diterima baik, kini perlu lebih ringkas &amp; menarik</a:t>
            </a:r>
            <a:endParaRPr lang="en-US" sz="3200" dirty="0"/>
          </a:p>
        </p:txBody>
      </p:sp>
      <p:sp>
        <p:nvSpPr>
          <p:cNvPr id="4" name="KPI respons dari 512 pegawai"/>
          <p:cNvSpPr/>
          <p:nvPr/>
        </p:nvSpPr>
        <p:spPr>
          <a:xfrm>
            <a:off x="54864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C442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</a:rPr>
              <a:t>respons dari 512 pegawai</a:t>
            </a:r>
            <a:endParaRPr lang="en-US" sz="1400" dirty="0"/>
          </a:p>
        </p:txBody>
      </p:sp>
      <p:sp>
        <p:nvSpPr>
          <p:cNvPr id="7" name="KPI tingkat partisipasi"/>
          <p:cNvSpPr/>
          <p:nvPr/>
        </p:nvSpPr>
        <p:spPr>
          <a:xfrm>
            <a:off x="3364992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8105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F0F1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47%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</a:rPr>
              <a:t>tingkat partisipasi</a:t>
            </a:r>
            <a:endParaRPr lang="en-US" sz="1400" dirty="0"/>
          </a:p>
        </p:txBody>
      </p:sp>
      <p:sp>
        <p:nvSpPr>
          <p:cNvPr id="10" name="KPI skor rata-rata (maks. 3)"/>
          <p:cNvSpPr/>
          <p:nvPr/>
        </p:nvSpPr>
        <p:spPr>
          <a:xfrm>
            <a:off x="6181344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18105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C442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2,61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</a:rPr>
              <a:t>skor rata-rata (maks. 3)</a:t>
            </a:r>
            <a:endParaRPr lang="en-US" sz="1400" dirty="0"/>
          </a:p>
        </p:txBody>
      </p:sp>
      <p:sp>
        <p:nvSpPr>
          <p:cNvPr id="13" name="KPI responden memberi masukan"/>
          <p:cNvSpPr/>
          <p:nvPr/>
        </p:nvSpPr>
        <p:spPr>
          <a:xfrm>
            <a:off x="8997696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18105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F0F1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</a:rPr>
              <a:t>responden memberi masukan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630168"/>
            <a:ext cx="237744" cy="178308"/>
          </a:xfrm>
          <a:prstGeom prst="parallelogram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</a:rPr>
              <a:t>Fondasi kuat: </a:t>
            </a:r>
            <a:r>
              <a:rPr lang="en-US" sz="1600" dirty="0">
                <a:solidFill>
                  <a:srgbClr val="1B2420"/>
                </a:solidFill>
              </a:rPr>
              <a:t>63% navigasi mudah, 68% nyaman di HP, kurang dari 1% menilai sulit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133088"/>
            <a:ext cx="237744" cy="178308"/>
          </a:xfrm>
          <a:prstGeom prst="parallelogram">
            <a:avLst/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</a:rPr>
              <a:t>Aktivitas Harian </a:t>
            </a:r>
            <a:r>
              <a:rPr lang="en-US" sz="1600" dirty="0">
                <a:solidFill>
                  <a:srgbClr val="1B2420"/>
                </a:solidFill>
              </a:rPr>
              <a:t>jadi materi paling membantu (80% responden)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636008"/>
            <a:ext cx="237744" cy="178308"/>
          </a:xfrm>
          <a:prstGeom prst="parallelogram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</a:rPr>
              <a:t>Kejelasan SOP </a:t>
            </a:r>
            <a:r>
              <a:rPr lang="en-US" sz="1600" dirty="0">
                <a:solidFill>
                  <a:srgbClr val="1B2420"/>
                </a:solidFill>
              </a:rPr>
              <a:t>adalah aspek dengan skor terendah (2,55)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5138928"/>
            <a:ext cx="237744" cy="178308"/>
          </a:xfrm>
          <a:prstGeom prst="parallelogram">
            <a:avLst/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20"/>
                </a:solidFill>
              </a:rPr>
              <a:t>Masukan teratas: </a:t>
            </a:r>
            <a:r>
              <a:rPr lang="en-US" sz="1600" dirty="0">
                <a:solidFill>
                  <a:srgbClr val="1B2420"/>
                </a:solidFill>
              </a:rPr>
              <a:t>desain tampilan (31), penyederhanaan isi (22), penambahan materi (18)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PARTISIPASI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08259557"/>
              </p:ext>
            </p:extLst>
          </p:nvPr>
        </p:nvGraphicFramePr>
        <p:xfrm>
          <a:off x="502920" y="1234440"/>
          <a:ext cx="67665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bang belum isi"/>
          <p:cNvSpPr/>
          <p:nvPr/>
        </p:nvSpPr>
        <p:spPr>
          <a:xfrm>
            <a:off x="7635240" y="1325880"/>
            <a:ext cx="3959352" cy="3566160"/>
          </a:xfrm>
          <a:prstGeom prst="roundRect">
            <a:avLst>
              <a:gd name="adj" fmla="val 2051"/>
            </a:avLst>
          </a:prstGeom>
          <a:solidFill>
            <a:srgbClr val="FDEDEE"/>
          </a:solidFill>
          <a:ln w="12700">
            <a:solidFill>
              <a:srgbClr val="FDED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F0F1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29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0"/>
                </a:solidFill>
              </a:rPr>
              <a:t>dari 91 cabang belum mengisi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9776"/>
              </p:ext>
            </p:extLst>
          </p:nvPr>
        </p:nvGraphicFramePr>
        <p:xfrm>
          <a:off x="7909560" y="2971800"/>
          <a:ext cx="3429000" cy="1536192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Jawa Timur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F0F1A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Jawa Barat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Jawa Tengah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Luar Pulau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45720" marR="45720" marT="0" marB="0">
                    <a:lnL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Insight"/>
          <p:cNvSpPr/>
          <p:nvPr/>
        </p:nvSpPr>
        <p:spPr>
          <a:xfrm>
            <a:off x="502920" y="51206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5321808"/>
            <a:ext cx="438912" cy="329184"/>
          </a:xfrm>
          <a:prstGeom prst="parallelogram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371600" y="5120640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Responden mewakili ketiga jabatan: CRO 55%, BM 23%, BAO 22%. Perlu tindak lanjut ke cabang yang belum mengisi.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PENILAIAN PENGGUNA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Mudah diakses, kejelasan SOP masih bisa naik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kor Tampilan di HP"/>
          <p:cNvSpPr/>
          <p:nvPr/>
        </p:nvSpPr>
        <p:spPr>
          <a:xfrm>
            <a:off x="7863840" y="1691640"/>
            <a:ext cx="3776472" cy="1051560"/>
          </a:xfrm>
          <a:prstGeom prst="roundRect">
            <a:avLst>
              <a:gd name="adj" fmla="val 695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6916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C442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2,67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6916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</a:rPr>
              <a:t>Tampilan di HP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</a:rPr>
              <a:t>skor rata-rata dari 3</a:t>
            </a:r>
            <a:endParaRPr lang="en-US" sz="1400" dirty="0"/>
          </a:p>
        </p:txBody>
      </p:sp>
      <p:sp>
        <p:nvSpPr>
          <p:cNvPr id="8" name="Skor Navigasi &amp; menu"/>
          <p:cNvSpPr/>
          <p:nvPr/>
        </p:nvSpPr>
        <p:spPr>
          <a:xfrm>
            <a:off x="7863840" y="2907792"/>
            <a:ext cx="3776472" cy="1051560"/>
          </a:xfrm>
          <a:prstGeom prst="roundRect">
            <a:avLst>
              <a:gd name="adj" fmla="val 6957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2907792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C442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2,63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907792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</a:rPr>
              <a:t>Navigasi &amp; menu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</a:rPr>
              <a:t>skor rata-rata dari 3</a:t>
            </a:r>
            <a:endParaRPr lang="en-US" sz="1400" dirty="0"/>
          </a:p>
        </p:txBody>
      </p:sp>
      <p:sp>
        <p:nvSpPr>
          <p:cNvPr id="11" name="Skor Kejelasan SOP"/>
          <p:cNvSpPr/>
          <p:nvPr/>
        </p:nvSpPr>
        <p:spPr>
          <a:xfrm>
            <a:off x="7863840" y="4123944"/>
            <a:ext cx="3776472" cy="1051560"/>
          </a:xfrm>
          <a:prstGeom prst="roundRect">
            <a:avLst>
              <a:gd name="adj" fmla="val 6957"/>
            </a:avLst>
          </a:prstGeom>
          <a:solidFill>
            <a:srgbClr val="FDEDEE"/>
          </a:solidFill>
          <a:ln w="12700">
            <a:solidFill>
              <a:srgbClr val="FDED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412394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F0F1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2,55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4123944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</a:rPr>
              <a:t>Kejelasan SOP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</a:rPr>
              <a:t>skor rata-rata dari 3</a:t>
            </a:r>
            <a:endParaRPr lang="en-US" sz="1400" dirty="0"/>
          </a:p>
        </p:txBody>
      </p:sp>
      <p:sp>
        <p:nvSpPr>
          <p:cNvPr id="14" name="Insight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5687568"/>
            <a:ext cx="438912" cy="329184"/>
          </a:xfrm>
          <a:prstGeom prst="parallelogram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17320" y="5486400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Hampir separuh responden (45%) baru menilai SOP "cukup jelas". Skor SOP terendah ada di Jawa Barat (2,48) dan Jawa Tengah (2,52).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SUARA PENGGUNA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Desain &amp; isi yang lebih ringkas paling banyak diminta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Kutipan 1"/>
          <p:cNvSpPr/>
          <p:nvPr/>
        </p:nvSpPr>
        <p:spPr>
          <a:xfrm>
            <a:off x="7863840" y="169164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B2420"/>
                </a:solidFill>
              </a:rPr>
              <a:t>"Tulisan abu-abu membuat mata bekerja ekstra."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rgbClr val="1F6B45"/>
                </a:solidFill>
              </a:rPr>
              <a:t>BM</a:t>
            </a:r>
            <a:endParaRPr lang="en-US" sz="1400" dirty="0"/>
          </a:p>
        </p:txBody>
      </p:sp>
      <p:sp>
        <p:nvSpPr>
          <p:cNvPr id="7" name="Kutipan 2"/>
          <p:cNvSpPr/>
          <p:nvPr/>
        </p:nvSpPr>
        <p:spPr>
          <a:xfrm>
            <a:off x="7863840" y="320040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32918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B2420"/>
                </a:solidFill>
              </a:rPr>
              <a:t>"Lebih meringkas materi, penjelasan panjang lebar membuat malas pembacanya."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rgbClr val="1F6B45"/>
                </a:solidFill>
              </a:rPr>
              <a:t>CRO</a:t>
            </a:r>
            <a:endParaRPr lang="en-US" sz="1400" dirty="0"/>
          </a:p>
        </p:txBody>
      </p:sp>
      <p:sp>
        <p:nvSpPr>
          <p:cNvPr id="9" name="Kutipan 3"/>
          <p:cNvSpPr/>
          <p:nvPr/>
        </p:nvSpPr>
        <p:spPr>
          <a:xfrm>
            <a:off x="7863840" y="470916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12700">
            <a:solidFill>
              <a:srgbClr val="F4F7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48006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B2420"/>
                </a:solidFill>
              </a:rPr>
              <a:t>"Handbook bisa dimasukkan ke SACS, agar tidak keselip link-nya."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rgbClr val="1F6B45"/>
                </a:solidFill>
              </a:rPr>
              <a:t>BM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USULAN PROGRAM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5836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Empat program pengembangan handbook</a:t>
            </a:r>
            <a:endParaRPr lang="en-US" sz="3200" dirty="0"/>
          </a:p>
        </p:txBody>
      </p:sp>
      <p:sp>
        <p:nvSpPr>
          <p:cNvPr id="4" name="Program Tampilan &amp; Akses"/>
          <p:cNvSpPr/>
          <p:nvPr/>
        </p:nvSpPr>
        <p:spPr>
          <a:xfrm>
            <a:off x="548640" y="16459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762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Tampilan &amp; Akses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Desain ulang: kontras teks &amp; font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Kecepatan muat &amp; hosting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Link handbook di SACS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Mobile responsif &amp; menu per jabatan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530352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3035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Prioritas Tinggi</a:t>
            </a:r>
            <a:endParaRPr lang="en-US" sz="1100" dirty="0"/>
          </a:p>
        </p:txBody>
      </p:sp>
      <p:sp>
        <p:nvSpPr>
          <p:cNvPr id="11" name="Program Konten Ringkas &amp; Lengkap"/>
          <p:cNvSpPr/>
          <p:nvPr/>
        </p:nvSpPr>
        <p:spPr>
          <a:xfrm>
            <a:off x="3364992" y="16459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645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1762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Konten Ringkas &amp; Lengkap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017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Materi diringkas jadi poin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Langkah kerja rinci &amp; template surat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Infografis, flowchart &amp; video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Struktur organisasi &amp; PIC pusat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47872" y="530352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7872" y="53035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Prioritas Tinggi</a:t>
            </a:r>
            <a:endParaRPr lang="en-US" sz="1100" dirty="0"/>
          </a:p>
        </p:txBody>
      </p:sp>
      <p:sp>
        <p:nvSpPr>
          <p:cNvPr id="18" name="Program SOP Baru"/>
          <p:cNvSpPr/>
          <p:nvPr/>
        </p:nvSpPr>
        <p:spPr>
          <a:xfrm>
            <a:off x="6181344" y="16459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645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1762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SOP Baru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3017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Panduan laporan CP &amp; alur kerja BAO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Piutang, NPL &amp; restrukturisasi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Pengiriman &amp; barang retur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Sanksi pelanggaran SOP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64224" y="530352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4224" y="53035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4429"/>
                </a:solidFill>
              </a:rPr>
              <a:t>Prioritas Rendah*</a:t>
            </a:r>
            <a:endParaRPr lang="en-US" sz="1100" dirty="0"/>
          </a:p>
        </p:txBody>
      </p:sp>
      <p:sp>
        <p:nvSpPr>
          <p:cNvPr id="25" name="Program Tata Kelola Konten"/>
          <p:cNvSpPr/>
          <p:nvPr/>
        </p:nvSpPr>
        <p:spPr>
          <a:xfrm>
            <a:off x="8997696" y="16459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7696" y="1645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26296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21762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Tata Kelola Konten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30175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PIC &amp; jadwal update per divisi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Tanggal update &amp; log perubahan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20"/>
                </a:solidFill>
              </a:rPr>
              <a:t>Kajian dashboard / KPI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80576" y="530352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0576" y="53035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4429"/>
                </a:solidFill>
              </a:rPr>
              <a:t>Prioritas Rendah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64"/>
                </a:solidFill>
              </a:rPr>
              <a:t>*Jarang disebut, tetapi isu sanksi dan pembayaran ke rekening pribadi menyangkut risiko dan layak segera ditangani.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CF0F1A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5943600" cy="3566160"/>
          </a:xfrm>
          <a:prstGeom prst="rtTriangle">
            <a:avLst/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3108960" cy="1920240"/>
          </a:xfrm>
          <a:prstGeom prst="rtTriangle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731520"/>
            <a:ext cx="1188720" cy="1371600"/>
          </a:xfrm>
          <a:prstGeom prst="chevron">
            <a:avLst/>
          </a:prstGeom>
          <a:solidFill>
            <a:srgbClr val="CF0F1A"/>
          </a:solidFill>
          <a:ln w="12700">
            <a:solidFill>
              <a:srgbClr val="CF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731520"/>
            <a:ext cx="1188720" cy="1371600"/>
          </a:xfrm>
          <a:prstGeom prst="chevron">
            <a:avLst/>
          </a:prstGeom>
          <a:solidFill>
            <a:srgbClr val="0C4429"/>
          </a:solidFill>
          <a:ln w="12700">
            <a:solidFill>
              <a:srgbClr val="0C4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0F1A"/>
                </a:solidFill>
              </a:rPr>
              <a:t>TERIMA KASIH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606040"/>
            <a:ext cx="55909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C442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Handbook yang mudah, ringkas, dan selalu relevan untuk setiap cabang</a:t>
            </a:r>
            <a:endParaRPr lang="en-US" sz="3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669280"/>
            <a:ext cx="1828800" cy="672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D Handbook">
  <a:themeElements>
    <a:clrScheme name="SID Handbook">
      <a:dk1>
        <a:srgbClr val="1B2420"/>
      </a:dk1>
      <a:lt1>
        <a:srgbClr val="FFFFFF"/>
      </a:lt1>
      <a:dk2>
        <a:srgbClr val="0C4429"/>
      </a:dk2>
      <a:lt2>
        <a:srgbClr val="F4F7F5"/>
      </a:lt2>
      <a:accent1>
        <a:srgbClr val="0C4429"/>
      </a:accent1>
      <a:accent2>
        <a:srgbClr val="CF0F1A"/>
      </a:accent2>
      <a:accent3>
        <a:srgbClr val="1F6B45"/>
      </a:accent3>
      <a:accent4>
        <a:srgbClr val="9CC3AC"/>
      </a:accent4>
      <a:accent5>
        <a:srgbClr val="EC3138"/>
      </a:accent5>
      <a:accent6>
        <a:srgbClr val="5E6A64"/>
      </a:accent6>
      <a:hlink>
        <a:srgbClr val="1F6B45"/>
      </a:hlink>
      <a:folHlink>
        <a:srgbClr val="0C4429"/>
      </a:folHlink>
    </a:clrScheme>
    <a:fontScheme name="SID Handboo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462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SID Handbook</vt:lpstr>
      <vt:lpstr>PowerPoint Presentation</vt:lpstr>
      <vt:lpstr>Diterima baik, kini perlu lebih ringkas &amp; menarik</vt:lpstr>
      <vt:lpstr>PowerPoint Presentation</vt:lpstr>
      <vt:lpstr>Mudah diakses, kejelasan SOP masih bisa naik</vt:lpstr>
      <vt:lpstr>Desain &amp; isi yang lebih ringkas paling banyak diminta</vt:lpstr>
      <vt:lpstr>Empat program pengembangan handbook</vt:lpstr>
      <vt:lpstr>PowerPoint Presentation</vt:lpstr>
    </vt:vector>
  </TitlesOfParts>
  <Company>PT Semen Indonesia Distributor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Ringkasan Evaluasi Handbook Operasional SID</dc:title>
  <dc:subject>PptxGenJS Presentation</dc:subject>
  <dc:creator>PptxGenJS</dc:creator>
  <cp:lastModifiedBy>Microsoft account</cp:lastModifiedBy>
  <cp:revision>2</cp:revision>
  <dcterms:created xsi:type="dcterms:W3CDTF">2026-10-19T02:46:49Z</dcterms:created>
  <dcterms:modified xsi:type="dcterms:W3CDTF">2026-10-19T03:00:44Z</dcterms:modified>
</cp:coreProperties>
</file>